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这次项目做的是 SVG Icon Agent，一个把短文本提示词转换成可编辑 SVG 图标的多 Agent 系统。我们没有选择直接调用文生图模型输出位图，而是把生成过程拆成目标管理、记忆检索、提示词改写、规划、候选生成、评审、选择、优化、验证、修复和记忆沉淀。右侧这些图标不是装饰图，而是项目实际 refined 输出里挑出的样例，用来说明系统最终产物就是可复查的图标资源。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这个项目和 Project 3 的对应关系主要有三点。第一，图形学对象是 SVG 图标，它要求 viewBox、路径、颜色和可编辑结构都能被检查。第二，Agent 不是一个名字，而是多个 LLM-backed Agent 分工完成窄任务。第三，项目输出不只是一张图片，还包括 SVG、PNG、gallery、metrics、trace、failure taxonomy 和 repair routes，这些文件能支撑复现和分析。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选择 SVG 图标生成，是因为它比看起来更适合体现 Agent 架构。短提示词里包含对象、风格、尺寸、配色和可读性约束，单次生成很容易把问题混在一起。SVG 还要求语法安全、没有外部危险引用、能在小尺寸下识别。把它拆成一串有检查点的 Agent 工作流，能把不确定性分摊到更具体的环节里。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总体架构可以分三层看。左侧是 RAG 输入，Memory Retrieval Tool 从本地历史运行中检索相似经验，把成功策略和失败模式交给 Goal Manager。中间是主生成链路，Goal、Rewriter、Planner 和 Generator 逐步把用户提示词变成结构化计划和多个 SVG 草稿。右侧是协作和修复链路，两个 Critic 评审候选，Selector 选择 winner，Optimizer 改写 baseline，Validator 发现问题后再进入 Taxonomy、Router 和 Refiner 闭环。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这里的 RAG 不是外部资料库，而是项目自己的运行记忆。每条 MemoryRecord 保存 prompt、summary、成功策略、失败模式、用户反馈、分数和标签。检索时用 BM25 从本地 jsonl 中取 top-k 经验，Goal Manager 再据此生成 objective、visual requirements、constraints 和 acceptance criteria。这样做的价值是让系统下一次生成时能利用已有失败，而不是每次从零开始。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生成阶段不是让模型一次性给答案，而是先生成多个候选。Multi-Candidate Generator 通常输出三个 SVG 草稿，Semantic Critic 关注语义对齐和小尺寸识别，SVG Quality Critic 关注可编辑性、安全性和渲染风险，并结合 SvgCheckTool 的机器检查结果。Consensus Selector 不是只给一个分数，它还会给下游 Optimizer 写 repair brief，所以选择过程是可以解释的。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修复闭环的重点是先诊断，再修复。Validator 给出 score、valid 和 issue list，如果发现 warning 或 error，Failure Taxonomy 会把问题分类到语法安全、渲染、语义偏差、布局等类型。Repair Router 再选择路线，例如 safety rebuild、semantic recomposition 或 simplification。Refiner 最后拿到这些上下文，返回完整修复后的 SVG。现有样本里 coffee 从 70 分到 95 分，dog 从 65 分到 100 分，说明这个闭环不是摆设。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Web UI 的作用是把 Agent 流程暴露出来。它显示每个节点 waiting、active、done、skipped 或 error 的状态，也显示 prompt rewrite、memory context、候选图、selected、baseline 和 refined 输出。右侧是我从项目生成结果里挑出的八个比较稳定的例子，覆盖对象、动物、场景、安全和 UI 类图标。选择标准不是分数最高就完事，而是轮廓清楚、放大后不乱、能代表不同 prompt 类型。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当前工作区里有十五个 Web 单 prompt 样本。Baseline 阶段有十三个通过验证，Refined 阶段十五个都通过；平均分从 89.33 到 93.20，最大修复轮数是三轮。这个结果说明修复链路确实能提高有效率，但我不会把它说成完整 benchmark。严格实验还需要固定十二个 prompt 一次性批跑，并和 single workflow 做更系统的对比。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最后总结三点。第一，RAG 记忆让历史经验进入目标设定。第二，多候选、双 Critic 和 Selector 让生成不完全依赖一次模型输出。第三，Validator、Taxonomy、Router 和 Refiner 让失败修复更具体。限制也很明确：系统依赖 LLM 服务质量，SVG 检查覆盖的是实用子集，当前实验规模还不够大。下一步应该做完整批量评测、人类偏好对比，并继续扩展 SVG grammar 和 repair route。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2f946c516d90acc.png"/>
  <Relationship Id="rId3" Type="http://schemas.openxmlformats.org/officeDocument/2006/relationships/image" Target="../media/image_b4618013ee2de142.png"/>
  <Relationship Id="rId4" Type="http://schemas.openxmlformats.org/officeDocument/2006/relationships/image" Target="../media/image_b74b509133a22dc4.png"/>
  <Relationship Id="rId5" Type="http://schemas.openxmlformats.org/officeDocument/2006/relationships/image" Target="../media/image_982cc6ccf4e34203.png"/>
  <Relationship Id="rId6" Type="http://schemas.openxmlformats.org/officeDocument/2006/relationships/image" Target="../media/image_38d6754fb148ae69.png"/>
  <Relationship Id="rId7" Type="http://schemas.openxmlformats.org/officeDocument/2006/relationships/image" Target="../media/image_4f7879f0101c9f52.png"/>
  <Relationship Id="rId8" Type="http://schemas.openxmlformats.org/officeDocument/2006/relationships/image" Target="../media/image_a2805545771a9212.png"/>
  <Relationship Id="rId9" Type="http://schemas.openxmlformats.org/officeDocument/2006/relationships/image" Target="../media/image_d68b2eb0ebcc5821.png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2f946c516d90acc.png"/>
  <Relationship Id="rId3" Type="http://schemas.openxmlformats.org/officeDocument/2006/relationships/image" Target="../media/image_b4618013ee2de142.png"/>
  <Relationship Id="rId4" Type="http://schemas.openxmlformats.org/officeDocument/2006/relationships/image" Target="../media/image_b74b509133a22dc4.png"/>
  <Relationship Id="rId5" Type="http://schemas.openxmlformats.org/officeDocument/2006/relationships/image" Target="../media/image_982cc6ccf4e34203.png"/>
  <Relationship Id="rId6" Type="http://schemas.openxmlformats.org/officeDocument/2006/relationships/image" Target="../media/image_38d6754fb148ae69.png"/>
  <Relationship Id="rId7" Type="http://schemas.openxmlformats.org/officeDocument/2006/relationships/image" Target="../media/image_4f7879f0101c9f52.png"/>
  <Relationship Id="rId8" Type="http://schemas.openxmlformats.org/officeDocument/2006/relationships/image" Target="../media/image_a2805545771a9212.png"/>
  <Relationship Id="rId9" Type="http://schemas.openxmlformats.org/officeDocument/2006/relationships/image" Target="../media/image_d68b2eb0ebcc5821.png"/>
  <Relationship Id="rId10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14350"/>
            <a:ext cx="11125200" cy="58293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3335">
            <a:solidFill>
              <a:srgbClr val="CBD5E1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533400" y="514350"/>
            <a:ext cx="133350" cy="58293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02030" y="973455"/>
            <a:ext cx="6172676" cy="2141220"/>
            <a:chOff x="1002030" y="973455"/>
            <a:chExt cx="6172676" cy="2141220"/>
          </a:xfrm>
        </p:grpSpPr>
        <p:sp>
          <p:nvSpPr>
            <p:cNvPr id="5" name="TextBox 5"/>
            <p:cNvSpPr txBox="1"/>
            <p:nvPr/>
          </p:nvSpPr>
          <p:spPr>
            <a:xfrm>
              <a:off x="1002030" y="973455"/>
              <a:ext cx="5092460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SVG Icon Agent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80135" y="1808798"/>
              <a:ext cx="485493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D4ED8"/>
                  </a:solidFill>
                  <a:latin typeface="Arial"/>
                  <a:ea typeface="Microsoft YaHei"/>
                  <a:cs typeface="Arial"/>
                </a:rPr>
                <a:t>可编辑 SVG 图标生成的多 Agent 流水线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85850" y="2486025"/>
              <a:ext cx="26484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计算机图形学 Project 3 汇报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85850" y="2809875"/>
              <a:ext cx="60888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目标：把短提示词变成可检查、可修复、可追踪的 SVG 图标生成过程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04900" y="3676650"/>
            <a:ext cx="7367349" cy="1123950"/>
            <a:chOff x="1104900" y="3676650"/>
            <a:chExt cx="7367349" cy="1123950"/>
          </a:xfrm>
        </p:grpSpPr>
        <p:sp>
          <p:nvSpPr>
            <p:cNvPr id="10" name="Rectangle 10"/>
            <p:cNvSpPr/>
            <p:nvPr/>
          </p:nvSpPr>
          <p:spPr>
            <a:xfrm>
              <a:off x="1104900" y="3676650"/>
              <a:ext cx="4876800" cy="1123950"/>
            </a:xfrm>
            <a:prstGeom prst="roundRect">
              <a:avLst>
                <a:gd name="adj" fmla="val 10169"/>
              </a:avLst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462881" y="4092575"/>
              <a:ext cx="273845" cy="292100"/>
              <a:chOff x="1462881" y="4092575"/>
              <a:chExt cx="273845" cy="2921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462881" y="4311650"/>
                <a:ext cx="73025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73025">
                    <a:moveTo>
                      <a:pt x="0" y="36512"/>
                    </a:moveTo>
                    <a:cubicBezTo>
                      <a:pt x="0" y="56678"/>
                      <a:pt x="16347" y="73025"/>
                      <a:pt x="36512" y="73025"/>
                    </a:cubicBezTo>
                    <a:cubicBezTo>
                      <a:pt x="56678" y="73025"/>
                      <a:pt x="73025" y="56678"/>
                      <a:pt x="73025" y="36512"/>
                    </a:cubicBezTo>
                    <a:cubicBezTo>
                      <a:pt x="73025" y="16347"/>
                      <a:pt x="56678" y="0"/>
                      <a:pt x="36512" y="0"/>
                    </a:cubicBezTo>
                    <a:cubicBezTo>
                      <a:pt x="16347" y="0"/>
                      <a:pt x="0" y="16347"/>
                      <a:pt x="0" y="3651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462881" y="4092575"/>
                <a:ext cx="73025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73025">
                    <a:moveTo>
                      <a:pt x="0" y="36512"/>
                    </a:moveTo>
                    <a:cubicBezTo>
                      <a:pt x="0" y="56678"/>
                      <a:pt x="16347" y="73025"/>
                      <a:pt x="36512" y="73025"/>
                    </a:cubicBezTo>
                    <a:cubicBezTo>
                      <a:pt x="56678" y="73025"/>
                      <a:pt x="73025" y="56678"/>
                      <a:pt x="73025" y="36512"/>
                    </a:cubicBezTo>
                    <a:cubicBezTo>
                      <a:pt x="73025" y="16347"/>
                      <a:pt x="56678" y="0"/>
                      <a:pt x="36512" y="0"/>
                    </a:cubicBezTo>
                    <a:cubicBezTo>
                      <a:pt x="16347" y="0"/>
                      <a:pt x="0" y="16347"/>
                      <a:pt x="0" y="3651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645444" y="4092575"/>
                <a:ext cx="73025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73025">
                    <a:moveTo>
                      <a:pt x="0" y="36512"/>
                    </a:moveTo>
                    <a:cubicBezTo>
                      <a:pt x="0" y="56678"/>
                      <a:pt x="16347" y="73025"/>
                      <a:pt x="36513" y="73025"/>
                    </a:cubicBezTo>
                    <a:cubicBezTo>
                      <a:pt x="56678" y="73025"/>
                      <a:pt x="73025" y="56678"/>
                      <a:pt x="73025" y="36512"/>
                    </a:cubicBezTo>
                    <a:cubicBezTo>
                      <a:pt x="73025" y="16347"/>
                      <a:pt x="56678" y="0"/>
                      <a:pt x="36513" y="0"/>
                    </a:cubicBezTo>
                    <a:cubicBezTo>
                      <a:pt x="16347" y="0"/>
                      <a:pt x="0" y="16347"/>
                      <a:pt x="0" y="3651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499394" y="4165600"/>
                <a:ext cx="9525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6050">
                    <a:moveTo>
                      <a:pt x="0" y="0"/>
                    </a:moveTo>
                    <a:lnTo>
                      <a:pt x="0" y="14605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535906" y="4220369"/>
                <a:ext cx="146050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146050" h="127794">
                    <a:moveTo>
                      <a:pt x="0" y="127794"/>
                    </a:moveTo>
                    <a:lnTo>
                      <a:pt x="109538" y="127794"/>
                    </a:lnTo>
                    <a:cubicBezTo>
                      <a:pt x="129703" y="127794"/>
                      <a:pt x="146050" y="111447"/>
                      <a:pt x="146050" y="91281"/>
                    </a:cubicBezTo>
                    <a:lnTo>
                      <a:pt x="14605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627188" y="4220369"/>
                <a:ext cx="109538" cy="54769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54769">
                    <a:moveTo>
                      <a:pt x="0" y="54769"/>
                    </a:moveTo>
                    <a:lnTo>
                      <a:pt x="54769" y="0"/>
                    </a:lnTo>
                    <a:lnTo>
                      <a:pt x="109538" y="54769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2000250" y="3933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核心主张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02155" y="4273868"/>
              <a:ext cx="64700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不是一次模型调用，而是“记忆检索 + 多 Agent 协作 + 验证修复”的工程化生成。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96100" y="1104900"/>
            <a:ext cx="4000500" cy="4393406"/>
            <a:chOff x="6896100" y="1104900"/>
            <a:chExt cx="4000500" cy="4393406"/>
          </a:xfrm>
        </p:grpSpPr>
        <p:sp>
          <p:nvSpPr>
            <p:cNvPr id="21" name="Rectangle 21"/>
            <p:cNvSpPr/>
            <p:nvPr/>
          </p:nvSpPr>
          <p:spPr>
            <a:xfrm>
              <a:off x="6896100" y="1104900"/>
              <a:ext cx="4000500" cy="4000500"/>
            </a:xfrm>
            <a:prstGeom prst="roundRect">
              <a:avLst>
                <a:gd name="adj" fmla="val 4286"/>
              </a:avLst>
            </a:prstGeom>
            <a:solidFill>
              <a:srgbClr val="F8FAFC"/>
            </a:solidFill>
            <a:ln w="11430">
              <a:solidFill>
                <a:srgbClr val="CBD5E1"/>
              </a:solidFill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00900" y="1352550"/>
              <a:ext cx="838200" cy="838200"/>
            </a:xfrm>
            <a:prstGeom prst="rect">
              <a:avLst/>
            </a:prstGeom>
          </p:spPr>
        </p:pic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67700" y="1352550"/>
              <a:ext cx="838200" cy="838200"/>
            </a:xfrm>
            <a:prstGeom prst="rect">
              <a:avLst/>
            </a:prstGeom>
          </p:spPr>
        </p:pic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34500" y="1352550"/>
              <a:ext cx="838200" cy="838200"/>
            </a:xfrm>
            <a:prstGeom prst="rect">
              <a:avLst/>
            </a:prstGeom>
          </p:spPr>
        </p:pic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00900" y="2495550"/>
              <a:ext cx="838200" cy="838200"/>
            </a:xfrm>
            <a:prstGeom prst="rect">
              <a:avLst/>
            </a:prstGeom>
          </p:spPr>
        </p:pic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67700" y="2495550"/>
              <a:ext cx="838200" cy="838200"/>
            </a:xfrm>
            <a:prstGeom prst="rect">
              <a:avLst/>
            </a:prstGeom>
          </p:spPr>
        </p:pic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334500" y="2495550"/>
              <a:ext cx="838200" cy="838200"/>
            </a:xfrm>
            <a:prstGeom prst="rect">
              <a:avLst/>
            </a:prstGeom>
          </p:spPr>
        </p:pic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34300" y="3638550"/>
              <a:ext cx="838200" cy="838200"/>
            </a:xfrm>
            <a:prstGeom prst="rect">
              <a:avLst/>
            </a:prstGeom>
          </p:spPr>
        </p:pic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801100" y="3638550"/>
              <a:ext cx="838200" cy="838200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8116967" y="5269706"/>
              <a:ext cx="15587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精选 refined 输出样例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90612" y="5784056"/>
            <a:ext cx="10236518" cy="264319"/>
            <a:chOff x="1090612" y="5784056"/>
            <a:chExt cx="10236518" cy="264319"/>
          </a:xfrm>
        </p:grpSpPr>
        <p:sp>
          <p:nvSpPr>
            <p:cNvPr id="32" name="TextBox 32"/>
            <p:cNvSpPr txBox="1"/>
            <p:nvPr/>
          </p:nvSpPr>
          <p:spPr>
            <a:xfrm>
              <a:off x="1090612" y="5784056"/>
              <a:ext cx="42966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svg_icon_agent/ pipeline.py / llm_agents.py / web_app.py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02257" y="5865495"/>
              <a:ext cx="1248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0" grpId="0"/>
      <p:bldP spid="3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99110" y="394335"/>
            <a:ext cx="755391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对齐 Project 3：Agent 不只是一次模型调用</a:t>
            </a:r>
          </a:p>
        </p:txBody>
      </p:sp>
      <p:sp>
        <p:nvSpPr>
          <p:cNvPr id="4" name="Rectangle 4"/>
          <p:cNvSpPr/>
          <p:nvPr/>
        </p:nvSpPr>
        <p:spPr>
          <a:xfrm>
            <a:off x="533400" y="914400"/>
            <a:ext cx="11125200" cy="495300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5805" y="1082992"/>
            <a:ext cx="85223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项目对应课程说明里的 2D 生成与多 Agent 协作方向：把“图标生成”做成有状态、有工具、有反馈的系统。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23900" y="1790700"/>
            <a:ext cx="3314700" cy="3429000"/>
            <a:chOff x="723900" y="1790700"/>
            <a:chExt cx="3314700" cy="3429000"/>
          </a:xfrm>
        </p:grpSpPr>
        <p:sp>
          <p:nvSpPr>
            <p:cNvPr id="6" name="Rectangle 6"/>
            <p:cNvSpPr/>
            <p:nvPr/>
          </p:nvSpPr>
          <p:spPr>
            <a:xfrm>
              <a:off x="723900" y="1790700"/>
              <a:ext cx="3314700" cy="3429000"/>
            </a:xfrm>
            <a:prstGeom prst="roundRect">
              <a:avLst>
                <a:gd name="adj" fmla="val 2874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23900" y="1790700"/>
              <a:ext cx="3314700" cy="762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63625" y="2225675"/>
              <a:ext cx="292101" cy="292100"/>
              <a:chOff x="1063625" y="2225675"/>
              <a:chExt cx="292101" cy="2921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63625" y="2225675"/>
                <a:ext cx="109538" cy="91281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91281">
                    <a:moveTo>
                      <a:pt x="0" y="36513"/>
                    </a:moveTo>
                    <a:cubicBezTo>
                      <a:pt x="0" y="16347"/>
                      <a:pt x="16347" y="0"/>
                      <a:pt x="36512" y="0"/>
                    </a:cubicBezTo>
                    <a:lnTo>
                      <a:pt x="73025" y="0"/>
                    </a:lnTo>
                    <a:cubicBezTo>
                      <a:pt x="93190" y="0"/>
                      <a:pt x="109538" y="16347"/>
                      <a:pt x="109538" y="36513"/>
                    </a:cubicBezTo>
                    <a:lnTo>
                      <a:pt x="109538" y="54769"/>
                    </a:lnTo>
                    <a:cubicBezTo>
                      <a:pt x="109538" y="74934"/>
                      <a:pt x="93190" y="91281"/>
                      <a:pt x="73025" y="91281"/>
                    </a:cubicBezTo>
                    <a:lnTo>
                      <a:pt x="36512" y="91281"/>
                    </a:lnTo>
                    <a:cubicBezTo>
                      <a:pt x="16347" y="91281"/>
                      <a:pt x="0" y="74934"/>
                      <a:pt x="0" y="54769"/>
                    </a:cubicBezTo>
                    <a:lnTo>
                      <a:pt x="0" y="36513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63625" y="2389981"/>
                <a:ext cx="109538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127794">
                    <a:moveTo>
                      <a:pt x="0" y="36513"/>
                    </a:moveTo>
                    <a:cubicBezTo>
                      <a:pt x="0" y="16347"/>
                      <a:pt x="16347" y="0"/>
                      <a:pt x="36512" y="0"/>
                    </a:cubicBezTo>
                    <a:lnTo>
                      <a:pt x="73025" y="0"/>
                    </a:lnTo>
                    <a:cubicBezTo>
                      <a:pt x="93190" y="0"/>
                      <a:pt x="109538" y="16347"/>
                      <a:pt x="109538" y="36513"/>
                    </a:cubicBezTo>
                    <a:lnTo>
                      <a:pt x="109538" y="91281"/>
                    </a:lnTo>
                    <a:cubicBezTo>
                      <a:pt x="109538" y="111447"/>
                      <a:pt x="93190" y="127794"/>
                      <a:pt x="73025" y="127794"/>
                    </a:cubicBezTo>
                    <a:lnTo>
                      <a:pt x="36512" y="127794"/>
                    </a:lnTo>
                    <a:cubicBezTo>
                      <a:pt x="16347" y="127794"/>
                      <a:pt x="0" y="111447"/>
                      <a:pt x="0" y="91281"/>
                    </a:cubicBezTo>
                    <a:lnTo>
                      <a:pt x="0" y="36513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246188" y="2225675"/>
                <a:ext cx="109538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292100">
                    <a:moveTo>
                      <a:pt x="0" y="36513"/>
                    </a:moveTo>
                    <a:cubicBezTo>
                      <a:pt x="0" y="16347"/>
                      <a:pt x="16347" y="0"/>
                      <a:pt x="36512" y="0"/>
                    </a:cubicBezTo>
                    <a:lnTo>
                      <a:pt x="73025" y="0"/>
                    </a:lnTo>
                    <a:cubicBezTo>
                      <a:pt x="93190" y="0"/>
                      <a:pt x="109538" y="16347"/>
                      <a:pt x="109538" y="36513"/>
                    </a:cubicBezTo>
                    <a:lnTo>
                      <a:pt x="109538" y="255588"/>
                    </a:lnTo>
                    <a:cubicBezTo>
                      <a:pt x="109538" y="275753"/>
                      <a:pt x="93190" y="292100"/>
                      <a:pt x="73025" y="292100"/>
                    </a:cubicBezTo>
                    <a:lnTo>
                      <a:pt x="36512" y="292100"/>
                    </a:lnTo>
                    <a:cubicBezTo>
                      <a:pt x="16347" y="292100"/>
                      <a:pt x="0" y="275753"/>
                      <a:pt x="0" y="255588"/>
                    </a:cubicBezTo>
                    <a:lnTo>
                      <a:pt x="0" y="36513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577340" y="218694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图形学对象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1550" y="2828925"/>
              <a:ext cx="28884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输出不是位图，而是</a:t>
              </a:r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500" b="1" dirty="0">
                  <a:solidFill>
                    <a:srgbClr val="1D4ED8"/>
                  </a:solidFill>
                  <a:latin typeface="Arial"/>
                  <a:ea typeface="Microsoft YaHei"/>
                  <a:cs typeface="Arial"/>
                </a:rPr>
                <a:t>可编辑 SVG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1550" y="3152775"/>
              <a:ext cx="30584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需要满足 viewBox、路径、颜色、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1550" y="3476625"/>
              <a:ext cx="20383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可解析性和渲染安全。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90600" y="4133850"/>
              <a:ext cx="2781300" cy="723900"/>
            </a:xfrm>
            <a:prstGeom prst="roundRect">
              <a:avLst>
                <a:gd name="adj" fmla="val 10526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65860" y="4309110"/>
              <a:ext cx="11826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baseline/*.svg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65860" y="45758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refined/*.svg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438650" y="1790700"/>
            <a:ext cx="4016216" cy="3429000"/>
            <a:chOff x="4438650" y="1790700"/>
            <a:chExt cx="4016216" cy="3429000"/>
          </a:xfrm>
        </p:grpSpPr>
        <p:sp>
          <p:nvSpPr>
            <p:cNvPr id="20" name="Rectangle 20"/>
            <p:cNvSpPr/>
            <p:nvPr/>
          </p:nvSpPr>
          <p:spPr>
            <a:xfrm>
              <a:off x="4438650" y="1790700"/>
              <a:ext cx="3314700" cy="3429000"/>
            </a:xfrm>
            <a:prstGeom prst="roundRect">
              <a:avLst>
                <a:gd name="adj" fmla="val 2874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38650" y="1790700"/>
              <a:ext cx="3314700" cy="762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4796631" y="2225675"/>
              <a:ext cx="273845" cy="292100"/>
              <a:chOff x="4796631" y="2225675"/>
              <a:chExt cx="273845" cy="2921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796631" y="2444750"/>
                <a:ext cx="73025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73025">
                    <a:moveTo>
                      <a:pt x="0" y="36512"/>
                    </a:moveTo>
                    <a:cubicBezTo>
                      <a:pt x="0" y="56678"/>
                      <a:pt x="16347" y="73025"/>
                      <a:pt x="36513" y="73025"/>
                    </a:cubicBezTo>
                    <a:cubicBezTo>
                      <a:pt x="56678" y="73025"/>
                      <a:pt x="73025" y="56678"/>
                      <a:pt x="73025" y="36512"/>
                    </a:cubicBezTo>
                    <a:cubicBezTo>
                      <a:pt x="73025" y="16347"/>
                      <a:pt x="56678" y="0"/>
                      <a:pt x="36513" y="0"/>
                    </a:cubicBezTo>
                    <a:cubicBezTo>
                      <a:pt x="16347" y="0"/>
                      <a:pt x="0" y="16347"/>
                      <a:pt x="0" y="36512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796631" y="2225675"/>
                <a:ext cx="73025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73025">
                    <a:moveTo>
                      <a:pt x="0" y="36513"/>
                    </a:moveTo>
                    <a:cubicBezTo>
                      <a:pt x="0" y="56678"/>
                      <a:pt x="16347" y="73025"/>
                      <a:pt x="36513" y="73025"/>
                    </a:cubicBezTo>
                    <a:cubicBezTo>
                      <a:pt x="56678" y="73025"/>
                      <a:pt x="73025" y="56678"/>
                      <a:pt x="73025" y="36513"/>
                    </a:cubicBezTo>
                    <a:cubicBezTo>
                      <a:pt x="73025" y="16347"/>
                      <a:pt x="56678" y="0"/>
                      <a:pt x="36513" y="0"/>
                    </a:cubicBezTo>
                    <a:cubicBezTo>
                      <a:pt x="16347" y="0"/>
                      <a:pt x="0" y="16347"/>
                      <a:pt x="0" y="36513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979194" y="2225675"/>
                <a:ext cx="73025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73025">
                    <a:moveTo>
                      <a:pt x="0" y="36513"/>
                    </a:moveTo>
                    <a:cubicBezTo>
                      <a:pt x="0" y="56678"/>
                      <a:pt x="16347" y="73025"/>
                      <a:pt x="36513" y="73025"/>
                    </a:cubicBezTo>
                    <a:cubicBezTo>
                      <a:pt x="56678" y="73025"/>
                      <a:pt x="73025" y="56678"/>
                      <a:pt x="73025" y="36513"/>
                    </a:cubicBezTo>
                    <a:cubicBezTo>
                      <a:pt x="73025" y="16347"/>
                      <a:pt x="56678" y="0"/>
                      <a:pt x="36513" y="0"/>
                    </a:cubicBezTo>
                    <a:cubicBezTo>
                      <a:pt x="16347" y="0"/>
                      <a:pt x="0" y="16347"/>
                      <a:pt x="0" y="36513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833144" y="2298700"/>
                <a:ext cx="9525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6050">
                    <a:moveTo>
                      <a:pt x="0" y="0"/>
                    </a:moveTo>
                    <a:lnTo>
                      <a:pt x="0" y="14605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869656" y="2353469"/>
                <a:ext cx="146050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146050" h="127794">
                    <a:moveTo>
                      <a:pt x="0" y="127794"/>
                    </a:moveTo>
                    <a:lnTo>
                      <a:pt x="109538" y="127794"/>
                    </a:lnTo>
                    <a:cubicBezTo>
                      <a:pt x="129703" y="127794"/>
                      <a:pt x="146050" y="111447"/>
                      <a:pt x="146050" y="91281"/>
                    </a:cubicBezTo>
                    <a:lnTo>
                      <a:pt x="14605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960938" y="2353469"/>
                <a:ext cx="109538" cy="54769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54769">
                    <a:moveTo>
                      <a:pt x="0" y="54769"/>
                    </a:moveTo>
                    <a:lnTo>
                      <a:pt x="54769" y="0"/>
                    </a:lnTo>
                    <a:lnTo>
                      <a:pt x="109538" y="54769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5292090" y="2186940"/>
              <a:ext cx="131847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Agent 设计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86300" y="2828925"/>
              <a:ext cx="348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Goal Manager、Rewriter、Planner、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86300" y="3152775"/>
              <a:ext cx="301847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Generator、Critic、Selector、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86300" y="3476625"/>
              <a:ext cx="37685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Validator、Router、Refiner 分工明确。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705350" y="4133850"/>
              <a:ext cx="2781300" cy="723900"/>
            </a:xfrm>
            <a:prstGeom prst="roundRect">
              <a:avLst>
                <a:gd name="adj" fmla="val 10526"/>
              </a:avLst>
            </a:prstGeom>
            <a:solidFill>
              <a:srgbClr val="CCFBF1"/>
            </a:solidFill>
            <a:ln w="9525">
              <a:solidFill>
                <a:srgbClr val="CBD5E1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879658" y="4301014"/>
              <a:ext cx="2837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每个 LLM Agent 只处理一个窄任务，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79658" y="4567714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工具负责可验证检查。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153400" y="1790700"/>
            <a:ext cx="3786188" cy="3429000"/>
            <a:chOff x="8153400" y="1790700"/>
            <a:chExt cx="3786188" cy="3429000"/>
          </a:xfrm>
        </p:grpSpPr>
        <p:sp>
          <p:nvSpPr>
            <p:cNvPr id="37" name="Rectangle 37"/>
            <p:cNvSpPr/>
            <p:nvPr/>
          </p:nvSpPr>
          <p:spPr>
            <a:xfrm>
              <a:off x="8153400" y="1790700"/>
              <a:ext cx="3314700" cy="3429000"/>
            </a:xfrm>
            <a:prstGeom prst="roundRect">
              <a:avLst>
                <a:gd name="adj" fmla="val 2874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153400" y="1790700"/>
              <a:ext cx="3314700" cy="762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8511381" y="2207419"/>
              <a:ext cx="292100" cy="346869"/>
              <a:chOff x="8511381" y="2207419"/>
              <a:chExt cx="292100" cy="346869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675688" y="2207419"/>
                <a:ext cx="91281" cy="91281"/>
              </a:xfrm>
              <a:custGeom>
                <a:avLst/>
                <a:gdLst/>
                <a:ahLst/>
                <a:cxnLst/>
                <a:rect l="l" t="t" r="r" b="b"/>
                <a:pathLst>
                  <a:path w="91281" h="91281">
                    <a:moveTo>
                      <a:pt x="0" y="0"/>
                    </a:moveTo>
                    <a:lnTo>
                      <a:pt x="0" y="73025"/>
                    </a:lnTo>
                    <a:cubicBezTo>
                      <a:pt x="0" y="83108"/>
                      <a:pt x="8174" y="91281"/>
                      <a:pt x="18256" y="91281"/>
                    </a:cubicBezTo>
                    <a:lnTo>
                      <a:pt x="91281" y="91281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511381" y="2207419"/>
                <a:ext cx="292100" cy="346869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46869">
                    <a:moveTo>
                      <a:pt x="118666" y="328612"/>
                    </a:moveTo>
                    <a:lnTo>
                      <a:pt x="36512" y="328612"/>
                    </a:lnTo>
                    <a:cubicBezTo>
                      <a:pt x="16347" y="328612"/>
                      <a:pt x="0" y="312265"/>
                      <a:pt x="0" y="292100"/>
                    </a:cubicBezTo>
                    <a:lnTo>
                      <a:pt x="0" y="36513"/>
                    </a:lnTo>
                    <a:cubicBezTo>
                      <a:pt x="0" y="16347"/>
                      <a:pt x="16347" y="0"/>
                      <a:pt x="36512" y="0"/>
                    </a:cubicBezTo>
                    <a:lnTo>
                      <a:pt x="164306" y="0"/>
                    </a:lnTo>
                    <a:lnTo>
                      <a:pt x="255587" y="91281"/>
                    </a:lnTo>
                    <a:lnTo>
                      <a:pt x="255587" y="182562"/>
                    </a:lnTo>
                    <a:moveTo>
                      <a:pt x="164306" y="292100"/>
                    </a:moveTo>
                    <a:lnTo>
                      <a:pt x="292100" y="292100"/>
                    </a:lnTo>
                    <a:moveTo>
                      <a:pt x="237331" y="237331"/>
                    </a:moveTo>
                    <a:lnTo>
                      <a:pt x="292100" y="292100"/>
                    </a:lnTo>
                    <a:lnTo>
                      <a:pt x="237331" y="346869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9006840" y="21869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交付证据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01050" y="2828925"/>
              <a:ext cx="31684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输出可复查：SVG、PNG、gallery、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01050" y="3152775"/>
              <a:ext cx="33685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metrics、trace、raw responses、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01050" y="3476625"/>
              <a:ext cx="35385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failure taxonomy 和 repair routes。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420100" y="4133850"/>
              <a:ext cx="2781300" cy="723900"/>
            </a:xfrm>
            <a:prstGeom prst="roundRect">
              <a:avLst>
                <a:gd name="adj" fmla="val 10526"/>
              </a:avLst>
            </a:prstGeom>
            <a:solidFill>
              <a:srgbClr val="FEF3C7"/>
            </a:solidFill>
            <a:ln w="9525">
              <a:solidFill>
                <a:srgbClr val="CBD5E1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95360" y="43091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metrics.json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95360" y="4575810"/>
              <a:ext cx="11746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llm_trace.json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521970" y="6322695"/>
            <a:ext cx="37133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Source: Project3说明.pdf, README.md, docs/report_notes.md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515154" y="63226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6" grpId="0"/>
      <p:bldP spid="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99110" y="394335"/>
            <a:ext cx="432161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为什么选择 SVG 图标生成</a:t>
            </a:r>
          </a:p>
        </p:txBody>
      </p:sp>
      <p:sp>
        <p:nvSpPr>
          <p:cNvPr id="4" name="Rectangle 4"/>
          <p:cNvSpPr/>
          <p:nvPr/>
        </p:nvSpPr>
        <p:spPr>
          <a:xfrm>
            <a:off x="533400" y="914400"/>
            <a:ext cx="11125200" cy="495300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5805" y="1082992"/>
            <a:ext cx="85583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小图标看似简单，但同时要求语义准确、轮廓清楚、结构可编辑、语法安全；这正适合拆成 Agent 工作流。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23900" y="1714500"/>
            <a:ext cx="4953000" cy="3714750"/>
            <a:chOff x="723900" y="1714500"/>
            <a:chExt cx="4953000" cy="3714750"/>
          </a:xfrm>
        </p:grpSpPr>
        <p:sp>
          <p:nvSpPr>
            <p:cNvPr id="6" name="Rectangle 6"/>
            <p:cNvSpPr/>
            <p:nvPr/>
          </p:nvSpPr>
          <p:spPr>
            <a:xfrm>
              <a:off x="723900" y="1714500"/>
              <a:ext cx="4953000" cy="371475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05840" y="19583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核心约束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990600" y="2466975"/>
              <a:ext cx="4088130" cy="561975"/>
              <a:chOff x="990600" y="2466975"/>
              <a:chExt cx="4088130" cy="561975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990600" y="2495550"/>
                <a:ext cx="381000" cy="3810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135601" y="2606992"/>
                <a:ext cx="9099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D4ED8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524000" y="2466975"/>
                <a:ext cx="171831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输入短，但约束多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527810" y="2785110"/>
                <a:ext cx="35509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对象、风格、尺寸、配色和可读性都要同时满足。</a:t>
                </a:r>
              </a:p>
            </p:txBody>
          </p:sp>
        </p:grpSp>
        <p:sp>
          <p:nvSpPr>
            <p:cNvPr id="13" name="Line 13"/>
            <p:cNvSpPr/>
            <p:nvPr/>
          </p:nvSpPr>
          <p:spPr>
            <a:xfrm>
              <a:off x="1181100" y="29146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990600" y="3267075"/>
              <a:ext cx="3760089" cy="561975"/>
              <a:chOff x="990600" y="3267075"/>
              <a:chExt cx="3760089" cy="561975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990600" y="3295650"/>
                <a:ext cx="381000" cy="381000"/>
              </a:xfrm>
              <a:prstGeom prst="ellipse">
                <a:avLst/>
              </a:prstGeom>
              <a:solidFill>
                <a:srgbClr val="CCFBF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111974" y="340709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524000" y="3267075"/>
                <a:ext cx="1508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输出必须可编辑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527810" y="3585210"/>
                <a:ext cx="322287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SVG 需要保留路径、形状、文本和调色空间。</a:t>
                </a:r>
              </a:p>
            </p:txBody>
          </p:sp>
        </p:grpSp>
        <p:sp>
          <p:nvSpPr>
            <p:cNvPr id="19" name="Line 19"/>
            <p:cNvSpPr/>
            <p:nvPr/>
          </p:nvSpPr>
          <p:spPr>
            <a:xfrm>
              <a:off x="1181100" y="37147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990600" y="4067175"/>
              <a:ext cx="4560189" cy="561975"/>
              <a:chOff x="990600" y="4067175"/>
              <a:chExt cx="4560189" cy="561975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990600" y="4095750"/>
                <a:ext cx="381000" cy="381000"/>
              </a:xfrm>
              <a:prstGeom prst="ellipse">
                <a:avLst/>
              </a:prstGeom>
              <a:solidFill>
                <a:srgbClr val="FEF3C7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111974" y="420719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524000" y="4067175"/>
                <a:ext cx="12982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错误要能定位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527810" y="4385310"/>
                <a:ext cx="402297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语义偏差、SVG 语法、外部引用、安全标签要分开处理。</a:t>
                </a: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6057900" y="1714500"/>
            <a:ext cx="5511736" cy="3714750"/>
            <a:chOff x="6057900" y="1714500"/>
            <a:chExt cx="5511736" cy="3714750"/>
          </a:xfrm>
        </p:grpSpPr>
        <p:sp>
          <p:nvSpPr>
            <p:cNvPr id="26" name="Rectangle 26"/>
            <p:cNvSpPr/>
            <p:nvPr/>
          </p:nvSpPr>
          <p:spPr>
            <a:xfrm>
              <a:off x="6057900" y="1714500"/>
              <a:ext cx="5410200" cy="371475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9840" y="1958340"/>
              <a:ext cx="39144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设计选择：让 Agent 管理不确定性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6362700" y="2514600"/>
              <a:ext cx="4902993" cy="819150"/>
              <a:chOff x="6362700" y="2514600"/>
              <a:chExt cx="4902993" cy="8191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362700" y="2514600"/>
                <a:ext cx="2190750" cy="819150"/>
              </a:xfrm>
              <a:prstGeom prst="roundRect">
                <a:avLst>
                  <a:gd name="adj" fmla="val 11628"/>
                </a:avLst>
              </a:prstGeom>
              <a:solidFill>
                <a:srgbClr val="FEE2E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572250" y="26574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DC2626"/>
                    </a:solidFill>
                    <a:latin typeface="Arial"/>
                    <a:ea typeface="Microsoft YaHei"/>
                    <a:cs typeface="Arial"/>
                  </a:rPr>
                  <a:t>单次生成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577012" y="2983706"/>
                <a:ext cx="1828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快，但失败原因混在一起。</a:t>
                </a:r>
              </a:p>
            </p:txBody>
          </p:sp>
          <p:sp>
            <p:nvSpPr>
              <p:cNvPr id="31" name="Polygon 31"/>
              <p:cNvSpPr/>
              <p:nvPr/>
            </p:nvSpPr>
            <p:spPr>
              <a:xfrm>
                <a:off x="8782050" y="2724150"/>
                <a:ext cx="32385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304800">
                    <a:moveTo>
                      <a:pt x="0" y="152400"/>
                    </a:moveTo>
                    <a:lnTo>
                      <a:pt x="323850" y="0"/>
                    </a:lnTo>
                    <a:lnTo>
                      <a:pt x="323850" y="304800"/>
                    </a:lnTo>
                    <a:close/>
                  </a:path>
                </a:pathLst>
              </a:cu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9372600" y="2514600"/>
                <a:ext cx="1790700" cy="819150"/>
              </a:xfrm>
              <a:prstGeom prst="roundRect">
                <a:avLst>
                  <a:gd name="adj" fmla="val 11628"/>
                </a:avLst>
              </a:prstGeom>
              <a:solidFill>
                <a:srgbClr val="CCFBF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582150" y="2657475"/>
                <a:ext cx="130875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Agent 流水线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586912" y="29837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把失败拆成可修复环节。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6431560" y="3750469"/>
              <a:ext cx="5138076" cy="1271587"/>
              <a:chOff x="6431560" y="3750469"/>
              <a:chExt cx="5138076" cy="1271587"/>
            </a:xfrm>
          </p:grpSpPr>
          <p:grpSp>
            <p:nvGrpSpPr>
              <p:cNvPr id="39" name="Group 39"/>
              <p:cNvGrpSpPr/>
              <p:nvPr/>
            </p:nvGrpSpPr>
            <p:grpSpPr>
              <a:xfrm>
                <a:off x="6436519" y="3750469"/>
                <a:ext cx="214312" cy="214312"/>
                <a:chOff x="6436519" y="3750469"/>
                <a:chExt cx="214312" cy="214312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6531769" y="3845719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0" y="11906"/>
                      </a:moveTo>
                      <a:cubicBezTo>
                        <a:pt x="0" y="18482"/>
                        <a:pt x="5331" y="23812"/>
                        <a:pt x="11906" y="23812"/>
                      </a:cubicBezTo>
                      <a:cubicBezTo>
                        <a:pt x="18482" y="23812"/>
                        <a:pt x="23812" y="18482"/>
                        <a:pt x="23812" y="11906"/>
                      </a:cubicBezTo>
                      <a:cubicBezTo>
                        <a:pt x="23812" y="5331"/>
                        <a:pt x="18482" y="0"/>
                        <a:pt x="11906" y="0"/>
                      </a:cubicBezTo>
                      <a:cubicBezTo>
                        <a:pt x="5331" y="0"/>
                        <a:pt x="0" y="5331"/>
                        <a:pt x="0" y="11906"/>
                      </a:cubicBezTo>
                    </a:path>
                  </a:pathLst>
                </a:custGeom>
                <a:noFill/>
                <a:ln w="19050">
                  <a:solidFill>
                    <a:srgbClr val="1D4ED8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6484144" y="3798094"/>
                  <a:ext cx="119062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119062">
                      <a:moveTo>
                        <a:pt x="0" y="59531"/>
                      </a:moveTo>
                      <a:cubicBezTo>
                        <a:pt x="0" y="92409"/>
                        <a:pt x="26653" y="119062"/>
                        <a:pt x="59531" y="119062"/>
                      </a:cubicBezTo>
                      <a:cubicBezTo>
                        <a:pt x="92409" y="119062"/>
                        <a:pt x="119062" y="92409"/>
                        <a:pt x="119062" y="59531"/>
                      </a:cubicBezTo>
                      <a:cubicBezTo>
                        <a:pt x="119062" y="26653"/>
                        <a:pt x="92409" y="0"/>
                        <a:pt x="59531" y="0"/>
                      </a:cubicBezTo>
                      <a:cubicBezTo>
                        <a:pt x="26653" y="0"/>
                        <a:pt x="0" y="26653"/>
                        <a:pt x="0" y="59531"/>
                      </a:cubicBezTo>
                    </a:path>
                  </a:pathLst>
                </a:custGeom>
                <a:noFill/>
                <a:ln w="19050">
                  <a:solidFill>
                    <a:srgbClr val="1D4ED8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6436519" y="375046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107156"/>
                      </a:moveTo>
                      <a:cubicBezTo>
                        <a:pt x="0" y="166337"/>
                        <a:pt x="47975" y="214312"/>
                        <a:pt x="107156" y="214312"/>
                      </a:cubicBezTo>
                      <a:cubicBezTo>
                        <a:pt x="166337" y="214312"/>
                        <a:pt x="214312" y="166337"/>
                        <a:pt x="214312" y="107156"/>
                      </a:cubicBezTo>
                      <a:cubicBezTo>
                        <a:pt x="214312" y="47975"/>
                        <a:pt x="166337" y="0"/>
                        <a:pt x="107156" y="0"/>
                      </a:cubicBezTo>
                      <a:cubicBezTo>
                        <a:pt x="47975" y="0"/>
                        <a:pt x="0" y="47975"/>
                        <a:pt x="0" y="107156"/>
                      </a:cubicBezTo>
                    </a:path>
                  </a:pathLst>
                </a:custGeom>
                <a:noFill/>
                <a:ln w="19050">
                  <a:solidFill>
                    <a:srgbClr val="1D4ED8"/>
                  </a:solidFill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6820852" y="3779996"/>
                <a:ext cx="363714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先显式生成目标和验收标准，再生成 SVG。</a:t>
                </a:r>
              </a:p>
            </p:txBody>
          </p:sp>
          <p:grpSp>
            <p:nvGrpSpPr>
              <p:cNvPr id="43" name="Group 43"/>
              <p:cNvGrpSpPr/>
              <p:nvPr/>
            </p:nvGrpSpPr>
            <p:grpSpPr>
              <a:xfrm>
                <a:off x="6436519" y="4226719"/>
                <a:ext cx="214313" cy="214313"/>
                <a:chOff x="6436519" y="4226719"/>
                <a:chExt cx="214313" cy="214313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6436519" y="4226719"/>
                  <a:ext cx="166688" cy="166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166688">
                      <a:moveTo>
                        <a:pt x="0" y="83344"/>
                      </a:moveTo>
                      <a:cubicBezTo>
                        <a:pt x="0" y="129373"/>
                        <a:pt x="37314" y="166688"/>
                        <a:pt x="83344" y="166688"/>
                      </a:cubicBezTo>
                      <a:cubicBezTo>
                        <a:pt x="129373" y="166688"/>
                        <a:pt x="166688" y="129373"/>
                        <a:pt x="166688" y="83344"/>
                      </a:cubicBezTo>
                      <a:cubicBezTo>
                        <a:pt x="166688" y="37314"/>
                        <a:pt x="129373" y="0"/>
                        <a:pt x="83344" y="0"/>
                      </a:cubicBezTo>
                      <a:cubicBezTo>
                        <a:pt x="37314" y="0"/>
                        <a:pt x="0" y="37314"/>
                        <a:pt x="0" y="83344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6579394" y="4369594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71438" y="7143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6820852" y="4256246"/>
                <a:ext cx="4606266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候选输出由语义 Critic 和 SVG 质量 Critic 分别评审。</a:t>
                </a:r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6431560" y="4702969"/>
                <a:ext cx="224229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24229" h="214312">
                    <a:moveTo>
                      <a:pt x="112115" y="0"/>
                    </a:moveTo>
                    <a:cubicBezTo>
                      <a:pt x="139926" y="24605"/>
                      <a:pt x="176223" y="37416"/>
                      <a:pt x="213318" y="35719"/>
                    </a:cubicBezTo>
                    <a:cubicBezTo>
                      <a:pt x="224229" y="72837"/>
                      <a:pt x="219621" y="112793"/>
                      <a:pt x="200547" y="146453"/>
                    </a:cubicBezTo>
                    <a:cubicBezTo>
                      <a:pt x="181473" y="180113"/>
                      <a:pt x="149564" y="204599"/>
                      <a:pt x="112115" y="214312"/>
                    </a:cubicBezTo>
                    <a:cubicBezTo>
                      <a:pt x="74665" y="204599"/>
                      <a:pt x="42756" y="180113"/>
                      <a:pt x="23682" y="146453"/>
                    </a:cubicBezTo>
                    <a:cubicBezTo>
                      <a:pt x="4608" y="112793"/>
                      <a:pt x="0" y="72837"/>
                      <a:pt x="10911" y="35719"/>
                    </a:cubicBezTo>
                    <a:cubicBezTo>
                      <a:pt x="48006" y="37416"/>
                      <a:pt x="84304" y="24605"/>
                      <a:pt x="112115" y="0"/>
                    </a:cubicBez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820852" y="4732496"/>
                <a:ext cx="4748784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验证失败进入 Taxonomy 和 Router，而不是直接重试。</a:t>
                </a:r>
              </a:p>
            </p:txBody>
          </p:sp>
        </p:grpSp>
      </p:grpSp>
      <p:sp>
        <p:nvSpPr>
          <p:cNvPr id="49" name="TextBox 49"/>
          <p:cNvSpPr txBox="1"/>
          <p:nvPr/>
        </p:nvSpPr>
        <p:spPr>
          <a:xfrm>
            <a:off x="521970" y="6322695"/>
            <a:ext cx="45534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Source: README.md, svg_icon_agent/pipeline.py, svg_icon_agent/refiner.py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515154" y="63226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99110" y="394335"/>
            <a:ext cx="82154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总体架构：RAG 记忆 + 多 Agent 生成/验证/修复</a:t>
            </a:r>
          </a:p>
        </p:txBody>
      </p:sp>
      <p:sp>
        <p:nvSpPr>
          <p:cNvPr id="4" name="Rectangle 4"/>
          <p:cNvSpPr/>
          <p:nvPr/>
        </p:nvSpPr>
        <p:spPr>
          <a:xfrm>
            <a:off x="533400" y="914400"/>
            <a:ext cx="11125200" cy="495300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5805" y="1082992"/>
            <a:ext cx="924244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本地历史运行先作为 RAG 上下文进入 Goal Manager，随后 Agent 链路逐步收窄目标、生成候选、验证并修复 SVG。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858250" y="1562100"/>
            <a:ext cx="2514600" cy="400050"/>
            <a:chOff x="8858250" y="1562100"/>
            <a:chExt cx="2514600" cy="400050"/>
          </a:xfrm>
        </p:grpSpPr>
        <p:sp>
          <p:nvSpPr>
            <p:cNvPr id="6" name="Rectangle 6"/>
            <p:cNvSpPr/>
            <p:nvPr/>
          </p:nvSpPr>
          <p:spPr>
            <a:xfrm>
              <a:off x="8858250" y="1562100"/>
              <a:ext cx="2514600" cy="40005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029700" y="1695450"/>
              <a:ext cx="171450" cy="133350"/>
            </a:xfrm>
            <a:prstGeom prst="roundRect">
              <a:avLst>
                <a:gd name="adj" fmla="val 21429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64968" y="1704499"/>
              <a:ext cx="6618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LLM Agent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982200" y="1695450"/>
              <a:ext cx="171450" cy="133350"/>
            </a:xfrm>
            <a:prstGeom prst="roundRect">
              <a:avLst>
                <a:gd name="adj" fmla="val 21429"/>
              </a:avLst>
            </a:prstGeom>
            <a:solidFill>
              <a:srgbClr val="CCFB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17468" y="1704499"/>
              <a:ext cx="2782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Tool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8650" y="1771650"/>
            <a:ext cx="2152650" cy="3371850"/>
            <a:chOff x="628650" y="1771650"/>
            <a:chExt cx="2152650" cy="3371850"/>
          </a:xfrm>
        </p:grpSpPr>
        <p:sp>
          <p:nvSpPr>
            <p:cNvPr id="12" name="Rectangle 12"/>
            <p:cNvSpPr/>
            <p:nvPr/>
          </p:nvSpPr>
          <p:spPr>
            <a:xfrm>
              <a:off x="628650" y="1771650"/>
              <a:ext cx="2152650" cy="3371850"/>
            </a:xfrm>
            <a:prstGeom prst="roundRect">
              <a:avLst>
                <a:gd name="adj" fmla="val 5310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3445" y="1974532"/>
              <a:ext cx="9544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RAG 输入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14400" y="2457450"/>
              <a:ext cx="1581150" cy="742950"/>
            </a:xfrm>
            <a:prstGeom prst="roundRect">
              <a:avLst>
                <a:gd name="adj" fmla="val 12821"/>
              </a:avLst>
            </a:prstGeom>
            <a:solidFill>
              <a:srgbClr val="CCFBF1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1120775" y="2688431"/>
              <a:ext cx="215900" cy="242888"/>
              <a:chOff x="1120775" y="2688431"/>
              <a:chExt cx="215900" cy="24288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120775" y="2688431"/>
                <a:ext cx="215900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80962">
                    <a:moveTo>
                      <a:pt x="0" y="40481"/>
                    </a:moveTo>
                    <a:cubicBezTo>
                      <a:pt x="0" y="62838"/>
                      <a:pt x="48331" y="80962"/>
                      <a:pt x="107950" y="80962"/>
                    </a:cubicBezTo>
                    <a:cubicBezTo>
                      <a:pt x="167569" y="80962"/>
                      <a:pt x="215900" y="62838"/>
                      <a:pt x="215900" y="40481"/>
                    </a:cubicBezTo>
                    <a:cubicBezTo>
                      <a:pt x="215900" y="18124"/>
                      <a:pt x="167569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120775" y="2728912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120775" y="2809875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470660" y="2613660"/>
              <a:ext cx="6521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Memory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72565" y="28775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历史运行记录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14400" y="3524250"/>
              <a:ext cx="1581150" cy="742950"/>
            </a:xfrm>
            <a:prstGeom prst="roundRect">
              <a:avLst>
                <a:gd name="adj" fmla="val 12821"/>
              </a:avLst>
            </a:prstGeom>
            <a:solidFill>
              <a:srgbClr val="CCFBF1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107281" y="3755231"/>
              <a:ext cx="242887" cy="242887"/>
              <a:chOff x="1107281" y="3755231"/>
              <a:chExt cx="242887" cy="24288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107281" y="3755231"/>
                <a:ext cx="188913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188912">
                    <a:moveTo>
                      <a:pt x="0" y="94456"/>
                    </a:moveTo>
                    <a:cubicBezTo>
                      <a:pt x="0" y="146623"/>
                      <a:pt x="42290" y="188912"/>
                      <a:pt x="94456" y="188912"/>
                    </a:cubicBezTo>
                    <a:cubicBezTo>
                      <a:pt x="146623" y="188912"/>
                      <a:pt x="188913" y="146623"/>
                      <a:pt x="188913" y="94456"/>
                    </a:cubicBezTo>
                    <a:cubicBezTo>
                      <a:pt x="188913" y="42290"/>
                      <a:pt x="146623" y="0"/>
                      <a:pt x="94456" y="0"/>
                    </a:cubicBezTo>
                    <a:cubicBezTo>
                      <a:pt x="42290" y="0"/>
                      <a:pt x="0" y="42290"/>
                      <a:pt x="0" y="94456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269206" y="3917156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80962" y="8096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470660" y="3680460"/>
              <a:ext cx="12402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Top-k Retrieve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72565" y="3944302"/>
              <a:ext cx="9647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BM25 相似经验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2781300" y="1771650"/>
            <a:ext cx="7099559" cy="2124075"/>
            <a:chOff x="2781300" y="1771650"/>
            <a:chExt cx="7099559" cy="2124075"/>
          </a:xfrm>
        </p:grpSpPr>
        <p:sp>
          <p:nvSpPr>
            <p:cNvPr id="28" name="Rectangle 28"/>
            <p:cNvSpPr/>
            <p:nvPr/>
          </p:nvSpPr>
          <p:spPr>
            <a:xfrm>
              <a:off x="3257550" y="1771650"/>
              <a:ext cx="1276350" cy="666750"/>
            </a:xfrm>
            <a:prstGeom prst="roundRect">
              <a:avLst>
                <a:gd name="adj" fmla="val 14286"/>
              </a:avLst>
            </a:prstGeom>
            <a:solidFill>
              <a:srgbClr val="DBEAFE"/>
            </a:solidFill>
            <a:ln w="12382">
              <a:solidFill>
                <a:srgbClr val="1D4ED8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3481388" y="1976438"/>
              <a:ext cx="200025" cy="200025"/>
              <a:chOff x="3481388" y="1976438"/>
              <a:chExt cx="200025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3570288" y="206533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2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2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3525838" y="2020888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3"/>
                    </a:moveTo>
                    <a:cubicBezTo>
                      <a:pt x="0" y="86249"/>
                      <a:pt x="24876" y="111125"/>
                      <a:pt x="55562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  <a:cubicBezTo>
                      <a:pt x="111125" y="24876"/>
                      <a:pt x="86249" y="0"/>
                      <a:pt x="55562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3481388" y="19764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3814762" y="1916906"/>
              <a:ext cx="3357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Goal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16668" y="21616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验收标准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2781300" y="2105025"/>
              <a:ext cx="476250" cy="1790700"/>
            </a:xfrm>
            <a:custGeom>
              <a:avLst/>
              <a:gdLst/>
              <a:ahLst/>
              <a:cxnLst/>
              <a:rect l="l" t="t" r="r" b="b"/>
              <a:pathLst>
                <a:path w="476250" h="1790700">
                  <a:moveTo>
                    <a:pt x="0" y="179070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0F766E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3143250" y="2076450"/>
              <a:ext cx="114300" cy="123825"/>
            </a:xfrm>
            <a:custGeom>
              <a:avLst/>
              <a:gdLst/>
              <a:ahLst/>
              <a:cxnLst/>
              <a:rect l="l" t="t" r="r" b="b"/>
              <a:pathLst>
                <a:path w="114300" h="123825">
                  <a:moveTo>
                    <a:pt x="114300" y="28575"/>
                  </a:moveTo>
                  <a:lnTo>
                    <a:pt x="0" y="0"/>
                  </a:lnTo>
                  <a:lnTo>
                    <a:pt x="57150" y="123825"/>
                  </a:lnTo>
                  <a:close/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4533900" y="210502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0955">
              <a:solidFill>
                <a:srgbClr val="1D4ED8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4895850" y="20383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010150" y="1771650"/>
              <a:ext cx="1276350" cy="666750"/>
            </a:xfrm>
            <a:prstGeom prst="roundRect">
              <a:avLst>
                <a:gd name="adj" fmla="val 14286"/>
              </a:avLst>
            </a:prstGeom>
            <a:solidFill>
              <a:srgbClr val="DBEAFE"/>
            </a:solidFill>
            <a:ln w="12382">
              <a:solidFill>
                <a:srgbClr val="1D4ED8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5233988" y="1976438"/>
              <a:ext cx="200025" cy="200025"/>
              <a:chOff x="5233988" y="1976438"/>
              <a:chExt cx="200025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5233988" y="19764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33338" y="200025"/>
                    </a:moveTo>
                    <a:lnTo>
                      <a:pt x="200025" y="33338"/>
                    </a:lnTo>
                    <a:lnTo>
                      <a:pt x="166688" y="0"/>
                    </a:lnTo>
                    <a:lnTo>
                      <a:pt x="0" y="166688"/>
                    </a:lnTo>
                    <a:lnTo>
                      <a:pt x="33338" y="200025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367338" y="2009775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0"/>
                    </a:moveTo>
                    <a:lnTo>
                      <a:pt x="33338" y="33338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278438" y="19764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22225" y="0"/>
                    </a:moveTo>
                    <a:cubicBezTo>
                      <a:pt x="22225" y="12275"/>
                      <a:pt x="32175" y="22225"/>
                      <a:pt x="44450" y="22225"/>
                    </a:cubicBezTo>
                    <a:cubicBezTo>
                      <a:pt x="32175" y="22225"/>
                      <a:pt x="22225" y="32175"/>
                      <a:pt x="22225" y="44450"/>
                    </a:cubicBezTo>
                    <a:cubicBezTo>
                      <a:pt x="22225" y="32175"/>
                      <a:pt x="12275" y="22225"/>
                      <a:pt x="0" y="22225"/>
                    </a:cubicBezTo>
                    <a:cubicBezTo>
                      <a:pt x="12275" y="22225"/>
                      <a:pt x="22225" y="12275"/>
                      <a:pt x="22225" y="0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389562" y="2087562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22225" y="0"/>
                    </a:moveTo>
                    <a:cubicBezTo>
                      <a:pt x="22225" y="12275"/>
                      <a:pt x="32175" y="22225"/>
                      <a:pt x="44450" y="22225"/>
                    </a:cubicBezTo>
                    <a:cubicBezTo>
                      <a:pt x="32175" y="22225"/>
                      <a:pt x="22225" y="32175"/>
                      <a:pt x="22225" y="44450"/>
                    </a:cubicBezTo>
                    <a:cubicBezTo>
                      <a:pt x="22225" y="32175"/>
                      <a:pt x="12275" y="22225"/>
                      <a:pt x="0" y="22225"/>
                    </a:cubicBezTo>
                    <a:cubicBezTo>
                      <a:pt x="12275" y="22225"/>
                      <a:pt x="22225" y="12275"/>
                      <a:pt x="22225" y="0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5567362" y="1916906"/>
              <a:ext cx="6271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Rewrite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569268" y="21616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提示优化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6286500" y="210502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0955">
              <a:solidFill>
                <a:srgbClr val="1D4ED8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6648450" y="20383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762750" y="1771650"/>
              <a:ext cx="1276350" cy="666750"/>
            </a:xfrm>
            <a:prstGeom prst="roundRect">
              <a:avLst>
                <a:gd name="adj" fmla="val 14286"/>
              </a:avLst>
            </a:prstGeom>
            <a:solidFill>
              <a:srgbClr val="DBEAFE"/>
            </a:solidFill>
            <a:ln w="12382">
              <a:solidFill>
                <a:srgbClr val="1D4ED8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986588" y="1976438"/>
              <a:ext cx="200024" cy="200024"/>
              <a:chOff x="6986588" y="1976438"/>
              <a:chExt cx="200024" cy="200024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986588" y="2132012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142162" y="19764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22225" y="44450"/>
                    </a:move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  <a:cubicBezTo>
                      <a:pt x="0" y="34500"/>
                      <a:pt x="9950" y="44450"/>
                      <a:pt x="22225" y="44450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008812" y="1998662"/>
                <a:ext cx="16668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55575">
                    <a:moveTo>
                      <a:pt x="66675" y="155575"/>
                    </a:moveTo>
                    <a:lnTo>
                      <a:pt x="127794" y="155575"/>
                    </a:lnTo>
                    <a:cubicBezTo>
                      <a:pt x="149274" y="155575"/>
                      <a:pt x="166688" y="138162"/>
                      <a:pt x="166688" y="116681"/>
                    </a:cubicBezTo>
                    <a:cubicBezTo>
                      <a:pt x="166688" y="95201"/>
                      <a:pt x="149274" y="77787"/>
                      <a:pt x="127794" y="77787"/>
                    </a:cubicBezTo>
                    <a:lnTo>
                      <a:pt x="38894" y="77787"/>
                    </a:lnTo>
                    <a:cubicBezTo>
                      <a:pt x="17413" y="77787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7319962" y="1916906"/>
              <a:ext cx="5956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Planner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21868" y="21616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结构计划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8039100" y="210502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0955">
              <a:solidFill>
                <a:srgbClr val="1D4ED8"/>
              </a:solidFill>
            </a:ln>
          </p:spPr>
        </p:sp>
        <p:sp>
          <p:nvSpPr>
            <p:cNvPr id="57" name="Polygon 57"/>
            <p:cNvSpPr/>
            <p:nvPr/>
          </p:nvSpPr>
          <p:spPr>
            <a:xfrm>
              <a:off x="8401050" y="20383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515350" y="1771650"/>
              <a:ext cx="1276350" cy="666750"/>
            </a:xfrm>
            <a:prstGeom prst="roundRect">
              <a:avLst>
                <a:gd name="adj" fmla="val 14286"/>
              </a:avLst>
            </a:prstGeom>
            <a:solidFill>
              <a:srgbClr val="DBEAFE"/>
            </a:solidFill>
            <a:ln w="12382">
              <a:solidFill>
                <a:srgbClr val="1D4ED8"/>
              </a:solidFill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8750300" y="1987550"/>
              <a:ext cx="177800" cy="177800"/>
              <a:chOff x="8750300" y="1987550"/>
              <a:chExt cx="177800" cy="177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750300" y="1987550"/>
                <a:ext cx="66675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55563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44450" y="0"/>
                    </a:lnTo>
                    <a:cubicBezTo>
                      <a:pt x="56725" y="0"/>
                      <a:pt x="66675" y="9950"/>
                      <a:pt x="66675" y="22225"/>
                    </a:cubicBezTo>
                    <a:lnTo>
                      <a:pt x="66675" y="33338"/>
                    </a:lnTo>
                    <a:cubicBezTo>
                      <a:pt x="66675" y="45612"/>
                      <a:pt x="56725" y="55563"/>
                      <a:pt x="44450" y="55563"/>
                    </a:cubicBezTo>
                    <a:lnTo>
                      <a:pt x="22225" y="55563"/>
                    </a:lnTo>
                    <a:cubicBezTo>
                      <a:pt x="9950" y="55563"/>
                      <a:pt x="0" y="45612"/>
                      <a:pt x="0" y="33338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50300" y="2087562"/>
                <a:ext cx="6667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77788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44450" y="0"/>
                    </a:lnTo>
                    <a:cubicBezTo>
                      <a:pt x="56725" y="0"/>
                      <a:pt x="66675" y="9950"/>
                      <a:pt x="66675" y="22225"/>
                    </a:cubicBezTo>
                    <a:lnTo>
                      <a:pt x="66675" y="55563"/>
                    </a:lnTo>
                    <a:cubicBezTo>
                      <a:pt x="66675" y="67837"/>
                      <a:pt x="56725" y="77788"/>
                      <a:pt x="44450" y="77788"/>
                    </a:cubicBezTo>
                    <a:lnTo>
                      <a:pt x="22225" y="77788"/>
                    </a:lnTo>
                    <a:cubicBezTo>
                      <a:pt x="9950" y="77788"/>
                      <a:pt x="0" y="67837"/>
                      <a:pt x="0" y="55563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861425" y="1987550"/>
                <a:ext cx="66675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778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44450" y="0"/>
                    </a:lnTo>
                    <a:cubicBezTo>
                      <a:pt x="56725" y="0"/>
                      <a:pt x="66675" y="9950"/>
                      <a:pt x="66675" y="22225"/>
                    </a:cubicBezTo>
                    <a:lnTo>
                      <a:pt x="66675" y="155575"/>
                    </a:lnTo>
                    <a:cubicBezTo>
                      <a:pt x="66675" y="167850"/>
                      <a:pt x="56725" y="177800"/>
                      <a:pt x="44450" y="177800"/>
                    </a:cubicBezTo>
                    <a:lnTo>
                      <a:pt x="22225" y="177800"/>
                    </a:lnTo>
                    <a:cubicBezTo>
                      <a:pt x="9950" y="177800"/>
                      <a:pt x="0" y="167850"/>
                      <a:pt x="0" y="1555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9072562" y="1916906"/>
              <a:ext cx="8082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Generator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074468" y="2161699"/>
              <a:ext cx="5253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3 个候选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7677150" y="2438400"/>
            <a:ext cx="3390900" cy="2305050"/>
            <a:chOff x="7677150" y="2438400"/>
            <a:chExt cx="3390900" cy="2305050"/>
          </a:xfrm>
        </p:grpSpPr>
        <p:sp>
          <p:nvSpPr>
            <p:cNvPr id="66" name="Line 66"/>
            <p:cNvSpPr/>
            <p:nvPr/>
          </p:nvSpPr>
          <p:spPr>
            <a:xfrm>
              <a:off x="8534400" y="2438400"/>
              <a:ext cx="619125" cy="666750"/>
            </a:xfrm>
            <a:custGeom>
              <a:avLst/>
              <a:gdLst/>
              <a:ahLst/>
              <a:cxnLst/>
              <a:rect l="l" t="t" r="r" b="b"/>
              <a:pathLst>
                <a:path w="619125" h="666750">
                  <a:moveTo>
                    <a:pt x="619125" y="0"/>
                  </a:moveTo>
                  <a:lnTo>
                    <a:pt x="0" y="66675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67" name="Polygon 67"/>
            <p:cNvSpPr/>
            <p:nvPr/>
          </p:nvSpPr>
          <p:spPr>
            <a:xfrm>
              <a:off x="8534400" y="2981325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0" y="123825"/>
                  </a:moveTo>
                  <a:lnTo>
                    <a:pt x="28575" y="0"/>
                  </a:lnTo>
                  <a:lnTo>
                    <a:pt x="123825" y="9525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sp>
          <p:nvSpPr>
            <p:cNvPr id="68" name="Line 68"/>
            <p:cNvSpPr/>
            <p:nvPr/>
          </p:nvSpPr>
          <p:spPr>
            <a:xfrm>
              <a:off x="9153525" y="2438400"/>
              <a:ext cx="676275" cy="666750"/>
            </a:xfrm>
            <a:custGeom>
              <a:avLst/>
              <a:gdLst/>
              <a:ahLst/>
              <a:cxnLst/>
              <a:rect l="l" t="t" r="r" b="b"/>
              <a:pathLst>
                <a:path w="676275" h="666750">
                  <a:moveTo>
                    <a:pt x="0" y="0"/>
                  </a:moveTo>
                  <a:lnTo>
                    <a:pt x="676275" y="66675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69" name="Polygon 69"/>
            <p:cNvSpPr/>
            <p:nvPr/>
          </p:nvSpPr>
          <p:spPr>
            <a:xfrm>
              <a:off x="9705975" y="2981325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825" y="123825"/>
                  </a:moveTo>
                  <a:lnTo>
                    <a:pt x="0" y="952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677150" y="3105150"/>
              <a:ext cx="1524000" cy="628650"/>
            </a:xfrm>
            <a:prstGeom prst="roundRect">
              <a:avLst>
                <a:gd name="adj" fmla="val 15152"/>
              </a:avLst>
            </a:prstGeom>
            <a:solidFill>
              <a:srgbClr val="DBEAFE"/>
            </a:solidFill>
            <a:ln w="11430">
              <a:solidFill>
                <a:srgbClr val="1D4ED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948612" y="3250406"/>
              <a:ext cx="12020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Semantic Critic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950518" y="34761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语义与可读性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9544050" y="3105150"/>
              <a:ext cx="1524000" cy="628650"/>
            </a:xfrm>
            <a:prstGeom prst="roundRect">
              <a:avLst>
                <a:gd name="adj" fmla="val 15152"/>
              </a:avLst>
            </a:prstGeom>
            <a:solidFill>
              <a:srgbClr val="DBEAFE"/>
            </a:solidFill>
            <a:ln w="11430">
              <a:solidFill>
                <a:srgbClr val="1D4ED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796462" y="3250406"/>
              <a:ext cx="10760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Quality Critic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798368" y="34761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安全与渲染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8439150" y="3733800"/>
              <a:ext cx="638175" cy="381000"/>
            </a:xfrm>
            <a:custGeom>
              <a:avLst/>
              <a:gdLst/>
              <a:ahLst/>
              <a:cxnLst/>
              <a:rect l="l" t="t" r="r" b="b"/>
              <a:pathLst>
                <a:path w="638175" h="381000">
                  <a:moveTo>
                    <a:pt x="0" y="0"/>
                  </a:moveTo>
                  <a:lnTo>
                    <a:pt x="638175" y="381000"/>
                  </a:lnTo>
                </a:path>
              </a:pathLst>
            </a:custGeom>
            <a:noFill/>
            <a:ln w="19050">
              <a:solidFill>
                <a:srgbClr val="F59E0B"/>
              </a:solidFill>
            </a:ln>
          </p:spPr>
        </p:sp>
        <p:sp>
          <p:nvSpPr>
            <p:cNvPr id="77" name="Line 77"/>
            <p:cNvSpPr/>
            <p:nvPr/>
          </p:nvSpPr>
          <p:spPr>
            <a:xfrm>
              <a:off x="9696450" y="3733800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60960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F59E0B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8763000" y="4114800"/>
              <a:ext cx="1276350" cy="628650"/>
            </a:xfrm>
            <a:prstGeom prst="roundRect">
              <a:avLst>
                <a:gd name="adj" fmla="val 15152"/>
              </a:avLst>
            </a:prstGeom>
            <a:solidFill>
              <a:srgbClr val="FEF3C7"/>
            </a:solidFill>
            <a:ln w="11430">
              <a:solidFill>
                <a:srgbClr val="F59E0B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9009062" y="4354512"/>
              <a:ext cx="166688" cy="111125"/>
            </a:xfrm>
            <a:custGeom>
              <a:avLst/>
              <a:gdLst/>
              <a:ahLst/>
              <a:cxnLst/>
              <a:rect l="l" t="t" r="r" b="b"/>
              <a:pathLst>
                <a:path w="166688" h="111125">
                  <a:moveTo>
                    <a:pt x="0" y="55562"/>
                  </a:moveTo>
                  <a:lnTo>
                    <a:pt x="55562" y="111125"/>
                  </a:lnTo>
                  <a:lnTo>
                    <a:pt x="166688" y="0"/>
                  </a:lnTo>
                </a:path>
              </a:pathLst>
            </a:custGeom>
            <a:noFill/>
            <a:ln w="19050">
              <a:solidFill>
                <a:srgbClr val="F59E0B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301162" y="4250531"/>
              <a:ext cx="6822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Selector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303068" y="4476274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可解释选择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6438900" y="4114800"/>
            <a:ext cx="5358872" cy="1695450"/>
            <a:chOff x="6438900" y="4114800"/>
            <a:chExt cx="5358872" cy="1695450"/>
          </a:xfrm>
        </p:grpSpPr>
        <p:sp>
          <p:nvSpPr>
            <p:cNvPr id="83" name="Line 83"/>
            <p:cNvSpPr/>
            <p:nvPr/>
          </p:nvSpPr>
          <p:spPr>
            <a:xfrm>
              <a:off x="10039350" y="44291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0955">
              <a:solidFill>
                <a:srgbClr val="F59E0B"/>
              </a:solidFill>
            </a:ln>
          </p:spPr>
        </p:sp>
        <p:sp>
          <p:nvSpPr>
            <p:cNvPr id="84" name="Polygon 84"/>
            <p:cNvSpPr/>
            <p:nvPr/>
          </p:nvSpPr>
          <p:spPr>
            <a:xfrm>
              <a:off x="10458450" y="43624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10572750" y="4114800"/>
              <a:ext cx="990600" cy="628650"/>
            </a:xfrm>
            <a:prstGeom prst="roundRect">
              <a:avLst>
                <a:gd name="adj" fmla="val 15152"/>
              </a:avLst>
            </a:prstGeom>
            <a:solidFill>
              <a:srgbClr val="FEF3C7"/>
            </a:solidFill>
            <a:ln w="11430">
              <a:solidFill>
                <a:srgbClr val="F59E0B"/>
              </a:solidFill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10813256" y="4297077"/>
              <a:ext cx="186817" cy="186817"/>
              <a:chOff x="10813256" y="4297077"/>
              <a:chExt cx="186817" cy="186817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10813256" y="4297077"/>
                <a:ext cx="186817" cy="186817"/>
              </a:xfrm>
              <a:custGeom>
                <a:avLst/>
                <a:gdLst/>
                <a:ahLst/>
                <a:cxnLst/>
                <a:rect l="l" t="t" r="r" b="b"/>
                <a:pathLst>
                  <a:path w="186817" h="186817">
                    <a:moveTo>
                      <a:pt x="0" y="186817"/>
                    </a:moveTo>
                    <a:lnTo>
                      <a:pt x="41275" y="186817"/>
                    </a:lnTo>
                    <a:lnTo>
                      <a:pt x="175419" y="52673"/>
                    </a:lnTo>
                    <a:cubicBezTo>
                      <a:pt x="186817" y="41275"/>
                      <a:pt x="186817" y="22796"/>
                      <a:pt x="175419" y="11398"/>
                    </a:cubicBezTo>
                    <a:cubicBezTo>
                      <a:pt x="164021" y="0"/>
                      <a:pt x="145542" y="0"/>
                      <a:pt x="134144" y="11398"/>
                    </a:cubicBezTo>
                    <a:lnTo>
                      <a:pt x="0" y="145542"/>
                    </a:lnTo>
                    <a:lnTo>
                      <a:pt x="0" y="186817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10931922" y="4323953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10813256" y="4298156"/>
                <a:ext cx="92869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92869" h="92869">
                    <a:moveTo>
                      <a:pt x="92869" y="51594"/>
                    </a:moveTo>
                    <a:lnTo>
                      <a:pt x="41275" y="0"/>
                    </a:lnTo>
                    <a:lnTo>
                      <a:pt x="0" y="41275"/>
                    </a:lnTo>
                    <a:lnTo>
                      <a:pt x="51594" y="92869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10839053" y="4349750"/>
                <a:ext cx="15478" cy="15478"/>
              </a:xfrm>
              <a:custGeom>
                <a:avLst/>
                <a:gdLst/>
                <a:ahLst/>
                <a:cxnLst/>
                <a:rect l="l" t="t" r="r" b="b"/>
                <a:pathLst>
                  <a:path w="15478" h="15478">
                    <a:moveTo>
                      <a:pt x="15478" y="0"/>
                    </a:moveTo>
                    <a:lnTo>
                      <a:pt x="0" y="15478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10906125" y="4391025"/>
                <a:ext cx="92869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92869" h="92869">
                    <a:moveTo>
                      <a:pt x="41275" y="0"/>
                    </a:moveTo>
                    <a:lnTo>
                      <a:pt x="92869" y="51594"/>
                    </a:lnTo>
                    <a:lnTo>
                      <a:pt x="51594" y="92869"/>
                    </a:ln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10931922" y="4442619"/>
                <a:ext cx="15478" cy="15478"/>
              </a:xfrm>
              <a:custGeom>
                <a:avLst/>
                <a:gdLst/>
                <a:ahLst/>
                <a:cxnLst/>
                <a:rect l="l" t="t" r="r" b="b"/>
                <a:pathLst>
                  <a:path w="15478" h="15478">
                    <a:moveTo>
                      <a:pt x="15478" y="0"/>
                    </a:moveTo>
                    <a:lnTo>
                      <a:pt x="0" y="15478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11091862" y="4250531"/>
              <a:ext cx="7059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Optimize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093768" y="4476274"/>
              <a:ext cx="5383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改写 SVG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6438900" y="4953000"/>
              <a:ext cx="1428750" cy="628650"/>
            </a:xfrm>
            <a:prstGeom prst="roundRect">
              <a:avLst>
                <a:gd name="adj" fmla="val 15152"/>
              </a:avLst>
            </a:prstGeom>
            <a:solidFill>
              <a:srgbClr val="DBEAFE"/>
            </a:solidFill>
            <a:ln w="11430">
              <a:solidFill>
                <a:srgbClr val="1D4ED8"/>
              </a:solidFill>
            </a:ln>
          </p:spPr>
        </p:sp>
        <p:sp>
          <p:nvSpPr>
            <p:cNvPr id="96" name="Freeform 96"/>
            <p:cNvSpPr/>
            <p:nvPr/>
          </p:nvSpPr>
          <p:spPr>
            <a:xfrm>
              <a:off x="6658110" y="5138738"/>
              <a:ext cx="209280" cy="200025"/>
            </a:xfrm>
            <a:custGeom>
              <a:avLst/>
              <a:gdLst/>
              <a:ahLst/>
              <a:cxnLst/>
              <a:rect l="l" t="t" r="r" b="b"/>
              <a:pathLst>
                <a:path w="209280" h="200025">
                  <a:moveTo>
                    <a:pt x="104640" y="0"/>
                  </a:moveTo>
                  <a:cubicBezTo>
                    <a:pt x="130597" y="22965"/>
                    <a:pt x="164475" y="34922"/>
                    <a:pt x="199096" y="33338"/>
                  </a:cubicBezTo>
                  <a:cubicBezTo>
                    <a:pt x="209280" y="67981"/>
                    <a:pt x="204980" y="105274"/>
                    <a:pt x="187177" y="136690"/>
                  </a:cubicBezTo>
                  <a:cubicBezTo>
                    <a:pt x="169375" y="168106"/>
                    <a:pt x="139593" y="190959"/>
                    <a:pt x="104640" y="200025"/>
                  </a:cubicBezTo>
                  <a:cubicBezTo>
                    <a:pt x="69687" y="190959"/>
                    <a:pt x="39906" y="168106"/>
                    <a:pt x="22103" y="136690"/>
                  </a:cubicBezTo>
                  <a:cubicBezTo>
                    <a:pt x="4301" y="105274"/>
                    <a:pt x="0" y="67981"/>
                    <a:pt x="10184" y="33338"/>
                  </a:cubicBezTo>
                  <a:cubicBezTo>
                    <a:pt x="44805" y="34922"/>
                    <a:pt x="78683" y="22965"/>
                    <a:pt x="104640" y="0"/>
                  </a:cubicBez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996112" y="5088731"/>
              <a:ext cx="7295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Validator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998018" y="5314474"/>
              <a:ext cx="9283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score + issues</a:t>
              </a:r>
            </a:p>
          </p:txBody>
        </p:sp>
        <p:sp>
          <p:nvSpPr>
            <p:cNvPr id="99" name="Line 99"/>
            <p:cNvSpPr/>
            <p:nvPr/>
          </p:nvSpPr>
          <p:spPr>
            <a:xfrm>
              <a:off x="7867650" y="4743450"/>
              <a:ext cx="3200400" cy="523875"/>
            </a:xfrm>
            <a:custGeom>
              <a:avLst/>
              <a:gdLst/>
              <a:ahLst/>
              <a:cxnLst/>
              <a:rect l="l" t="t" r="r" b="b"/>
              <a:pathLst>
                <a:path w="3200400" h="523875">
                  <a:moveTo>
                    <a:pt x="3200400" y="0"/>
                  </a:moveTo>
                  <a:lnTo>
                    <a:pt x="0" y="523875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00" name="Polygon 100"/>
            <p:cNvSpPr/>
            <p:nvPr/>
          </p:nvSpPr>
          <p:spPr>
            <a:xfrm>
              <a:off x="7867650" y="51816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85725"/>
                  </a:moveTo>
                  <a:lnTo>
                    <a:pt x="114300" y="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8305800" y="4953000"/>
              <a:ext cx="1428750" cy="628650"/>
            </a:xfrm>
            <a:prstGeom prst="roundRect">
              <a:avLst>
                <a:gd name="adj" fmla="val 15152"/>
              </a:avLst>
            </a:prstGeom>
            <a:solidFill>
              <a:srgbClr val="FEE2E2"/>
            </a:solidFill>
            <a:ln w="11430">
              <a:solidFill>
                <a:srgbClr val="DC2626"/>
              </a:solidFill>
            </a:ln>
          </p:spPr>
        </p:sp>
        <p:grpSp>
          <p:nvGrpSpPr>
            <p:cNvPr id="105" name="Group 105"/>
            <p:cNvGrpSpPr/>
            <p:nvPr/>
          </p:nvGrpSpPr>
          <p:grpSpPr>
            <a:xfrm>
              <a:off x="8517579" y="5135046"/>
              <a:ext cx="224133" cy="192560"/>
              <a:chOff x="8517579" y="5135046"/>
              <a:chExt cx="224133" cy="192560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8629650" y="5205412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8517579" y="5135046"/>
                <a:ext cx="224133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3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2"/>
                    </a:cubicBezTo>
                    <a:cubicBezTo>
                      <a:pt x="7482" y="188388"/>
                      <a:pt x="14426" y="192475"/>
                      <a:pt x="21982" y="192560"/>
                    </a:cubicBezTo>
                    <a:lnTo>
                      <a:pt x="202160" y="192560"/>
                    </a:lnTo>
                    <a:cubicBezTo>
                      <a:pt x="209712" y="192473"/>
                      <a:pt x="216652" y="188387"/>
                      <a:pt x="220393" y="181825"/>
                    </a:cubicBezTo>
                    <a:cubicBezTo>
                      <a:pt x="224133" y="175263"/>
                      <a:pt x="224113" y="167210"/>
                      <a:pt x="220340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09" y="0"/>
                      <a:pt x="112071" y="0"/>
                    </a:cubicBezTo>
                    <a:cubicBezTo>
                      <a:pt x="104632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8629650" y="5283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</p:grpSp>
        <p:sp>
          <p:nvSpPr>
            <p:cNvPr id="106" name="TextBox 106"/>
            <p:cNvSpPr txBox="1"/>
            <p:nvPr/>
          </p:nvSpPr>
          <p:spPr>
            <a:xfrm>
              <a:off x="8863012" y="5088731"/>
              <a:ext cx="7531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Taxonomy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864918" y="5314474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失败归因</a:t>
              </a:r>
            </a:p>
          </p:txBody>
        </p:sp>
        <p:sp>
          <p:nvSpPr>
            <p:cNvPr id="108" name="Line 108"/>
            <p:cNvSpPr/>
            <p:nvPr/>
          </p:nvSpPr>
          <p:spPr>
            <a:xfrm>
              <a:off x="7867650" y="5267325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DC2626"/>
              </a:solidFill>
            </a:ln>
          </p:spPr>
        </p:sp>
        <p:sp>
          <p:nvSpPr>
            <p:cNvPr id="109" name="Polygon 109"/>
            <p:cNvSpPr/>
            <p:nvPr/>
          </p:nvSpPr>
          <p:spPr>
            <a:xfrm>
              <a:off x="8191500" y="52006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10153650" y="4953000"/>
              <a:ext cx="1428750" cy="628650"/>
            </a:xfrm>
            <a:prstGeom prst="roundRect">
              <a:avLst>
                <a:gd name="adj" fmla="val 15152"/>
              </a:avLst>
            </a:prstGeom>
            <a:solidFill>
              <a:srgbClr val="FEE2E2"/>
            </a:solidFill>
            <a:ln w="11430">
              <a:solidFill>
                <a:srgbClr val="DC2626"/>
              </a:solidFill>
            </a:ln>
          </p:spPr>
        </p:sp>
        <p:grpSp>
          <p:nvGrpSpPr>
            <p:cNvPr id="114" name="Group 114"/>
            <p:cNvGrpSpPr/>
            <p:nvPr/>
          </p:nvGrpSpPr>
          <p:grpSpPr>
            <a:xfrm>
              <a:off x="10377488" y="5138738"/>
              <a:ext cx="200024" cy="200024"/>
              <a:chOff x="10377488" y="5138738"/>
              <a:chExt cx="200024" cy="200024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10377488" y="5294312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10533062" y="51387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22225" y="44450"/>
                    </a:move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  <a:cubicBezTo>
                      <a:pt x="0" y="34500"/>
                      <a:pt x="9950" y="44450"/>
                      <a:pt x="22225" y="44450"/>
                    </a:cubicBez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10399712" y="5160962"/>
                <a:ext cx="16668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55575">
                    <a:moveTo>
                      <a:pt x="66675" y="155575"/>
                    </a:moveTo>
                    <a:lnTo>
                      <a:pt x="127794" y="155575"/>
                    </a:lnTo>
                    <a:cubicBezTo>
                      <a:pt x="149274" y="155575"/>
                      <a:pt x="166688" y="138162"/>
                      <a:pt x="166688" y="116681"/>
                    </a:cubicBezTo>
                    <a:cubicBezTo>
                      <a:pt x="166688" y="95201"/>
                      <a:pt x="149274" y="77787"/>
                      <a:pt x="127794" y="77787"/>
                    </a:cubicBezTo>
                    <a:lnTo>
                      <a:pt x="38894" y="77787"/>
                    </a:lnTo>
                    <a:cubicBezTo>
                      <a:pt x="17413" y="77787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</p:grpSp>
        <p:sp>
          <p:nvSpPr>
            <p:cNvPr id="115" name="TextBox 115"/>
            <p:cNvSpPr txBox="1"/>
            <p:nvPr/>
          </p:nvSpPr>
          <p:spPr>
            <a:xfrm>
              <a:off x="10710862" y="5088731"/>
              <a:ext cx="5483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Router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0712768" y="5314474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修复路线</a:t>
              </a:r>
            </a:p>
          </p:txBody>
        </p:sp>
        <p:sp>
          <p:nvSpPr>
            <p:cNvPr id="117" name="Line 117"/>
            <p:cNvSpPr/>
            <p:nvPr/>
          </p:nvSpPr>
          <p:spPr>
            <a:xfrm>
              <a:off x="9734550" y="526732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DC2626"/>
              </a:solidFill>
            </a:ln>
          </p:spPr>
        </p:sp>
        <p:sp>
          <p:nvSpPr>
            <p:cNvPr id="118" name="Polygon 118"/>
            <p:cNvSpPr/>
            <p:nvPr/>
          </p:nvSpPr>
          <p:spPr>
            <a:xfrm>
              <a:off x="10039350" y="52006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119" name="Freeform 119"/>
            <p:cNvSpPr/>
            <p:nvPr/>
          </p:nvSpPr>
          <p:spPr>
            <a:xfrm>
              <a:off x="7153275" y="4953000"/>
              <a:ext cx="3714750" cy="857250"/>
            </a:xfrm>
            <a:custGeom>
              <a:avLst/>
              <a:gdLst/>
              <a:ahLst/>
              <a:cxnLst/>
              <a:rect l="l" t="t" r="r" b="b"/>
              <a:pathLst>
                <a:path w="3714750" h="857250">
                  <a:moveTo>
                    <a:pt x="3714750" y="0"/>
                  </a:moveTo>
                  <a:lnTo>
                    <a:pt x="3714750" y="857250"/>
                  </a:lnTo>
                  <a:lnTo>
                    <a:pt x="0" y="857250"/>
                  </a:lnTo>
                  <a:lnTo>
                    <a:pt x="0" y="628650"/>
                  </a:lnTo>
                </a:path>
              </a:pathLst>
            </a:custGeom>
            <a:noFill/>
            <a:ln w="19050">
              <a:solidFill>
                <a:srgbClr val="DC2626"/>
              </a:solidFill>
            </a:ln>
          </p:spPr>
        </p:sp>
        <p:sp>
          <p:nvSpPr>
            <p:cNvPr id="120" name="Polygon 120"/>
            <p:cNvSpPr/>
            <p:nvPr/>
          </p:nvSpPr>
          <p:spPr>
            <a:xfrm>
              <a:off x="7086600" y="5581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0"/>
                  </a:moveTo>
                  <a:lnTo>
                    <a:pt x="0" y="114300"/>
                  </a:lnTo>
                  <a:lnTo>
                    <a:pt x="133350" y="11430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</p:grpSp>
      <p:grpSp>
        <p:nvGrpSpPr>
          <p:cNvPr id="127" name="Group 127"/>
          <p:cNvGrpSpPr/>
          <p:nvPr/>
        </p:nvGrpSpPr>
        <p:grpSpPr>
          <a:xfrm>
            <a:off x="723900" y="5524500"/>
            <a:ext cx="2838221" cy="514350"/>
            <a:chOff x="723900" y="5524500"/>
            <a:chExt cx="2838221" cy="514350"/>
          </a:xfrm>
        </p:grpSpPr>
        <p:sp>
          <p:nvSpPr>
            <p:cNvPr id="122" name="Rectangle 122"/>
            <p:cNvSpPr/>
            <p:nvPr/>
          </p:nvSpPr>
          <p:spPr>
            <a:xfrm>
              <a:off x="723900" y="5524500"/>
              <a:ext cx="2247900" cy="514350"/>
            </a:xfrm>
            <a:prstGeom prst="roundRect">
              <a:avLst>
                <a:gd name="adj" fmla="val 18519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grpSp>
          <p:nvGrpSpPr>
            <p:cNvPr id="125" name="Group 125"/>
            <p:cNvGrpSpPr/>
            <p:nvPr/>
          </p:nvGrpSpPr>
          <p:grpSpPr>
            <a:xfrm>
              <a:off x="985044" y="5688806"/>
              <a:ext cx="165100" cy="196056"/>
              <a:chOff x="985044" y="5688806"/>
              <a:chExt cx="165100" cy="196056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1077912" y="5688806"/>
                <a:ext cx="51594" cy="51594"/>
              </a:xfrm>
              <a:custGeom>
                <a:avLst/>
                <a:gdLst/>
                <a:ahLst/>
                <a:cxnLst/>
                <a:rect l="l" t="t" r="r" b="b"/>
                <a:pathLst>
                  <a:path w="51594" h="51594">
                    <a:moveTo>
                      <a:pt x="0" y="0"/>
                    </a:moveTo>
                    <a:lnTo>
                      <a:pt x="0" y="41275"/>
                    </a:lnTo>
                    <a:cubicBezTo>
                      <a:pt x="0" y="46974"/>
                      <a:pt x="4620" y="51594"/>
                      <a:pt x="10319" y="51594"/>
                    </a:cubicBezTo>
                    <a:lnTo>
                      <a:pt x="51594" y="51594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24" name="Freeform 124"/>
              <p:cNvSpPr/>
              <p:nvPr/>
            </p:nvSpPr>
            <p:spPr>
              <a:xfrm>
                <a:off x="985044" y="5688806"/>
                <a:ext cx="165100" cy="196056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96056">
                    <a:moveTo>
                      <a:pt x="67072" y="185738"/>
                    </a:moveTo>
                    <a:lnTo>
                      <a:pt x="20637" y="185738"/>
                    </a:lnTo>
                    <a:cubicBezTo>
                      <a:pt x="9240" y="185738"/>
                      <a:pt x="0" y="176498"/>
                      <a:pt x="0" y="165100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92869" y="0"/>
                    </a:lnTo>
                    <a:lnTo>
                      <a:pt x="144462" y="51594"/>
                    </a:lnTo>
                    <a:lnTo>
                      <a:pt x="144462" y="103188"/>
                    </a:lnTo>
                    <a:moveTo>
                      <a:pt x="92869" y="165100"/>
                    </a:moveTo>
                    <a:lnTo>
                      <a:pt x="165100" y="165100"/>
                    </a:lnTo>
                    <a:moveTo>
                      <a:pt x="134144" y="134144"/>
                    </a:moveTo>
                    <a:lnTo>
                      <a:pt x="165100" y="165100"/>
                    </a:lnTo>
                    <a:lnTo>
                      <a:pt x="134144" y="196056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126" name="TextBox 126"/>
            <p:cNvSpPr txBox="1"/>
            <p:nvPr/>
          </p:nvSpPr>
          <p:spPr>
            <a:xfrm>
              <a:off x="1280160" y="5718810"/>
              <a:ext cx="22819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Exporter + Memory Curator</a:t>
              </a:r>
            </a:p>
          </p:txBody>
        </p:sp>
      </p:grpSp>
      <p:sp>
        <p:nvSpPr>
          <p:cNvPr id="128" name="TextBox 128"/>
          <p:cNvSpPr txBox="1"/>
          <p:nvPr/>
        </p:nvSpPr>
        <p:spPr>
          <a:xfrm>
            <a:off x="521970" y="6322695"/>
            <a:ext cx="52795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Source: README Agent workflow, svg_icon_agent/pipeline.py, svg_icon_agent/refiner.py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1515154" y="63226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7" grpId="0"/>
      <p:bldP spid="65" grpId="0"/>
      <p:bldP spid="82" grpId="0"/>
      <p:bldP spid="121" grpId="0"/>
      <p:bldP spid="1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99110" y="394335"/>
            <a:ext cx="836671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RAG 在这里：本地运行记忆，而不是外部资料堆叠</a:t>
            </a:r>
          </a:p>
        </p:txBody>
      </p:sp>
      <p:sp>
        <p:nvSpPr>
          <p:cNvPr id="4" name="Rectangle 4"/>
          <p:cNvSpPr/>
          <p:nvPr/>
        </p:nvSpPr>
        <p:spPr>
          <a:xfrm>
            <a:off x="533400" y="914400"/>
            <a:ext cx="11125200" cy="495300"/>
          </a:xfrm>
          <a:prstGeom prst="roundRect">
            <a:avLst>
              <a:gd name="adj" fmla="val 15385"/>
            </a:avLst>
          </a:prstGeom>
          <a:solidFill>
            <a:srgbClr val="CCFBF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5805" y="1082992"/>
            <a:ext cx="82973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检索增强复用项目自己的成功和失败经验，帮助 Goal Manager 明确本次生成的目标、约束和验收标准。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723900" y="1752600"/>
            <a:ext cx="4686300" cy="3848100"/>
            <a:chOff x="723900" y="1752600"/>
            <a:chExt cx="4686300" cy="3848100"/>
          </a:xfrm>
        </p:grpSpPr>
        <p:sp>
          <p:nvSpPr>
            <p:cNvPr id="6" name="Rectangle 6"/>
            <p:cNvSpPr/>
            <p:nvPr/>
          </p:nvSpPr>
          <p:spPr>
            <a:xfrm>
              <a:off x="723900" y="1752600"/>
              <a:ext cx="4686300" cy="3848100"/>
            </a:xfrm>
            <a:prstGeom prst="roundRect">
              <a:avLst>
                <a:gd name="adj" fmla="val 2970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05840" y="1958340"/>
              <a:ext cx="26416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MemoryRecord 存什么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28700" y="2457450"/>
              <a:ext cx="4076700" cy="2781300"/>
            </a:xfrm>
            <a:prstGeom prst="roundRect">
              <a:avLst>
                <a:gd name="adj" fmla="val 3425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41108" y="2643664"/>
              <a:ext cx="17690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id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03158" y="264366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稳定哈希，避免重复写入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257300" y="29718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41108" y="3119914"/>
              <a:ext cx="62745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prompt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03158" y="3119914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原始图标需求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257300" y="34480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41108" y="3596164"/>
              <a:ext cx="75497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summary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03158" y="3596164"/>
              <a:ext cx="13925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本次运行经验摘要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257300" y="39243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41108" y="4072414"/>
              <a:ext cx="78047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patterns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03158" y="407241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成功策略和失败模式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257300" y="44005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41108" y="4548664"/>
              <a:ext cx="49994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score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03158" y="454866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验证分数，用于后续判断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57900" y="1752600"/>
            <a:ext cx="6671739" cy="3848100"/>
            <a:chOff x="6057900" y="1752600"/>
            <a:chExt cx="6671739" cy="3848100"/>
          </a:xfrm>
        </p:grpSpPr>
        <p:sp>
          <p:nvSpPr>
            <p:cNvPr id="24" name="Rectangle 24"/>
            <p:cNvSpPr/>
            <p:nvPr/>
          </p:nvSpPr>
          <p:spPr>
            <a:xfrm>
              <a:off x="6057900" y="1752600"/>
              <a:ext cx="5410200" cy="3848100"/>
            </a:xfrm>
            <a:prstGeom prst="roundRect">
              <a:avLst>
                <a:gd name="adj" fmla="val 2970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9840" y="1958340"/>
              <a:ext cx="256603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检索如何进入生成链路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477000" y="2552700"/>
              <a:ext cx="1333500" cy="704850"/>
            </a:xfrm>
            <a:prstGeom prst="roundRect">
              <a:avLst>
                <a:gd name="adj" fmla="val 13514"/>
              </a:avLst>
            </a:prstGeom>
            <a:solidFill>
              <a:srgbClr val="CCFBF1"/>
            </a:solidFill>
            <a:ln w="11430">
              <a:solidFill>
                <a:srgbClr val="0F766E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715125" y="2778919"/>
              <a:ext cx="190500" cy="214312"/>
              <a:chOff x="6715125" y="2778919"/>
              <a:chExt cx="190500" cy="214312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715125" y="2778919"/>
                <a:ext cx="190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71438">
                    <a:moveTo>
                      <a:pt x="0" y="35719"/>
                    </a:moveTo>
                    <a:cubicBezTo>
                      <a:pt x="0" y="55446"/>
                      <a:pt x="42645" y="71438"/>
                      <a:pt x="95250" y="71438"/>
                    </a:cubicBezTo>
                    <a:cubicBezTo>
                      <a:pt x="147855" y="71438"/>
                      <a:pt x="190500" y="55446"/>
                      <a:pt x="190500" y="35719"/>
                    </a:cubicBezTo>
                    <a:cubicBezTo>
                      <a:pt x="190500" y="15992"/>
                      <a:pt x="147855" y="0"/>
                      <a:pt x="95250" y="0"/>
                    </a:cubicBezTo>
                    <a:cubicBezTo>
                      <a:pt x="42645" y="0"/>
                      <a:pt x="0" y="15992"/>
                      <a:pt x="0" y="35719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715125" y="2814638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715125" y="2886075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7033260" y="2747010"/>
              <a:ext cx="4505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Index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36118" y="2980849"/>
              <a:ext cx="3173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jsonl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7810500" y="2905125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20955">
              <a:solidFill>
                <a:srgbClr val="0F766E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8305800" y="28384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420100" y="2552700"/>
              <a:ext cx="1333500" cy="704850"/>
            </a:xfrm>
            <a:prstGeom prst="roundRect">
              <a:avLst>
                <a:gd name="adj" fmla="val 13514"/>
              </a:avLst>
            </a:prstGeom>
            <a:solidFill>
              <a:srgbClr val="CCFBF1"/>
            </a:solidFill>
            <a:ln w="11430">
              <a:solidFill>
                <a:srgbClr val="0F766E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8646319" y="2778919"/>
              <a:ext cx="214313" cy="214313"/>
              <a:chOff x="8646319" y="2778919"/>
              <a:chExt cx="214313" cy="21431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646319" y="2778919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0" y="83344"/>
                    </a:moveTo>
                    <a:cubicBezTo>
                      <a:pt x="0" y="129373"/>
                      <a:pt x="37314" y="166688"/>
                      <a:pt x="83344" y="166688"/>
                    </a:cubicBezTo>
                    <a:cubicBezTo>
                      <a:pt x="129373" y="166688"/>
                      <a:pt x="166688" y="129373"/>
                      <a:pt x="166688" y="83344"/>
                    </a:cubicBezTo>
                    <a:cubicBezTo>
                      <a:pt x="166688" y="37314"/>
                      <a:pt x="129373" y="0"/>
                      <a:pt x="83344" y="0"/>
                    </a:cubicBezTo>
                    <a:cubicBezTo>
                      <a:pt x="37314" y="0"/>
                      <a:pt x="0" y="37314"/>
                      <a:pt x="0" y="83344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89194" y="2921794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7143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8976360" y="2747010"/>
              <a:ext cx="4337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BM25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79218" y="2980849"/>
              <a:ext cx="10128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top-k memories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9753600" y="2905125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20955">
              <a:solidFill>
                <a:srgbClr val="1D4ED8"/>
              </a:solidFill>
            </a:ln>
          </p:spPr>
        </p:sp>
        <p:sp>
          <p:nvSpPr>
            <p:cNvPr id="42" name="Polygon 42"/>
            <p:cNvSpPr/>
            <p:nvPr/>
          </p:nvSpPr>
          <p:spPr>
            <a:xfrm>
              <a:off x="10248900" y="28384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363200" y="2552700"/>
              <a:ext cx="838200" cy="704850"/>
            </a:xfrm>
            <a:prstGeom prst="roundRect">
              <a:avLst>
                <a:gd name="adj" fmla="val 13514"/>
              </a:avLst>
            </a:prstGeom>
            <a:solidFill>
              <a:srgbClr val="DBEAFE"/>
            </a:solidFill>
            <a:ln w="11430">
              <a:solidFill>
                <a:srgbClr val="1D4ED8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10682288" y="2757488"/>
              <a:ext cx="200025" cy="200025"/>
              <a:chOff x="10682288" y="2757488"/>
              <a:chExt cx="200025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0771188" y="28463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726738" y="2801938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2"/>
                    </a:moveTo>
                    <a:cubicBezTo>
                      <a:pt x="0" y="86249"/>
                      <a:pt x="24876" y="111125"/>
                      <a:pt x="55562" y="111125"/>
                    </a:cubicBezTo>
                    <a:cubicBezTo>
                      <a:pt x="86249" y="111125"/>
                      <a:pt x="111125" y="86249"/>
                      <a:pt x="111125" y="55562"/>
                    </a:cubicBezTo>
                    <a:cubicBezTo>
                      <a:pt x="111125" y="24876"/>
                      <a:pt x="86249" y="0"/>
                      <a:pt x="55562" y="0"/>
                    </a:cubicBezTo>
                    <a:cubicBezTo>
                      <a:pt x="24876" y="0"/>
                      <a:pt x="0" y="24876"/>
                      <a:pt x="0" y="5556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682288" y="27574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625622" y="3010852"/>
              <a:ext cx="3133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Goal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77000" y="3848100"/>
              <a:ext cx="4724400" cy="1162050"/>
            </a:xfrm>
            <a:prstGeom prst="roundRect">
              <a:avLst>
                <a:gd name="adj" fmla="val 8197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43700" y="4010025"/>
              <a:ext cx="18443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Goal Manager 输出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45605" y="4369118"/>
              <a:ext cx="59840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objective / visual requirements / constraints / acceptance criteria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45605" y="4673918"/>
              <a:ext cx="53269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后续 Rewriter、Planner、Optimizer 都能引用同一套目标口径。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600200" y="5810250"/>
            <a:ext cx="8991600" cy="361950"/>
            <a:chOff x="1600200" y="5810250"/>
            <a:chExt cx="8991600" cy="361950"/>
          </a:xfrm>
        </p:grpSpPr>
        <p:sp>
          <p:nvSpPr>
            <p:cNvPr id="54" name="Rectangle 54"/>
            <p:cNvSpPr/>
            <p:nvPr/>
          </p:nvSpPr>
          <p:spPr>
            <a:xfrm>
              <a:off x="1600200" y="5810250"/>
              <a:ext cx="8991600" cy="361950"/>
            </a:xfrm>
            <a:prstGeom prst="roundRect">
              <a:avLst>
                <a:gd name="adj" fmla="val 21053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129726" y="5910739"/>
              <a:ext cx="593254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RAG 的作用不是“增加材料”，而是把历史失败变成下一次生成的可用约束。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521970" y="6322695"/>
            <a:ext cx="38213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Source: svg_icon_agent/memory.py, svg_icon_agent/pipeline.py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515154" y="63226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53" grpId="0"/>
      <p:bldP spid="5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99110" y="394335"/>
            <a:ext cx="838562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候选竞争：三个草稿，两路评审，一个可解释选择</a:t>
            </a:r>
          </a:p>
        </p:txBody>
      </p:sp>
      <p:sp>
        <p:nvSpPr>
          <p:cNvPr id="4" name="Rectangle 4"/>
          <p:cNvSpPr/>
          <p:nvPr/>
        </p:nvSpPr>
        <p:spPr>
          <a:xfrm>
            <a:off x="533400" y="914400"/>
            <a:ext cx="11125200" cy="495300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5805" y="1082992"/>
            <a:ext cx="84683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Multi-Candidate Generator 降低单次输出偶然性；两个 Critic 分别评价“像不像”和“能不能安全导出”。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66750" y="2247900"/>
            <a:ext cx="2017394" cy="933450"/>
            <a:chOff x="666750" y="2247900"/>
            <a:chExt cx="2017394" cy="933450"/>
          </a:xfrm>
        </p:grpSpPr>
        <p:sp>
          <p:nvSpPr>
            <p:cNvPr id="6" name="Rectangle 6"/>
            <p:cNvSpPr/>
            <p:nvPr/>
          </p:nvSpPr>
          <p:spPr>
            <a:xfrm>
              <a:off x="666750" y="2247900"/>
              <a:ext cx="1809750" cy="933450"/>
            </a:xfrm>
            <a:prstGeom prst="roundRect">
              <a:avLst>
                <a:gd name="adj" fmla="val 12245"/>
              </a:avLst>
            </a:prstGeom>
            <a:solidFill>
              <a:srgbClr val="DBEAFE"/>
            </a:solidFill>
            <a:ln w="12382">
              <a:solidFill>
                <a:srgbClr val="1D4ED8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74725" y="2555875"/>
              <a:ext cx="241301" cy="241300"/>
              <a:chOff x="974725" y="2555875"/>
              <a:chExt cx="241301" cy="2413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4725" y="2555875"/>
                <a:ext cx="90488" cy="75406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75406">
                    <a:moveTo>
                      <a:pt x="0" y="30163"/>
                    </a:moveTo>
                    <a:cubicBezTo>
                      <a:pt x="0" y="13504"/>
                      <a:pt x="13504" y="0"/>
                      <a:pt x="30163" y="0"/>
                    </a:cubicBezTo>
                    <a:lnTo>
                      <a:pt x="60325" y="0"/>
                    </a:lnTo>
                    <a:cubicBezTo>
                      <a:pt x="76983" y="0"/>
                      <a:pt x="90488" y="13504"/>
                      <a:pt x="90488" y="30163"/>
                    </a:cubicBezTo>
                    <a:lnTo>
                      <a:pt x="90488" y="45244"/>
                    </a:lnTo>
                    <a:cubicBezTo>
                      <a:pt x="90488" y="61902"/>
                      <a:pt x="76983" y="75406"/>
                      <a:pt x="60325" y="75406"/>
                    </a:cubicBezTo>
                    <a:lnTo>
                      <a:pt x="30163" y="75406"/>
                    </a:lnTo>
                    <a:cubicBezTo>
                      <a:pt x="13504" y="75406"/>
                      <a:pt x="0" y="61902"/>
                      <a:pt x="0" y="45244"/>
                    </a:cubicBezTo>
                    <a:lnTo>
                      <a:pt x="0" y="30163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74725" y="2691606"/>
                <a:ext cx="90488" cy="105569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105569">
                    <a:moveTo>
                      <a:pt x="0" y="30163"/>
                    </a:moveTo>
                    <a:cubicBezTo>
                      <a:pt x="0" y="13504"/>
                      <a:pt x="13504" y="0"/>
                      <a:pt x="30163" y="0"/>
                    </a:cubicBezTo>
                    <a:lnTo>
                      <a:pt x="60325" y="0"/>
                    </a:lnTo>
                    <a:cubicBezTo>
                      <a:pt x="76983" y="0"/>
                      <a:pt x="90488" y="13504"/>
                      <a:pt x="90488" y="30163"/>
                    </a:cubicBezTo>
                    <a:lnTo>
                      <a:pt x="90488" y="75406"/>
                    </a:lnTo>
                    <a:cubicBezTo>
                      <a:pt x="90488" y="92065"/>
                      <a:pt x="76983" y="105569"/>
                      <a:pt x="60325" y="105569"/>
                    </a:cubicBezTo>
                    <a:lnTo>
                      <a:pt x="30163" y="105569"/>
                    </a:lnTo>
                    <a:cubicBezTo>
                      <a:pt x="13504" y="105569"/>
                      <a:pt x="0" y="92065"/>
                      <a:pt x="0" y="75406"/>
                    </a:cubicBezTo>
                    <a:lnTo>
                      <a:pt x="0" y="30163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25538" y="2555875"/>
                <a:ext cx="90488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241300">
                    <a:moveTo>
                      <a:pt x="0" y="30163"/>
                    </a:moveTo>
                    <a:cubicBezTo>
                      <a:pt x="0" y="13504"/>
                      <a:pt x="13504" y="0"/>
                      <a:pt x="30163" y="0"/>
                    </a:cubicBezTo>
                    <a:lnTo>
                      <a:pt x="60325" y="0"/>
                    </a:lnTo>
                    <a:cubicBezTo>
                      <a:pt x="76983" y="0"/>
                      <a:pt x="90488" y="13504"/>
                      <a:pt x="90488" y="30163"/>
                    </a:cubicBezTo>
                    <a:lnTo>
                      <a:pt x="90488" y="211138"/>
                    </a:lnTo>
                    <a:cubicBezTo>
                      <a:pt x="90488" y="227796"/>
                      <a:pt x="76983" y="241300"/>
                      <a:pt x="60325" y="241300"/>
                    </a:cubicBezTo>
                    <a:lnTo>
                      <a:pt x="30163" y="241300"/>
                    </a:lnTo>
                    <a:cubicBezTo>
                      <a:pt x="13504" y="241300"/>
                      <a:pt x="0" y="227796"/>
                      <a:pt x="0" y="211138"/>
                    </a:cubicBezTo>
                    <a:lnTo>
                      <a:pt x="0" y="30163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390650" y="2466975"/>
              <a:ext cx="10777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Generator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95412" y="2793206"/>
              <a:ext cx="12887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生成 3 个 SVG 草稿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476500" y="1790700"/>
            <a:ext cx="2152650" cy="2228850"/>
            <a:chOff x="2476500" y="1790700"/>
            <a:chExt cx="2152650" cy="2228850"/>
          </a:xfrm>
        </p:grpSpPr>
        <p:sp>
          <p:nvSpPr>
            <p:cNvPr id="14" name="Line 14"/>
            <p:cNvSpPr/>
            <p:nvPr/>
          </p:nvSpPr>
          <p:spPr>
            <a:xfrm>
              <a:off x="2476500" y="2133600"/>
              <a:ext cx="590550" cy="581025"/>
            </a:xfrm>
            <a:custGeom>
              <a:avLst/>
              <a:gdLst/>
              <a:ahLst/>
              <a:cxnLst/>
              <a:rect l="l" t="t" r="r" b="b"/>
              <a:pathLst>
                <a:path w="590550" h="581025">
                  <a:moveTo>
                    <a:pt x="0" y="581025"/>
                  </a:moveTo>
                  <a:lnTo>
                    <a:pt x="590550" y="0"/>
                  </a:lnTo>
                </a:path>
              </a:pathLst>
            </a:custGeom>
            <a:noFill/>
            <a:ln w="20955">
              <a:solidFill>
                <a:srgbClr val="1D4ED8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2943225" y="2133600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825" y="0"/>
                  </a:moveTo>
                  <a:lnTo>
                    <a:pt x="0" y="38100"/>
                  </a:lnTo>
                  <a:lnTo>
                    <a:pt x="95250" y="123825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2476500" y="2714625"/>
              <a:ext cx="590550" cy="9525"/>
            </a:xfrm>
            <a:custGeom>
              <a:avLst/>
              <a:gdLst/>
              <a:ahLst/>
              <a:cxnLst/>
              <a:rect l="l" t="t" r="r" b="b"/>
              <a:pathLst>
                <a:path w="590550" h="9525">
                  <a:moveTo>
                    <a:pt x="0" y="0"/>
                  </a:moveTo>
                  <a:lnTo>
                    <a:pt x="590550" y="0"/>
                  </a:lnTo>
                </a:path>
              </a:pathLst>
            </a:custGeom>
            <a:noFill/>
            <a:ln w="20955">
              <a:solidFill>
                <a:srgbClr val="1D4ED8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2952750" y="26479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2476500" y="2714625"/>
              <a:ext cx="590550" cy="581025"/>
            </a:xfrm>
            <a:custGeom>
              <a:avLst/>
              <a:gdLst/>
              <a:ahLst/>
              <a:cxnLst/>
              <a:rect l="l" t="t" r="r" b="b"/>
              <a:pathLst>
                <a:path w="590550" h="581025">
                  <a:moveTo>
                    <a:pt x="0" y="0"/>
                  </a:moveTo>
                  <a:lnTo>
                    <a:pt x="590550" y="581025"/>
                  </a:lnTo>
                </a:path>
              </a:pathLst>
            </a:custGeom>
            <a:noFill/>
            <a:ln w="20955">
              <a:solidFill>
                <a:srgbClr val="1D4ED8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2943225" y="3171825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825" y="123825"/>
                  </a:moveTo>
                  <a:lnTo>
                    <a:pt x="95250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067050" y="1790700"/>
              <a:ext cx="1562100" cy="628650"/>
            </a:xfrm>
            <a:prstGeom prst="roundRect">
              <a:avLst>
                <a:gd name="adj" fmla="val 15152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330042" y="1911668"/>
              <a:ext cx="10361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Candidate 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31905" y="2180749"/>
              <a:ext cx="10323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candidate-1.svg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067050" y="2590800"/>
              <a:ext cx="1562100" cy="628650"/>
            </a:xfrm>
            <a:prstGeom prst="roundRect">
              <a:avLst>
                <a:gd name="adj" fmla="val 15152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06414" y="2711768"/>
              <a:ext cx="10833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Candidate 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15652" y="29808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candidate-2.svg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067050" y="3390900"/>
              <a:ext cx="1562100" cy="628650"/>
            </a:xfrm>
            <a:prstGeom prst="roundRect">
              <a:avLst>
                <a:gd name="adj" fmla="val 15152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306414" y="3511868"/>
              <a:ext cx="10833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Candidate 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15652" y="37809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candidate-3.svg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629150" y="1866900"/>
            <a:ext cx="3143711" cy="2095500"/>
            <a:chOff x="4629150" y="1866900"/>
            <a:chExt cx="3143711" cy="2095500"/>
          </a:xfrm>
        </p:grpSpPr>
        <p:sp>
          <p:nvSpPr>
            <p:cNvPr id="30" name="Line 30"/>
            <p:cNvSpPr/>
            <p:nvPr/>
          </p:nvSpPr>
          <p:spPr>
            <a:xfrm>
              <a:off x="4629150" y="2305050"/>
              <a:ext cx="685800" cy="600075"/>
            </a:xfrm>
            <a:custGeom>
              <a:avLst/>
              <a:gdLst/>
              <a:ahLst/>
              <a:cxnLst/>
              <a:rect l="l" t="t" r="r" b="b"/>
              <a:pathLst>
                <a:path w="685800" h="600075">
                  <a:moveTo>
                    <a:pt x="0" y="600075"/>
                  </a:moveTo>
                  <a:lnTo>
                    <a:pt x="685800" y="0"/>
                  </a:lnTo>
                </a:path>
              </a:pathLst>
            </a:custGeom>
            <a:noFill/>
            <a:ln w="20955">
              <a:solidFill>
                <a:srgbClr val="0F766E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5191125" y="2305050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825" y="0"/>
                  </a:moveTo>
                  <a:lnTo>
                    <a:pt x="0" y="38100"/>
                  </a:lnTo>
                  <a:lnTo>
                    <a:pt x="95250" y="123825"/>
                  </a:lnTo>
                  <a:close/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4629150" y="2905125"/>
              <a:ext cx="685800" cy="600075"/>
            </a:xfrm>
            <a:custGeom>
              <a:avLst/>
              <a:gdLst/>
              <a:ahLst/>
              <a:cxnLst/>
              <a:rect l="l" t="t" r="r" b="b"/>
              <a:pathLst>
                <a:path w="685800" h="600075">
                  <a:moveTo>
                    <a:pt x="0" y="0"/>
                  </a:moveTo>
                  <a:lnTo>
                    <a:pt x="685800" y="600075"/>
                  </a:lnTo>
                </a:path>
              </a:pathLst>
            </a:custGeom>
            <a:noFill/>
            <a:ln w="20955">
              <a:solidFill>
                <a:srgbClr val="0F766E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5191125" y="3381375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825" y="123825"/>
                  </a:moveTo>
                  <a:lnTo>
                    <a:pt x="95250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14950" y="1866900"/>
              <a:ext cx="2190750" cy="895350"/>
            </a:xfrm>
            <a:prstGeom prst="roundRect">
              <a:avLst>
                <a:gd name="adj" fmla="val 12766"/>
              </a:avLst>
            </a:prstGeom>
            <a:solidFill>
              <a:srgbClr val="CCFBF1"/>
            </a:solidFill>
            <a:ln w="12382">
              <a:solidFill>
                <a:srgbClr val="0F766E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5622131" y="2174081"/>
              <a:ext cx="242887" cy="242887"/>
              <a:chOff x="5622131" y="2174081"/>
              <a:chExt cx="242887" cy="242887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5622131" y="2174081"/>
                <a:ext cx="188913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188913">
                    <a:moveTo>
                      <a:pt x="0" y="94456"/>
                    </a:moveTo>
                    <a:cubicBezTo>
                      <a:pt x="0" y="146623"/>
                      <a:pt x="42290" y="188913"/>
                      <a:pt x="94456" y="188913"/>
                    </a:cubicBezTo>
                    <a:cubicBezTo>
                      <a:pt x="146623" y="188913"/>
                      <a:pt x="188913" y="146623"/>
                      <a:pt x="188913" y="94456"/>
                    </a:cubicBezTo>
                    <a:cubicBezTo>
                      <a:pt x="188913" y="42290"/>
                      <a:pt x="146623" y="0"/>
                      <a:pt x="94456" y="0"/>
                    </a:cubicBezTo>
                    <a:cubicBezTo>
                      <a:pt x="42290" y="0"/>
                      <a:pt x="0" y="42290"/>
                      <a:pt x="0" y="94456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784056" y="2336006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80962" y="8096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020752" y="2075021"/>
              <a:ext cx="152265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Semantic Critic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24562" y="23931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语义对齐、小尺寸识别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14950" y="3067050"/>
              <a:ext cx="2190750" cy="895350"/>
            </a:xfrm>
            <a:prstGeom prst="roundRect">
              <a:avLst>
                <a:gd name="adj" fmla="val 12766"/>
              </a:avLst>
            </a:prstGeom>
            <a:solidFill>
              <a:srgbClr val="CCFBF1"/>
            </a:solidFill>
            <a:ln w="12382">
              <a:solidFill>
                <a:srgbClr val="0F766E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5616512" y="3374231"/>
              <a:ext cx="254126" cy="242888"/>
            </a:xfrm>
            <a:custGeom>
              <a:avLst/>
              <a:gdLst/>
              <a:ahLst/>
              <a:cxnLst/>
              <a:rect l="l" t="t" r="r" b="b"/>
              <a:pathLst>
                <a:path w="254126" h="242888">
                  <a:moveTo>
                    <a:pt x="127063" y="0"/>
                  </a:moveTo>
                  <a:cubicBezTo>
                    <a:pt x="158582" y="27886"/>
                    <a:pt x="199720" y="42405"/>
                    <a:pt x="241760" y="40481"/>
                  </a:cubicBezTo>
                  <a:cubicBezTo>
                    <a:pt x="254126" y="82548"/>
                    <a:pt x="248904" y="127832"/>
                    <a:pt x="227287" y="165980"/>
                  </a:cubicBezTo>
                  <a:cubicBezTo>
                    <a:pt x="205670" y="204128"/>
                    <a:pt x="169506" y="231879"/>
                    <a:pt x="127063" y="242888"/>
                  </a:cubicBezTo>
                  <a:cubicBezTo>
                    <a:pt x="84621" y="231879"/>
                    <a:pt x="48457" y="204128"/>
                    <a:pt x="26840" y="165980"/>
                  </a:cubicBezTo>
                  <a:cubicBezTo>
                    <a:pt x="5222" y="127832"/>
                    <a:pt x="0" y="82548"/>
                    <a:pt x="12366" y="40481"/>
                  </a:cubicBezTo>
                  <a:cubicBezTo>
                    <a:pt x="54406" y="42405"/>
                    <a:pt x="95544" y="27886"/>
                    <a:pt x="127063" y="0"/>
                  </a:cubicBezTo>
                </a:path>
              </a:pathLst>
            </a:custGeom>
            <a:noFill/>
            <a:ln w="19050">
              <a:solidFill>
                <a:srgbClr val="0F766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20752" y="3275171"/>
              <a:ext cx="17521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SVG Quality Critic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24562" y="359330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可编辑、安全、渲染风险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505700" y="2314575"/>
            <a:ext cx="4152900" cy="1200150"/>
            <a:chOff x="7505700" y="2314575"/>
            <a:chExt cx="4152900" cy="1200150"/>
          </a:xfrm>
        </p:grpSpPr>
        <p:sp>
          <p:nvSpPr>
            <p:cNvPr id="45" name="Line 45"/>
            <p:cNvSpPr/>
            <p:nvPr/>
          </p:nvSpPr>
          <p:spPr>
            <a:xfrm>
              <a:off x="7505700" y="2314575"/>
              <a:ext cx="800100" cy="590550"/>
            </a:xfrm>
            <a:custGeom>
              <a:avLst/>
              <a:gdLst/>
              <a:ahLst/>
              <a:cxnLst/>
              <a:rect l="l" t="t" r="r" b="b"/>
              <a:pathLst>
                <a:path w="800100" h="590550">
                  <a:moveTo>
                    <a:pt x="0" y="0"/>
                  </a:moveTo>
                  <a:lnTo>
                    <a:pt x="800100" y="590550"/>
                  </a:lnTo>
                </a:path>
              </a:pathLst>
            </a:custGeom>
            <a:noFill/>
            <a:ln w="20955">
              <a:solidFill>
                <a:srgbClr val="F59E0B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7505700" y="2905125"/>
              <a:ext cx="800100" cy="609600"/>
            </a:xfrm>
            <a:custGeom>
              <a:avLst/>
              <a:gdLst/>
              <a:ahLst/>
              <a:cxnLst/>
              <a:rect l="l" t="t" r="r" b="b"/>
              <a:pathLst>
                <a:path w="800100" h="609600">
                  <a:moveTo>
                    <a:pt x="0" y="609600"/>
                  </a:moveTo>
                  <a:lnTo>
                    <a:pt x="800100" y="0"/>
                  </a:lnTo>
                </a:path>
              </a:pathLst>
            </a:custGeom>
            <a:noFill/>
            <a:ln w="20955">
              <a:solidFill>
                <a:srgbClr val="F59E0B"/>
              </a:solidFill>
            </a:ln>
          </p:spPr>
        </p:sp>
        <p:sp>
          <p:nvSpPr>
            <p:cNvPr id="47" name="Polygon 47"/>
            <p:cNvSpPr/>
            <p:nvPr/>
          </p:nvSpPr>
          <p:spPr>
            <a:xfrm>
              <a:off x="8181975" y="2857500"/>
              <a:ext cx="123825" cy="133350"/>
            </a:xfrm>
            <a:custGeom>
              <a:avLst/>
              <a:gdLst/>
              <a:ahLst/>
              <a:cxnLst/>
              <a:rect l="l" t="t" r="r" b="b"/>
              <a:pathLst>
                <a:path w="123825" h="133350">
                  <a:moveTo>
                    <a:pt x="123825" y="47625"/>
                  </a:moveTo>
                  <a:lnTo>
                    <a:pt x="0" y="0"/>
                  </a:lnTo>
                  <a:lnTo>
                    <a:pt x="9525" y="133350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305800" y="2381250"/>
              <a:ext cx="1428750" cy="1047750"/>
            </a:xfrm>
            <a:prstGeom prst="roundRect">
              <a:avLst>
                <a:gd name="adj" fmla="val 10909"/>
              </a:avLst>
            </a:prstGeom>
            <a:solidFill>
              <a:srgbClr val="FEF3C7"/>
            </a:solidFill>
            <a:ln w="12382">
              <a:solidFill>
                <a:srgbClr val="F59E0B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811419" y="2685256"/>
              <a:ext cx="202406" cy="134937"/>
            </a:xfrm>
            <a:custGeom>
              <a:avLst/>
              <a:gdLst/>
              <a:ahLst/>
              <a:cxnLst/>
              <a:rect l="l" t="t" r="r" b="b"/>
              <a:pathLst>
                <a:path w="202406" h="134937">
                  <a:moveTo>
                    <a:pt x="0" y="67469"/>
                  </a:moveTo>
                  <a:lnTo>
                    <a:pt x="67469" y="134937"/>
                  </a:lnTo>
                  <a:lnTo>
                    <a:pt x="202406" y="0"/>
                  </a:lnTo>
                </a:path>
              </a:pathLst>
            </a:custGeom>
            <a:noFill/>
            <a:ln w="19050">
              <a:solidFill>
                <a:srgbClr val="F59E0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565321" y="2924175"/>
              <a:ext cx="9097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Selector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23780" y="32013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winner + brief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9734550" y="290512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0955">
              <a:solidFill>
                <a:srgbClr val="F59E0B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10191750" y="28384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306050" y="2381250"/>
              <a:ext cx="1352550" cy="1047750"/>
            </a:xfrm>
            <a:prstGeom prst="roundRect">
              <a:avLst>
                <a:gd name="adj" fmla="val 10909"/>
              </a:avLst>
            </a:prstGeom>
            <a:solidFill>
              <a:srgbClr val="FEF3C7"/>
            </a:solidFill>
            <a:ln w="12382">
              <a:solidFill>
                <a:srgbClr val="F59E0B"/>
              </a:solidFill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10860881" y="2629870"/>
              <a:ext cx="244299" cy="244299"/>
              <a:chOff x="10860881" y="2629870"/>
              <a:chExt cx="244299" cy="244299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10860881" y="2629870"/>
                <a:ext cx="244299" cy="244299"/>
              </a:xfrm>
              <a:custGeom>
                <a:avLst/>
                <a:gdLst/>
                <a:ahLst/>
                <a:cxnLst/>
                <a:rect l="l" t="t" r="r" b="b"/>
                <a:pathLst>
                  <a:path w="244299" h="244299">
                    <a:moveTo>
                      <a:pt x="0" y="244299"/>
                    </a:moveTo>
                    <a:lnTo>
                      <a:pt x="53975" y="244299"/>
                    </a:lnTo>
                    <a:lnTo>
                      <a:pt x="229394" y="68880"/>
                    </a:lnTo>
                    <a:cubicBezTo>
                      <a:pt x="244299" y="53975"/>
                      <a:pt x="244299" y="29810"/>
                      <a:pt x="229394" y="14905"/>
                    </a:cubicBezTo>
                    <a:cubicBezTo>
                      <a:pt x="214489" y="0"/>
                      <a:pt x="190324" y="0"/>
                      <a:pt x="175419" y="14905"/>
                    </a:cubicBezTo>
                    <a:lnTo>
                      <a:pt x="0" y="190324"/>
                    </a:lnTo>
                    <a:lnTo>
                      <a:pt x="0" y="244299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1016059" y="2665016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5397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0860881" y="2631281"/>
                <a:ext cx="121444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121444">
                    <a:moveTo>
                      <a:pt x="121444" y="67469"/>
                    </a:moveTo>
                    <a:lnTo>
                      <a:pt x="53975" y="0"/>
                    </a:lnTo>
                    <a:lnTo>
                      <a:pt x="0" y="53975"/>
                    </a:lnTo>
                    <a:lnTo>
                      <a:pt x="67469" y="121444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0894616" y="2698750"/>
                <a:ext cx="20241" cy="20241"/>
              </a:xfrm>
              <a:custGeom>
                <a:avLst/>
                <a:gdLst/>
                <a:ahLst/>
                <a:cxnLst/>
                <a:rect l="l" t="t" r="r" b="b"/>
                <a:pathLst>
                  <a:path w="20241" h="20241">
                    <a:moveTo>
                      <a:pt x="20241" y="0"/>
                    </a:moveTo>
                    <a:lnTo>
                      <a:pt x="0" y="20241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10982325" y="2752725"/>
                <a:ext cx="121444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121444">
                    <a:moveTo>
                      <a:pt x="53975" y="0"/>
                    </a:moveTo>
                    <a:lnTo>
                      <a:pt x="121444" y="67469"/>
                    </a:lnTo>
                    <a:lnTo>
                      <a:pt x="67469" y="121444"/>
                    </a:ln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1016059" y="2820194"/>
                <a:ext cx="20241" cy="20241"/>
              </a:xfrm>
              <a:custGeom>
                <a:avLst/>
                <a:gdLst/>
                <a:ahLst/>
                <a:cxnLst/>
                <a:rect l="l" t="t" r="r" b="b"/>
                <a:pathLst>
                  <a:path w="20241" h="20241">
                    <a:moveTo>
                      <a:pt x="20241" y="0"/>
                    </a:moveTo>
                    <a:lnTo>
                      <a:pt x="0" y="20241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53961" y="2924175"/>
              <a:ext cx="105672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Optimizer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559439" y="3201352"/>
              <a:ext cx="845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baseline SVG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23900" y="4876800"/>
            <a:ext cx="12015978" cy="895350"/>
            <a:chOff x="723900" y="4876800"/>
            <a:chExt cx="12015978" cy="895350"/>
          </a:xfrm>
        </p:grpSpPr>
        <p:sp>
          <p:nvSpPr>
            <p:cNvPr id="65" name="Rectangle 65"/>
            <p:cNvSpPr/>
            <p:nvPr/>
          </p:nvSpPr>
          <p:spPr>
            <a:xfrm>
              <a:off x="723900" y="4876800"/>
              <a:ext cx="3314700" cy="895350"/>
            </a:xfrm>
            <a:prstGeom prst="roundRect">
              <a:avLst>
                <a:gd name="adj" fmla="val 1063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73455" y="50549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输入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75360" y="5356860"/>
              <a:ext cx="34069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结构化 IconPlan + 目标约束 + prompt rewrite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4438650" y="4876800"/>
              <a:ext cx="3314700" cy="895350"/>
            </a:xfrm>
            <a:prstGeom prst="roundRect">
              <a:avLst>
                <a:gd name="adj" fmla="val 1063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688205" y="50549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评审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690110" y="5356860"/>
              <a:ext cx="32228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LLM 语义判断 + SvgCheckTool 机器检查证据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153400" y="4876800"/>
              <a:ext cx="3314700" cy="895350"/>
            </a:xfrm>
            <a:prstGeom prst="roundRect">
              <a:avLst>
                <a:gd name="adj" fmla="val 1063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402955" y="50549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404860" y="5356860"/>
              <a:ext cx="4335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selected SVG、optimizer feedback source、baseline SVG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521970" y="6322695"/>
            <a:ext cx="37673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Source: svg_icon_agent/llm_agents.py, tests/test_pipeline.py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515154" y="63226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9" grpId="0"/>
      <p:bldP spid="44" grpId="0"/>
      <p:bldP spid="64" grpId="0"/>
      <p:bldP spid="7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99110" y="394335"/>
            <a:ext cx="611733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修复闭环：先诊断，再选择修复路线</a:t>
            </a:r>
          </a:p>
        </p:txBody>
      </p:sp>
      <p:sp>
        <p:nvSpPr>
          <p:cNvPr id="4" name="Rectangle 4"/>
          <p:cNvSpPr/>
          <p:nvPr/>
        </p:nvSpPr>
        <p:spPr>
          <a:xfrm>
            <a:off x="533400" y="914400"/>
            <a:ext cx="11125200" cy="495300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5805" y="1082992"/>
            <a:ext cx="100165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Validator 发现问题后，系统不直接重试；Failure Taxonomy 先归因，Repair Router 再把问题翻译成 Refiner 的具体任务。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723900" y="1733550"/>
            <a:ext cx="7115271" cy="4095750"/>
            <a:chOff x="723900" y="1733550"/>
            <a:chExt cx="7115271" cy="4095750"/>
          </a:xfrm>
        </p:grpSpPr>
        <p:sp>
          <p:nvSpPr>
            <p:cNvPr id="6" name="Rectangle 6"/>
            <p:cNvSpPr/>
            <p:nvPr/>
          </p:nvSpPr>
          <p:spPr>
            <a:xfrm>
              <a:off x="723900" y="1733550"/>
              <a:ext cx="5905500" cy="4095750"/>
            </a:xfrm>
            <a:prstGeom prst="roundRect">
              <a:avLst>
                <a:gd name="adj" fmla="val 2791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05840" y="1939290"/>
              <a:ext cx="32087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Validation and Repair Loop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352550" y="2686050"/>
              <a:ext cx="1428750" cy="723900"/>
            </a:xfrm>
            <a:prstGeom prst="roundRect">
              <a:avLst>
                <a:gd name="adj" fmla="val 13158"/>
              </a:avLst>
            </a:prstGeom>
            <a:solidFill>
              <a:srgbClr val="DBEAFE"/>
            </a:solidFill>
            <a:ln w="12382">
              <a:solidFill>
                <a:srgbClr val="1D4ED8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592860" y="2931319"/>
              <a:ext cx="224229" cy="214312"/>
            </a:xfrm>
            <a:custGeom>
              <a:avLst/>
              <a:gdLst/>
              <a:ahLst/>
              <a:cxnLst/>
              <a:rect l="l" t="t" r="r" b="b"/>
              <a:pathLst>
                <a:path w="224229" h="214312">
                  <a:moveTo>
                    <a:pt x="112115" y="0"/>
                  </a:moveTo>
                  <a:cubicBezTo>
                    <a:pt x="139926" y="24605"/>
                    <a:pt x="176223" y="37416"/>
                    <a:pt x="213318" y="35719"/>
                  </a:cubicBezTo>
                  <a:cubicBezTo>
                    <a:pt x="224229" y="72837"/>
                    <a:pt x="219621" y="112793"/>
                    <a:pt x="200547" y="146453"/>
                  </a:cubicBezTo>
                  <a:cubicBezTo>
                    <a:pt x="181473" y="180113"/>
                    <a:pt x="149564" y="204599"/>
                    <a:pt x="112115" y="214312"/>
                  </a:cubicBezTo>
                  <a:cubicBezTo>
                    <a:pt x="74665" y="204599"/>
                    <a:pt x="42756" y="180113"/>
                    <a:pt x="23682" y="146453"/>
                  </a:cubicBezTo>
                  <a:cubicBezTo>
                    <a:pt x="4608" y="112793"/>
                    <a:pt x="0" y="72837"/>
                    <a:pt x="10911" y="35719"/>
                  </a:cubicBezTo>
                  <a:cubicBezTo>
                    <a:pt x="48006" y="37416"/>
                    <a:pt x="84304" y="24605"/>
                    <a:pt x="112115" y="0"/>
                  </a:cubicBez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45958" y="2853214"/>
              <a:ext cx="8268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Validator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49768" y="3114199"/>
              <a:ext cx="9283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score + issues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781300" y="3048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2860">
              <a:solidFill>
                <a:srgbClr val="DC2626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3333750" y="29813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48050" y="2686050"/>
              <a:ext cx="1428750" cy="723900"/>
            </a:xfrm>
            <a:prstGeom prst="roundRect">
              <a:avLst>
                <a:gd name="adj" fmla="val 13158"/>
              </a:avLst>
            </a:prstGeom>
            <a:solidFill>
              <a:srgbClr val="FEE2E2"/>
            </a:solidFill>
            <a:ln w="12382">
              <a:solidFill>
                <a:srgbClr val="DC2626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680399" y="2927363"/>
              <a:ext cx="240143" cy="206314"/>
              <a:chOff x="3680399" y="2927363"/>
              <a:chExt cx="240143" cy="20631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800475" y="3002756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680399" y="2927363"/>
                <a:ext cx="240143" cy="206314"/>
              </a:xfrm>
              <a:custGeom>
                <a:avLst/>
                <a:gdLst/>
                <a:ahLst/>
                <a:cxnLst/>
                <a:rect l="l" t="t" r="r" b="b"/>
                <a:pathLst>
                  <a:path w="240143" h="206314">
                    <a:moveTo>
                      <a:pt x="100585" y="10992"/>
                    </a:moveTo>
                    <a:lnTo>
                      <a:pt x="4073" y="172131"/>
                    </a:lnTo>
                    <a:cubicBezTo>
                      <a:pt x="25" y="179142"/>
                      <a:pt x="0" y="187775"/>
                      <a:pt x="4008" y="194810"/>
                    </a:cubicBezTo>
                    <a:cubicBezTo>
                      <a:pt x="8017" y="201844"/>
                      <a:pt x="15456" y="206223"/>
                      <a:pt x="23552" y="206314"/>
                    </a:cubicBezTo>
                    <a:lnTo>
                      <a:pt x="216600" y="206314"/>
                    </a:lnTo>
                    <a:cubicBezTo>
                      <a:pt x="224692" y="206221"/>
                      <a:pt x="232127" y="201843"/>
                      <a:pt x="236135" y="194813"/>
                    </a:cubicBezTo>
                    <a:cubicBezTo>
                      <a:pt x="240143" y="187782"/>
                      <a:pt x="240121" y="179154"/>
                      <a:pt x="236078" y="172143"/>
                    </a:cubicBezTo>
                    <a:lnTo>
                      <a:pt x="139566" y="10980"/>
                    </a:lnTo>
                    <a:cubicBezTo>
                      <a:pt x="135437" y="4164"/>
                      <a:pt x="128046" y="0"/>
                      <a:pt x="120076" y="0"/>
                    </a:cubicBezTo>
                    <a:cubicBezTo>
                      <a:pt x="112106" y="0"/>
                      <a:pt x="104715" y="4164"/>
                      <a:pt x="100585" y="10980"/>
                    </a:cubicBez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800475" y="3086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4041458" y="2853214"/>
              <a:ext cx="85358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Taxonomy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45268" y="3114199"/>
              <a:ext cx="785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failure type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876800" y="3048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2860">
              <a:solidFill>
                <a:srgbClr val="DC2626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5429250" y="29813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543550" y="2686050"/>
              <a:ext cx="1428750" cy="723900"/>
            </a:xfrm>
            <a:prstGeom prst="roundRect">
              <a:avLst>
                <a:gd name="adj" fmla="val 13158"/>
              </a:avLst>
            </a:prstGeom>
            <a:solidFill>
              <a:srgbClr val="FEE2E2"/>
            </a:solidFill>
            <a:ln w="12382">
              <a:solidFill>
                <a:srgbClr val="DC2626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5788819" y="2931319"/>
              <a:ext cx="214312" cy="214312"/>
              <a:chOff x="5788819" y="2931319"/>
              <a:chExt cx="214312" cy="21431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5788819" y="3098006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955506" y="293131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23812" y="47625"/>
                    </a:move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812631" y="2955131"/>
                <a:ext cx="178594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78594" h="166688">
                    <a:moveTo>
                      <a:pt x="71438" y="166688"/>
                    </a:moveTo>
                    <a:lnTo>
                      <a:pt x="136922" y="166688"/>
                    </a:lnTo>
                    <a:cubicBezTo>
                      <a:pt x="159937" y="166688"/>
                      <a:pt x="178594" y="148030"/>
                      <a:pt x="178594" y="125016"/>
                    </a:cubicBezTo>
                    <a:cubicBezTo>
                      <a:pt x="178594" y="102001"/>
                      <a:pt x="159937" y="83344"/>
                      <a:pt x="136922" y="83344"/>
                    </a:cubicBezTo>
                    <a:lnTo>
                      <a:pt x="41672" y="83344"/>
                    </a:ln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136958" y="2853214"/>
              <a:ext cx="6215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Router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40768" y="3114199"/>
              <a:ext cx="8178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repair route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2066925" y="3409950"/>
              <a:ext cx="4191000" cy="819150"/>
            </a:xfrm>
            <a:custGeom>
              <a:avLst/>
              <a:gdLst/>
              <a:ahLst/>
              <a:cxnLst/>
              <a:rect l="l" t="t" r="r" b="b"/>
              <a:pathLst>
                <a:path w="4191000" h="819150">
                  <a:moveTo>
                    <a:pt x="4191000" y="0"/>
                  </a:moveTo>
                  <a:lnTo>
                    <a:pt x="4191000" y="819150"/>
                  </a:lnTo>
                  <a:lnTo>
                    <a:pt x="0" y="819150"/>
                  </a:ln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DC2626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2000250" y="34099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0"/>
                  </a:moveTo>
                  <a:lnTo>
                    <a:pt x="0" y="114300"/>
                  </a:lnTo>
                  <a:lnTo>
                    <a:pt x="133350" y="11430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352800" y="3848100"/>
              <a:ext cx="1619250" cy="762000"/>
            </a:xfrm>
            <a:prstGeom prst="roundRect">
              <a:avLst>
                <a:gd name="adj" fmla="val 12500"/>
              </a:avLst>
            </a:prstGeom>
            <a:solidFill>
              <a:srgbClr val="FEF3C7"/>
            </a:solidFill>
            <a:ln w="12382">
              <a:solidFill>
                <a:srgbClr val="F59E0B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3617119" y="4111174"/>
              <a:ext cx="215558" cy="215558"/>
              <a:chOff x="3617119" y="4111174"/>
              <a:chExt cx="215558" cy="215558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3617119" y="4111174"/>
                <a:ext cx="215558" cy="215558"/>
              </a:xfrm>
              <a:custGeom>
                <a:avLst/>
                <a:gdLst/>
                <a:ahLst/>
                <a:cxnLst/>
                <a:rect l="l" t="t" r="r" b="b"/>
                <a:pathLst>
                  <a:path w="215558" h="215558">
                    <a:moveTo>
                      <a:pt x="0" y="215558"/>
                    </a:moveTo>
                    <a:lnTo>
                      <a:pt x="47625" y="215558"/>
                    </a:lnTo>
                    <a:lnTo>
                      <a:pt x="202406" y="60776"/>
                    </a:lnTo>
                    <a:cubicBezTo>
                      <a:pt x="215558" y="47625"/>
                      <a:pt x="215558" y="26303"/>
                      <a:pt x="202406" y="13151"/>
                    </a:cubicBezTo>
                    <a:cubicBezTo>
                      <a:pt x="189255" y="0"/>
                      <a:pt x="167933" y="0"/>
                      <a:pt x="154781" y="13151"/>
                    </a:cubicBezTo>
                    <a:lnTo>
                      <a:pt x="0" y="167933"/>
                    </a:lnTo>
                    <a:lnTo>
                      <a:pt x="0" y="215558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754041" y="4142184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47625" y="4762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3617119" y="4112419"/>
                <a:ext cx="107156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07156">
                    <a:moveTo>
                      <a:pt x="107156" y="59531"/>
                    </a:moveTo>
                    <a:lnTo>
                      <a:pt x="47625" y="0"/>
                    </a:lnTo>
                    <a:lnTo>
                      <a:pt x="0" y="47625"/>
                    </a:lnTo>
                    <a:lnTo>
                      <a:pt x="59531" y="107156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3646884" y="4171950"/>
                <a:ext cx="17859" cy="17859"/>
              </a:xfrm>
              <a:custGeom>
                <a:avLst/>
                <a:gdLst/>
                <a:ahLst/>
                <a:cxnLst/>
                <a:rect l="l" t="t" r="r" b="b"/>
                <a:pathLst>
                  <a:path w="17859" h="17859">
                    <a:moveTo>
                      <a:pt x="17859" y="0"/>
                    </a:moveTo>
                    <a:lnTo>
                      <a:pt x="0" y="17859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3724275" y="4219575"/>
                <a:ext cx="107156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07156">
                    <a:moveTo>
                      <a:pt x="47625" y="0"/>
                    </a:moveTo>
                    <a:lnTo>
                      <a:pt x="107156" y="59531"/>
                    </a:lnTo>
                    <a:lnTo>
                      <a:pt x="59531" y="107156"/>
                    </a:ln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3754041" y="4279106"/>
                <a:ext cx="17859" cy="17859"/>
              </a:xfrm>
              <a:custGeom>
                <a:avLst/>
                <a:gdLst/>
                <a:ahLst/>
                <a:cxnLst/>
                <a:rect l="l" t="t" r="r" b="b"/>
                <a:pathLst>
                  <a:path w="17859" h="17859">
                    <a:moveTo>
                      <a:pt x="17859" y="0"/>
                    </a:moveTo>
                    <a:lnTo>
                      <a:pt x="0" y="17859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3984308" y="4034314"/>
              <a:ext cx="67506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Refiner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988118" y="4295299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complete revised SVG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371600" y="4838700"/>
              <a:ext cx="4648200" cy="514350"/>
            </a:xfrm>
            <a:prstGeom prst="roundRect">
              <a:avLst>
                <a:gd name="adj" fmla="val 14815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584008" y="5024914"/>
              <a:ext cx="625516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最多迭代 3 轮；如果 Validator 通过，则 Taxonomy / Router / Refiner 被跳过。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086600" y="1733550"/>
            <a:ext cx="4381500" cy="4095750"/>
            <a:chOff x="7086600" y="1733550"/>
            <a:chExt cx="4381500" cy="4095750"/>
          </a:xfrm>
        </p:grpSpPr>
        <p:sp>
          <p:nvSpPr>
            <p:cNvPr id="45" name="Rectangle 45"/>
            <p:cNvSpPr/>
            <p:nvPr/>
          </p:nvSpPr>
          <p:spPr>
            <a:xfrm>
              <a:off x="7086600" y="1733550"/>
              <a:ext cx="4381500" cy="4095750"/>
            </a:xfrm>
            <a:prstGeom prst="roundRect">
              <a:avLst>
                <a:gd name="adj" fmla="val 2791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68540" y="1939290"/>
              <a:ext cx="23140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闭环带来的可见收益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7391400" y="2514600"/>
              <a:ext cx="1809750" cy="1104900"/>
              <a:chOff x="7391400" y="2514600"/>
              <a:chExt cx="1809750" cy="11049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7391400" y="2514600"/>
                <a:ext cx="1809750" cy="1104900"/>
              </a:xfrm>
              <a:prstGeom prst="roundRect">
                <a:avLst>
                  <a:gd name="adj" fmla="val 8621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623810" y="2689860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coffee run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597140" y="2901315"/>
                <a:ext cx="1354479" cy="670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b="1" dirty="0">
                    <a:solidFill>
                      <a:srgbClr val="16A34A"/>
                    </a:solidFill>
                    <a:latin typeface="Arial"/>
                    <a:ea typeface="Microsoft YaHei"/>
                    <a:cs typeface="Arial"/>
                  </a:rPr>
                  <a:t>70→95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625715" y="3372802"/>
                <a:ext cx="9507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1 轮修复后通过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9391650" y="2514600"/>
              <a:ext cx="1809750" cy="1104900"/>
              <a:chOff x="9391650" y="2514600"/>
              <a:chExt cx="1809750" cy="11049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9391650" y="2514600"/>
                <a:ext cx="1809750" cy="1104900"/>
              </a:xfrm>
              <a:prstGeom prst="roundRect">
                <a:avLst>
                  <a:gd name="adj" fmla="val 8621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9624060" y="2689860"/>
                <a:ext cx="60655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dog run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597390" y="2901315"/>
                <a:ext cx="1493096" cy="670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b="1" dirty="0">
                    <a:solidFill>
                      <a:srgbClr val="16A34A"/>
                    </a:solidFill>
                    <a:latin typeface="Arial"/>
                    <a:ea typeface="Microsoft YaHei"/>
                    <a:cs typeface="Arial"/>
                  </a:rPr>
                  <a:t>65→100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9625965" y="3372802"/>
                <a:ext cx="9507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1 轮修复后满分</a:t>
                </a:r>
              </a:p>
            </p:txBody>
          </p:sp>
        </p:grpSp>
        <p:sp>
          <p:nvSpPr>
            <p:cNvPr id="57" name="Rectangle 57"/>
            <p:cNvSpPr/>
            <p:nvPr/>
          </p:nvSpPr>
          <p:spPr>
            <a:xfrm>
              <a:off x="7391400" y="3962400"/>
              <a:ext cx="3810000" cy="1257300"/>
            </a:xfrm>
            <a:prstGeom prst="roundRect">
              <a:avLst>
                <a:gd name="adj" fmla="val 7576"/>
              </a:avLst>
            </a:prstGeom>
            <a:solidFill>
              <a:srgbClr val="FEE2E2"/>
            </a:solidFill>
            <a:ln w="9525">
              <a:solidFill>
                <a:srgbClr val="DC262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639050" y="4143375"/>
              <a:ext cx="214886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为什么不是普通 retry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41908" y="4529614"/>
              <a:ext cx="324578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Taxonomy 保存失败类型、证据、优先级；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41908" y="4815364"/>
              <a:ext cx="24806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Router 生成路线和具体 brief；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641908" y="5101114"/>
              <a:ext cx="289724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Refiner 才拿到上下文返回完整 SVG。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521970" y="6322695"/>
            <a:ext cx="39173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Source: outputs/web/*/metrics.json, svg_icon_agent/refiner.py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515154" y="63226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6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99110" y="394335"/>
            <a:ext cx="549355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Web UI：让每个 Agent 节点可见</a:t>
            </a:r>
          </a:p>
        </p:txBody>
      </p:sp>
      <p:sp>
        <p:nvSpPr>
          <p:cNvPr id="4" name="Rectangle 4"/>
          <p:cNvSpPr/>
          <p:nvPr/>
        </p:nvSpPr>
        <p:spPr>
          <a:xfrm>
            <a:off x="533400" y="914400"/>
            <a:ext cx="11125200" cy="495300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5805" y="1082992"/>
            <a:ext cx="88103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前端不是装饰：它把 prompt rewrite、memory context、候选、验证和 post-run 优化都变成可检查对象。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723900" y="1733550"/>
            <a:ext cx="4857750" cy="4095750"/>
            <a:chOff x="723900" y="1733550"/>
            <a:chExt cx="4857750" cy="4095750"/>
          </a:xfrm>
        </p:grpSpPr>
        <p:sp>
          <p:nvSpPr>
            <p:cNvPr id="6" name="Rectangle 6"/>
            <p:cNvSpPr/>
            <p:nvPr/>
          </p:nvSpPr>
          <p:spPr>
            <a:xfrm>
              <a:off x="723900" y="1733550"/>
              <a:ext cx="4857750" cy="4095750"/>
            </a:xfrm>
            <a:prstGeom prst="roundRect">
              <a:avLst>
                <a:gd name="adj" fmla="val 2791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23900" y="1733550"/>
              <a:ext cx="4857750" cy="400050"/>
            </a:xfrm>
            <a:prstGeom prst="roundRect">
              <a:avLst>
                <a:gd name="adj" fmla="val 28571"/>
              </a:avLst>
            </a:prstGeom>
            <a:solidFill>
              <a:srgbClr val="111827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52500" y="1876425"/>
              <a:ext cx="114300" cy="11430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43000" y="1876425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333500" y="1876425"/>
              <a:ext cx="114300" cy="114300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63065" y="1877378"/>
              <a:ext cx="14618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SVG Icon Agent Web UI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1008698" y="2306479"/>
              <a:ext cx="4268152" cy="874871"/>
              <a:chOff x="1008698" y="2306479"/>
              <a:chExt cx="4268152" cy="874871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008698" y="2306479"/>
                <a:ext cx="114264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运行状态图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1028700" y="2781300"/>
                <a:ext cx="876300" cy="400050"/>
              </a:xfrm>
              <a:prstGeom prst="roundRect">
                <a:avLst>
                  <a:gd name="adj" fmla="val 19048"/>
                </a:avLst>
              </a:prstGeom>
              <a:solidFill>
                <a:srgbClr val="CCFBF1"/>
              </a:solidFill>
              <a:ln w="9525">
                <a:solidFill>
                  <a:srgbClr val="0F766E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181531" y="2925128"/>
                <a:ext cx="57063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Memory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2152650" y="2781300"/>
                <a:ext cx="876300" cy="400050"/>
              </a:xfrm>
              <a:prstGeom prst="roundRect">
                <a:avLst>
                  <a:gd name="adj" fmla="val 19048"/>
                </a:avLst>
              </a:prstGeom>
              <a:solidFill>
                <a:srgbClr val="DBEAFE"/>
              </a:solidFill>
              <a:ln w="9525">
                <a:solidFill>
                  <a:srgbClr val="1D4ED8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2434122" y="2925128"/>
                <a:ext cx="31335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Goal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3276600" y="2781300"/>
                <a:ext cx="876300" cy="400050"/>
              </a:xfrm>
              <a:prstGeom prst="roundRect">
                <a:avLst>
                  <a:gd name="adj" fmla="val 19048"/>
                </a:avLst>
              </a:prstGeom>
              <a:solidFill>
                <a:srgbClr val="DBEAFE"/>
              </a:solidFill>
              <a:ln w="9525">
                <a:solidFill>
                  <a:srgbClr val="1D4ED8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436782" y="2925128"/>
                <a:ext cx="5559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Planner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4400550" y="2781300"/>
                <a:ext cx="876300" cy="400050"/>
              </a:xfrm>
              <a:prstGeom prst="roundRect">
                <a:avLst>
                  <a:gd name="adj" fmla="val 19048"/>
                </a:avLst>
              </a:prstGeom>
              <a:solidFill>
                <a:srgbClr val="FEF3C7"/>
              </a:solidFill>
              <a:ln w="9525">
                <a:solidFill>
                  <a:srgbClr val="F59E0B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520302" y="2925128"/>
                <a:ext cx="6367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Selector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1905000" y="2981325"/>
                <a:ext cx="247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9525">
                    <a:moveTo>
                      <a:pt x="0" y="0"/>
                    </a:moveTo>
                    <a:lnTo>
                      <a:pt x="247650" y="0"/>
                    </a:lnTo>
                  </a:path>
                </a:pathLst>
              </a:cu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3028950" y="2981325"/>
                <a:ext cx="247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9525">
                    <a:moveTo>
                      <a:pt x="0" y="0"/>
                    </a:moveTo>
                    <a:lnTo>
                      <a:pt x="247650" y="0"/>
                    </a:lnTo>
                  </a:path>
                </a:pathLst>
              </a:cu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4152900" y="2981325"/>
                <a:ext cx="247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9525">
                    <a:moveTo>
                      <a:pt x="0" y="0"/>
                    </a:moveTo>
                    <a:lnTo>
                      <a:pt x="247650" y="0"/>
                    </a:lnTo>
                  </a:path>
                </a:pathLst>
              </a:custGeom>
              <a:noFill/>
              <a:ln w="19050">
                <a:solidFill>
                  <a:srgbClr val="CBD5E1"/>
                </a:solidFill>
              </a:ln>
            </p:spPr>
          </p:sp>
        </p:grpSp>
        <p:grpSp>
          <p:nvGrpSpPr>
            <p:cNvPr id="57" name="Group 57"/>
            <p:cNvGrpSpPr/>
            <p:nvPr/>
          </p:nvGrpSpPr>
          <p:grpSpPr>
            <a:xfrm>
              <a:off x="1028700" y="3562350"/>
              <a:ext cx="4230281" cy="1600200"/>
              <a:chOff x="1028700" y="3562350"/>
              <a:chExt cx="4230281" cy="16002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1028700" y="3562350"/>
                <a:ext cx="186690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1252538" y="3795712"/>
                <a:ext cx="200025" cy="200025"/>
                <a:chOff x="1252538" y="3795712"/>
                <a:chExt cx="200025" cy="200025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1252538" y="3795712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33338" y="200025"/>
                      </a:moveTo>
                      <a:lnTo>
                        <a:pt x="200025" y="33338"/>
                      </a:lnTo>
                      <a:lnTo>
                        <a:pt x="166688" y="0"/>
                      </a:lnTo>
                      <a:lnTo>
                        <a:pt x="0" y="166688"/>
                      </a:lnTo>
                      <a:lnTo>
                        <a:pt x="33338" y="200025"/>
                      </a:lnTo>
                    </a:path>
                  </a:pathLst>
                </a:custGeom>
                <a:noFill/>
                <a:ln w="19050">
                  <a:solidFill>
                    <a:srgbClr val="1D4ED8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1385888" y="3829050"/>
                  <a:ext cx="33338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33338">
                      <a:moveTo>
                        <a:pt x="0" y="0"/>
                      </a:moveTo>
                      <a:lnTo>
                        <a:pt x="33338" y="33338"/>
                      </a:lnTo>
                    </a:path>
                  </a:pathLst>
                </a:custGeom>
                <a:noFill/>
                <a:ln w="19050">
                  <a:solidFill>
                    <a:srgbClr val="1D4ED8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1296988" y="3795712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22225" y="0"/>
                      </a:moveTo>
                      <a:cubicBezTo>
                        <a:pt x="22225" y="12275"/>
                        <a:pt x="32175" y="22225"/>
                        <a:pt x="44450" y="22225"/>
                      </a:cubicBezTo>
                      <a:cubicBezTo>
                        <a:pt x="32175" y="22225"/>
                        <a:pt x="22225" y="32175"/>
                        <a:pt x="22225" y="44450"/>
                      </a:cubicBezTo>
                      <a:cubicBezTo>
                        <a:pt x="22225" y="32175"/>
                        <a:pt x="12275" y="22225"/>
                        <a:pt x="0" y="22225"/>
                      </a:cubicBezTo>
                      <a:cubicBezTo>
                        <a:pt x="12275" y="22225"/>
                        <a:pt x="22225" y="12275"/>
                        <a:pt x="22225" y="0"/>
                      </a:cubicBezTo>
                    </a:path>
                  </a:pathLst>
                </a:custGeom>
                <a:noFill/>
                <a:ln w="19050">
                  <a:solidFill>
                    <a:srgbClr val="1D4ED8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408112" y="3906838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22225" y="0"/>
                      </a:moveTo>
                      <a:cubicBezTo>
                        <a:pt x="22225" y="12275"/>
                        <a:pt x="32175" y="22225"/>
                        <a:pt x="44450" y="22225"/>
                      </a:cubicBezTo>
                      <a:cubicBezTo>
                        <a:pt x="32175" y="22225"/>
                        <a:pt x="22225" y="32175"/>
                        <a:pt x="22225" y="44450"/>
                      </a:cubicBezTo>
                      <a:cubicBezTo>
                        <a:pt x="22225" y="32175"/>
                        <a:pt x="12275" y="22225"/>
                        <a:pt x="0" y="22225"/>
                      </a:cubicBezTo>
                      <a:cubicBezTo>
                        <a:pt x="12275" y="22225"/>
                        <a:pt x="22225" y="12275"/>
                        <a:pt x="22225" y="0"/>
                      </a:cubicBezTo>
                    </a:path>
                  </a:pathLst>
                </a:custGeom>
                <a:noFill/>
                <a:ln w="19050">
                  <a:solidFill>
                    <a:srgbClr val="1D4ED8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1584960" y="3718560"/>
                <a:ext cx="13074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Prompt Rewrite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587818" y="39714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原始输入和改写结果可见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3143250" y="3562350"/>
                <a:ext cx="186690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3378200" y="3795712"/>
                <a:ext cx="177800" cy="200025"/>
                <a:chOff x="3378200" y="3795712"/>
                <a:chExt cx="177800" cy="200025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3378200" y="3795712"/>
                  <a:ext cx="17780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66675">
                      <a:moveTo>
                        <a:pt x="0" y="33338"/>
                      </a:moveTo>
                      <a:cubicBezTo>
                        <a:pt x="0" y="51749"/>
                        <a:pt x="39802" y="66675"/>
                        <a:pt x="88900" y="66675"/>
                      </a:cubicBezTo>
                      <a:cubicBezTo>
                        <a:pt x="137998" y="66675"/>
                        <a:pt x="177800" y="51749"/>
                        <a:pt x="177800" y="33338"/>
                      </a:cubicBezTo>
                      <a:cubicBezTo>
                        <a:pt x="177800" y="14926"/>
                        <a:pt x="137998" y="0"/>
                        <a:pt x="88900" y="0"/>
                      </a:cubicBezTo>
                      <a:cubicBezTo>
                        <a:pt x="39802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3378200" y="3829050"/>
                  <a:ext cx="17780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00012">
                      <a:moveTo>
                        <a:pt x="0" y="0"/>
                      </a:moveTo>
                      <a:lnTo>
                        <a:pt x="0" y="66675"/>
                      </a:lnTo>
                      <a:cubicBezTo>
                        <a:pt x="0" y="85087"/>
                        <a:pt x="39802" y="100012"/>
                        <a:pt x="88900" y="100012"/>
                      </a:cubicBezTo>
                      <a:cubicBezTo>
                        <a:pt x="137998" y="100012"/>
                        <a:pt x="177800" y="85087"/>
                        <a:pt x="177800" y="66675"/>
                      </a:cubicBezTo>
                      <a:lnTo>
                        <a:pt x="17780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3378200" y="3895725"/>
                  <a:ext cx="17780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00012">
                      <a:moveTo>
                        <a:pt x="0" y="0"/>
                      </a:moveTo>
                      <a:lnTo>
                        <a:pt x="0" y="66675"/>
                      </a:lnTo>
                      <a:cubicBezTo>
                        <a:pt x="0" y="85087"/>
                        <a:pt x="39802" y="100012"/>
                        <a:pt x="88900" y="100012"/>
                      </a:cubicBezTo>
                      <a:cubicBezTo>
                        <a:pt x="137998" y="100012"/>
                        <a:pt x="177800" y="85087"/>
                        <a:pt x="177800" y="66675"/>
                      </a:cubicBezTo>
                      <a:lnTo>
                        <a:pt x="17780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3699510" y="3718560"/>
                <a:ext cx="134944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Memory Context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702368" y="39714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检索到的经验可复查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1028700" y="4476750"/>
                <a:ext cx="186690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1263650" y="4721225"/>
                <a:ext cx="177800" cy="177801"/>
                <a:chOff x="1263650" y="4721225"/>
                <a:chExt cx="177800" cy="177801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1263650" y="4721225"/>
                  <a:ext cx="66675" cy="5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55562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44450" y="0"/>
                      </a:lnTo>
                      <a:cubicBezTo>
                        <a:pt x="56725" y="0"/>
                        <a:pt x="66675" y="9950"/>
                        <a:pt x="66675" y="22225"/>
                      </a:cubicBezTo>
                      <a:lnTo>
                        <a:pt x="66675" y="33338"/>
                      </a:lnTo>
                      <a:cubicBezTo>
                        <a:pt x="66675" y="45612"/>
                        <a:pt x="56725" y="55562"/>
                        <a:pt x="44450" y="55562"/>
                      </a:cubicBezTo>
                      <a:lnTo>
                        <a:pt x="22225" y="55562"/>
                      </a:lnTo>
                      <a:cubicBezTo>
                        <a:pt x="9950" y="55562"/>
                        <a:pt x="0" y="45612"/>
                        <a:pt x="0" y="33338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1263650" y="4821238"/>
                  <a:ext cx="66675" cy="77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77788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44450" y="0"/>
                      </a:lnTo>
                      <a:cubicBezTo>
                        <a:pt x="56725" y="0"/>
                        <a:pt x="66675" y="9950"/>
                        <a:pt x="66675" y="22225"/>
                      </a:cubicBezTo>
                      <a:lnTo>
                        <a:pt x="66675" y="55562"/>
                      </a:lnTo>
                      <a:cubicBezTo>
                        <a:pt x="66675" y="67837"/>
                        <a:pt x="56725" y="77788"/>
                        <a:pt x="44450" y="77788"/>
                      </a:cubicBezTo>
                      <a:lnTo>
                        <a:pt x="22225" y="77788"/>
                      </a:lnTo>
                      <a:cubicBezTo>
                        <a:pt x="9950" y="77788"/>
                        <a:pt x="0" y="67837"/>
                        <a:pt x="0" y="55562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1374775" y="4721225"/>
                  <a:ext cx="66675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77800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44450" y="0"/>
                      </a:lnTo>
                      <a:cubicBezTo>
                        <a:pt x="56725" y="0"/>
                        <a:pt x="66675" y="9950"/>
                        <a:pt x="66675" y="22225"/>
                      </a:cubicBezTo>
                      <a:lnTo>
                        <a:pt x="66675" y="155575"/>
                      </a:lnTo>
                      <a:cubicBezTo>
                        <a:pt x="66675" y="167850"/>
                        <a:pt x="56725" y="177800"/>
                        <a:pt x="44450" y="177800"/>
                      </a:cubicBezTo>
                      <a:lnTo>
                        <a:pt x="22225" y="177800"/>
                      </a:lnTo>
                      <a:cubicBezTo>
                        <a:pt x="9950" y="177800"/>
                        <a:pt x="0" y="167850"/>
                        <a:pt x="0" y="155575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1584960" y="4632960"/>
                <a:ext cx="91259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Candidates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587818" y="4885849"/>
                <a:ext cx="161096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候选、选中、baseline 对比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3143250" y="4476750"/>
                <a:ext cx="186690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54" name="Group 54"/>
              <p:cNvGrpSpPr/>
              <p:nvPr/>
            </p:nvGrpSpPr>
            <p:grpSpPr>
              <a:xfrm>
                <a:off x="3367088" y="4708950"/>
                <a:ext cx="201187" cy="201187"/>
                <a:chOff x="3367088" y="4708950"/>
                <a:chExt cx="201187" cy="201187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3367088" y="4708950"/>
                  <a:ext cx="201187" cy="201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187" h="201187">
                      <a:moveTo>
                        <a:pt x="0" y="201187"/>
                      </a:moveTo>
                      <a:lnTo>
                        <a:pt x="44450" y="201187"/>
                      </a:lnTo>
                      <a:lnTo>
                        <a:pt x="188912" y="56725"/>
                      </a:lnTo>
                      <a:cubicBezTo>
                        <a:pt x="201187" y="44450"/>
                        <a:pt x="201187" y="24549"/>
                        <a:pt x="188912" y="12275"/>
                      </a:cubicBezTo>
                      <a:cubicBezTo>
                        <a:pt x="176638" y="0"/>
                        <a:pt x="156737" y="0"/>
                        <a:pt x="144463" y="12275"/>
                      </a:cubicBezTo>
                      <a:lnTo>
                        <a:pt x="0" y="156737"/>
                      </a:lnTo>
                      <a:lnTo>
                        <a:pt x="0" y="201187"/>
                      </a:ln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3494881" y="4737894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0"/>
                      </a:moveTo>
                      <a:lnTo>
                        <a:pt x="44450" y="44450"/>
                      </a:ln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3367088" y="4710112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100012" y="55562"/>
                      </a:moveTo>
                      <a:lnTo>
                        <a:pt x="44450" y="0"/>
                      </a:lnTo>
                      <a:lnTo>
                        <a:pt x="0" y="44450"/>
                      </a:lnTo>
                      <a:lnTo>
                        <a:pt x="55562" y="100012"/>
                      </a:ln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3394869" y="4765675"/>
                  <a:ext cx="16669" cy="16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9" h="16669">
                      <a:moveTo>
                        <a:pt x="16669" y="0"/>
                      </a:moveTo>
                      <a:lnTo>
                        <a:pt x="0" y="16669"/>
                      </a:ln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3467100" y="4810125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44450" y="0"/>
                      </a:moveTo>
                      <a:lnTo>
                        <a:pt x="100012" y="55562"/>
                      </a:lnTo>
                      <a:lnTo>
                        <a:pt x="55562" y="100012"/>
                      </a:ln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3494881" y="4865688"/>
                  <a:ext cx="16669" cy="16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9" h="16669">
                      <a:moveTo>
                        <a:pt x="16669" y="0"/>
                      </a:moveTo>
                      <a:lnTo>
                        <a:pt x="0" y="16669"/>
                      </a:ln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</p:grpSp>
          <p:sp>
            <p:nvSpPr>
              <p:cNvPr id="55" name="TextBox 55"/>
              <p:cNvSpPr txBox="1"/>
              <p:nvPr/>
            </p:nvSpPr>
            <p:spPr>
              <a:xfrm>
                <a:off x="3699510" y="4632960"/>
                <a:ext cx="155947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Post-run feedback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3702368" y="488584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人工建议触发二次优化</a:t>
                </a:r>
              </a:p>
            </p:txBody>
          </p:sp>
        </p:grpSp>
      </p:grpSp>
      <p:grpSp>
        <p:nvGrpSpPr>
          <p:cNvPr id="88" name="Group 88"/>
          <p:cNvGrpSpPr/>
          <p:nvPr/>
        </p:nvGrpSpPr>
        <p:grpSpPr>
          <a:xfrm>
            <a:off x="6057900" y="1733550"/>
            <a:ext cx="5410200" cy="4095750"/>
            <a:chOff x="6057900" y="1733550"/>
            <a:chExt cx="5410200" cy="4095750"/>
          </a:xfrm>
        </p:grpSpPr>
        <p:sp>
          <p:nvSpPr>
            <p:cNvPr id="59" name="Rectangle 59"/>
            <p:cNvSpPr/>
            <p:nvPr/>
          </p:nvSpPr>
          <p:spPr>
            <a:xfrm>
              <a:off x="6057900" y="1733550"/>
              <a:ext cx="5410200" cy="4095750"/>
            </a:xfrm>
            <a:prstGeom prst="roundRect">
              <a:avLst>
                <a:gd name="adj" fmla="val 2791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39840" y="193929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精选生成结果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348412" y="2278856"/>
              <a:ext cx="39440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选择标准：轮廓清楚、放大不乱、覆盖不同 prompt 类型。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6362700" y="2686050"/>
              <a:ext cx="4838700" cy="1200150"/>
              <a:chOff x="6362700" y="2686050"/>
              <a:chExt cx="4838700" cy="1200150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6362700" y="2686050"/>
                <a:ext cx="1066800" cy="1200150"/>
              </a:xfrm>
              <a:prstGeom prst="roundRect">
                <a:avLst>
                  <a:gd name="adj" fmla="val 892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pic>
            <p:nvPicPr>
              <p:cNvPr id="63" name="Image 6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534150" y="2781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64" name="TextBox 64"/>
              <p:cNvSpPr txBox="1"/>
              <p:nvPr/>
            </p:nvSpPr>
            <p:spPr>
              <a:xfrm>
                <a:off x="6669191" y="3628549"/>
                <a:ext cx="4538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rocket</a:t>
                </a:r>
              </a:p>
            </p:txBody>
          </p:sp>
          <p:sp>
            <p:nvSpPr>
              <p:cNvPr id="65" name="Rectangle 65"/>
              <p:cNvSpPr/>
              <p:nvPr/>
            </p:nvSpPr>
            <p:spPr>
              <a:xfrm>
                <a:off x="7620000" y="2686050"/>
                <a:ext cx="1066800" cy="1200150"/>
              </a:xfrm>
              <a:prstGeom prst="roundRect">
                <a:avLst>
                  <a:gd name="adj" fmla="val 892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pic>
            <p:nvPicPr>
              <p:cNvPr id="66" name="Image 6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91450" y="2781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67" name="TextBox 67"/>
              <p:cNvSpPr txBox="1"/>
              <p:nvPr/>
            </p:nvSpPr>
            <p:spPr>
              <a:xfrm>
                <a:off x="7926491" y="3628549"/>
                <a:ext cx="4538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coffee</a:t>
                </a:r>
              </a:p>
            </p:txBody>
          </p:sp>
          <p:sp>
            <p:nvSpPr>
              <p:cNvPr id="68" name="Rectangle 68"/>
              <p:cNvSpPr/>
              <p:nvPr/>
            </p:nvSpPr>
            <p:spPr>
              <a:xfrm>
                <a:off x="8877300" y="2686050"/>
                <a:ext cx="1066800" cy="1200150"/>
              </a:xfrm>
              <a:prstGeom prst="roundRect">
                <a:avLst>
                  <a:gd name="adj" fmla="val 892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pic>
            <p:nvPicPr>
              <p:cNvPr id="69" name="Image 6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48750" y="2781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70" name="TextBox 70"/>
              <p:cNvSpPr txBox="1"/>
              <p:nvPr/>
            </p:nvSpPr>
            <p:spPr>
              <a:xfrm>
                <a:off x="9291054" y="3628549"/>
                <a:ext cx="2392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dog</a:t>
                </a:r>
              </a:p>
            </p:txBody>
          </p:sp>
          <p:sp>
            <p:nvSpPr>
              <p:cNvPr id="71" name="Rectangle 71"/>
              <p:cNvSpPr/>
              <p:nvPr/>
            </p:nvSpPr>
            <p:spPr>
              <a:xfrm>
                <a:off x="10134600" y="2686050"/>
                <a:ext cx="1066800" cy="1200150"/>
              </a:xfrm>
              <a:prstGeom prst="roundRect">
                <a:avLst>
                  <a:gd name="adj" fmla="val 892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pic>
            <p:nvPicPr>
              <p:cNvPr id="72" name="Image 7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06050" y="2781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73" name="TextBox 73"/>
              <p:cNvSpPr txBox="1"/>
              <p:nvPr/>
            </p:nvSpPr>
            <p:spPr>
              <a:xfrm>
                <a:off x="10512600" y="3628549"/>
                <a:ext cx="3108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book</a:t>
                </a:r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6362700" y="4114800"/>
              <a:ext cx="4838700" cy="1200150"/>
              <a:chOff x="6362700" y="4114800"/>
              <a:chExt cx="4838700" cy="1200150"/>
            </a:xfrm>
          </p:grpSpPr>
          <p:sp>
            <p:nvSpPr>
              <p:cNvPr id="75" name="Rectangle 75"/>
              <p:cNvSpPr/>
              <p:nvPr/>
            </p:nvSpPr>
            <p:spPr>
              <a:xfrm>
                <a:off x="6362700" y="4114800"/>
                <a:ext cx="1066800" cy="1200150"/>
              </a:xfrm>
              <a:prstGeom prst="roundRect">
                <a:avLst>
                  <a:gd name="adj" fmla="val 892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pic>
            <p:nvPicPr>
              <p:cNvPr id="76" name="Image 76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34150" y="421005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77" name="TextBox 77"/>
              <p:cNvSpPr txBox="1"/>
              <p:nvPr/>
            </p:nvSpPr>
            <p:spPr>
              <a:xfrm>
                <a:off x="6578179" y="5057299"/>
                <a:ext cx="6358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landscape</a:t>
                </a: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7620000" y="4114800"/>
                <a:ext cx="1066800" cy="1200150"/>
              </a:xfrm>
              <a:prstGeom prst="roundRect">
                <a:avLst>
                  <a:gd name="adj" fmla="val 892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pic>
            <p:nvPicPr>
              <p:cNvPr id="79" name="Image 79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91450" y="421005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80" name="TextBox 80"/>
              <p:cNvSpPr txBox="1"/>
              <p:nvPr/>
            </p:nvSpPr>
            <p:spPr>
              <a:xfrm>
                <a:off x="7978497" y="5057299"/>
                <a:ext cx="3498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cloud</a:t>
                </a:r>
              </a:p>
            </p:txBody>
          </p:sp>
          <p:sp>
            <p:nvSpPr>
              <p:cNvPr id="81" name="Rectangle 81"/>
              <p:cNvSpPr/>
              <p:nvPr/>
            </p:nvSpPr>
            <p:spPr>
              <a:xfrm>
                <a:off x="8877300" y="4114800"/>
                <a:ext cx="1066800" cy="1200150"/>
              </a:xfrm>
              <a:prstGeom prst="roundRect">
                <a:avLst>
                  <a:gd name="adj" fmla="val 892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pic>
            <p:nvPicPr>
              <p:cNvPr id="82" name="Image 82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48750" y="421005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83" name="TextBox 83"/>
              <p:cNvSpPr txBox="1"/>
              <p:nvPr/>
            </p:nvSpPr>
            <p:spPr>
              <a:xfrm>
                <a:off x="9216295" y="5057299"/>
                <a:ext cx="3888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shield</a:t>
                </a:r>
              </a:p>
            </p:txBody>
          </p:sp>
          <p:sp>
            <p:nvSpPr>
              <p:cNvPr id="84" name="Rectangle 84"/>
              <p:cNvSpPr/>
              <p:nvPr/>
            </p:nvSpPr>
            <p:spPr>
              <a:xfrm>
                <a:off x="10134600" y="4114800"/>
                <a:ext cx="1066800" cy="1200150"/>
              </a:xfrm>
              <a:prstGeom prst="roundRect">
                <a:avLst>
                  <a:gd name="adj" fmla="val 892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pic>
            <p:nvPicPr>
              <p:cNvPr id="85" name="Image 85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306050" y="421005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86" name="TextBox 86"/>
              <p:cNvSpPr txBox="1"/>
              <p:nvPr/>
            </p:nvSpPr>
            <p:spPr>
              <a:xfrm>
                <a:off x="10385834" y="5057299"/>
                <a:ext cx="5643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calendar</a:t>
                </a:r>
              </a:p>
            </p:txBody>
          </p:sp>
        </p:grpSp>
      </p:grpSp>
      <p:sp>
        <p:nvSpPr>
          <p:cNvPr id="89" name="TextBox 89"/>
          <p:cNvSpPr txBox="1"/>
          <p:nvPr/>
        </p:nvSpPr>
        <p:spPr>
          <a:xfrm>
            <a:off x="521970" y="6322695"/>
            <a:ext cx="40433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Source: svg_icon_agent/web_app.py, outputs/web/*/refined/*.svg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1515154" y="63226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8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99110" y="394335"/>
            <a:ext cx="747830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当前结果：15 个 Web 样本，修复后全部有效</a:t>
            </a:r>
          </a:p>
        </p:txBody>
      </p:sp>
      <p:sp>
        <p:nvSpPr>
          <p:cNvPr id="4" name="Rectangle 4"/>
          <p:cNvSpPr/>
          <p:nvPr/>
        </p:nvSpPr>
        <p:spPr>
          <a:xfrm>
            <a:off x="533400" y="914400"/>
            <a:ext cx="11125200" cy="495300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5805" y="1082992"/>
            <a:ext cx="93144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现有运行结果说明修复闭环能提高通过率和平均分，但样本来自多次 Web 单 prompt 运行，不等同于完整批量基准。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23900" y="1752600"/>
            <a:ext cx="9239250" cy="1371600"/>
            <a:chOff x="723900" y="1752600"/>
            <a:chExt cx="9239250" cy="1371600"/>
          </a:xfrm>
        </p:grpSpPr>
        <p:sp>
          <p:nvSpPr>
            <p:cNvPr id="6" name="Rectangle 6"/>
            <p:cNvSpPr/>
            <p:nvPr/>
          </p:nvSpPr>
          <p:spPr>
            <a:xfrm>
              <a:off x="723900" y="1752600"/>
              <a:ext cx="2095500" cy="1371600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28700" y="2051050"/>
              <a:ext cx="228600" cy="212725"/>
              <a:chOff x="1028700" y="2051050"/>
              <a:chExt cx="228600" cy="21272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28700" y="2152650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81100" y="210185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39700"/>
                    </a:lnTo>
                    <a:cubicBezTo>
                      <a:pt x="76200" y="146714"/>
                      <a:pt x="70514" y="152400"/>
                      <a:pt x="63500" y="152400"/>
                    </a:cubicBezTo>
                    <a:lnTo>
                      <a:pt x="12700" y="152400"/>
                    </a:lnTo>
                    <a:cubicBezTo>
                      <a:pt x="5686" y="152400"/>
                      <a:pt x="0" y="146714"/>
                      <a:pt x="0" y="1397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04900" y="2051050"/>
                <a:ext cx="762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3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90500"/>
                    </a:lnTo>
                    <a:cubicBezTo>
                      <a:pt x="76200" y="197514"/>
                      <a:pt x="70514" y="203200"/>
                      <a:pt x="63500" y="203200"/>
                    </a:cubicBezTo>
                    <a:lnTo>
                      <a:pt x="12700" y="203200"/>
                    </a:lnTo>
                    <a:cubicBezTo>
                      <a:pt x="5686" y="203200"/>
                      <a:pt x="0" y="197514"/>
                      <a:pt x="0" y="190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41400" y="2254250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48690" y="2215515"/>
              <a:ext cx="476569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15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5360" y="2747010"/>
              <a:ext cx="12946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Web run samples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105150" y="1752600"/>
              <a:ext cx="2095500" cy="1371600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404661" y="2038350"/>
              <a:ext cx="239178" cy="228600"/>
            </a:xfrm>
            <a:custGeom>
              <a:avLst/>
              <a:gdLst/>
              <a:ahLst/>
              <a:cxnLst/>
              <a:rect l="l" t="t" r="r" b="b"/>
              <a:pathLst>
                <a:path w="239178" h="228600">
                  <a:moveTo>
                    <a:pt x="119589" y="0"/>
                  </a:moveTo>
                  <a:cubicBezTo>
                    <a:pt x="149254" y="26246"/>
                    <a:pt x="187972" y="39911"/>
                    <a:pt x="227539" y="38100"/>
                  </a:cubicBezTo>
                  <a:cubicBezTo>
                    <a:pt x="239178" y="77693"/>
                    <a:pt x="234262" y="120313"/>
                    <a:pt x="213917" y="156217"/>
                  </a:cubicBezTo>
                  <a:cubicBezTo>
                    <a:pt x="193571" y="192121"/>
                    <a:pt x="159535" y="218239"/>
                    <a:pt x="119589" y="228600"/>
                  </a:cubicBezTo>
                  <a:cubicBezTo>
                    <a:pt x="79643" y="218239"/>
                    <a:pt x="45606" y="192121"/>
                    <a:pt x="25261" y="156217"/>
                  </a:cubicBezTo>
                  <a:cubicBezTo>
                    <a:pt x="4915" y="120313"/>
                    <a:pt x="0" y="77693"/>
                    <a:pt x="11639" y="38100"/>
                  </a:cubicBezTo>
                  <a:cubicBezTo>
                    <a:pt x="51206" y="39911"/>
                    <a:pt x="89924" y="26246"/>
                    <a:pt x="119589" y="0"/>
                  </a:cubicBezTo>
                </a:path>
              </a:pathLst>
            </a:custGeom>
            <a:noFill/>
            <a:ln w="19050">
              <a:solidFill>
                <a:srgbClr val="0F766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329940" y="2215515"/>
              <a:ext cx="112345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13/15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56610" y="2747010"/>
              <a:ext cx="10626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baseline valid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486400" y="1752600"/>
              <a:ext cx="2095500" cy="1371600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816600" y="2089150"/>
              <a:ext cx="190500" cy="127000"/>
            </a:xfrm>
            <a:custGeom>
              <a:avLst/>
              <a:gdLst/>
              <a:ahLst/>
              <a:cxnLst/>
              <a:rect l="l" t="t" r="r" b="b"/>
              <a:pathLst>
                <a:path w="190500" h="127000">
                  <a:moveTo>
                    <a:pt x="0" y="63500"/>
                  </a:moveTo>
                  <a:lnTo>
                    <a:pt x="63500" y="127000"/>
                  </a:ln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16A34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11190" y="2215515"/>
              <a:ext cx="112345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15/15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37860" y="2747010"/>
              <a:ext cx="10146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refined valid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67650" y="1752600"/>
              <a:ext cx="2095500" cy="1371600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185150" y="2046150"/>
              <a:ext cx="203200" cy="213000"/>
              <a:chOff x="8185150" y="2046150"/>
              <a:chExt cx="203200" cy="213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185150" y="2046150"/>
                <a:ext cx="203200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93800">
                    <a:moveTo>
                      <a:pt x="203200" y="93800"/>
                    </a:moveTo>
                    <a:cubicBezTo>
                      <a:pt x="196815" y="47858"/>
                      <a:pt x="160476" y="11871"/>
                      <a:pt x="114474" y="5936"/>
                    </a:cubicBezTo>
                    <a:cubicBezTo>
                      <a:pt x="68472" y="0"/>
                      <a:pt x="24187" y="25584"/>
                      <a:pt x="6350" y="68400"/>
                    </a:cubicBezTo>
                    <a:moveTo>
                      <a:pt x="0" y="17600"/>
                    </a:moveTo>
                    <a:lnTo>
                      <a:pt x="0" y="68400"/>
                    </a:lnTo>
                    <a:lnTo>
                      <a:pt x="50800" y="6840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85150" y="2165350"/>
                <a:ext cx="203200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93800">
                    <a:moveTo>
                      <a:pt x="0" y="0"/>
                    </a:moveTo>
                    <a:cubicBezTo>
                      <a:pt x="6385" y="45942"/>
                      <a:pt x="42724" y="81929"/>
                      <a:pt x="88726" y="87864"/>
                    </a:cubicBezTo>
                    <a:cubicBezTo>
                      <a:pt x="134728" y="93800"/>
                      <a:pt x="179013" y="68216"/>
                      <a:pt x="196850" y="25400"/>
                    </a:cubicBezTo>
                    <a:moveTo>
                      <a:pt x="203200" y="76200"/>
                    </a:moveTo>
                    <a:lnTo>
                      <a:pt x="203200" y="25400"/>
                    </a:lnTo>
                    <a:lnTo>
                      <a:pt x="152400" y="2540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092440" y="2215515"/>
              <a:ext cx="337952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19110" y="2747010"/>
              <a:ext cx="14386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max repair rounds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23900" y="3581400"/>
            <a:ext cx="6477000" cy="1959769"/>
            <a:chOff x="723900" y="3581400"/>
            <a:chExt cx="6477000" cy="1959769"/>
          </a:xfrm>
        </p:grpSpPr>
        <p:sp>
          <p:nvSpPr>
            <p:cNvPr id="29" name="Rectangle 29"/>
            <p:cNvSpPr/>
            <p:nvPr/>
          </p:nvSpPr>
          <p:spPr>
            <a:xfrm>
              <a:off x="723900" y="3581400"/>
              <a:ext cx="6477000" cy="194310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07745" y="378428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有效率和平均分变化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1143000" y="5010150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11430">
              <a:solidFill>
                <a:srgbClr val="CBD5E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28712" y="5174456"/>
              <a:ext cx="7411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valid rate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400300" y="4524375"/>
              <a:ext cx="1752600" cy="304800"/>
            </a:xfrm>
            <a:prstGeom prst="roundRect">
              <a:avLst>
                <a:gd name="adj" fmla="val 1875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400300" y="4524375"/>
              <a:ext cx="1514475" cy="304800"/>
            </a:xfrm>
            <a:prstGeom prst="roundRect">
              <a:avLst>
                <a:gd name="adj" fmla="val 1875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271010" y="4613910"/>
              <a:ext cx="11982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baseline 86.7%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400300" y="4953000"/>
              <a:ext cx="1752600" cy="304800"/>
            </a:xfrm>
            <a:prstGeom prst="roundRect">
              <a:avLst>
                <a:gd name="adj" fmla="val 18750"/>
              </a:avLst>
            </a:prstGeom>
            <a:solidFill>
              <a:srgbClr val="CCFBF1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400300" y="4953000"/>
              <a:ext cx="1752600" cy="304800"/>
            </a:xfrm>
            <a:prstGeom prst="roundRect">
              <a:avLst>
                <a:gd name="adj" fmla="val 18750"/>
              </a:avLst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271010" y="5042535"/>
              <a:ext cx="10134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refined 100%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8712" y="4260056"/>
              <a:ext cx="7336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avg score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400300" y="4038600"/>
              <a:ext cx="1752600" cy="304800"/>
            </a:xfrm>
            <a:prstGeom prst="roundRect">
              <a:avLst>
                <a:gd name="adj" fmla="val 1875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2400300" y="4038600"/>
              <a:ext cx="1562100" cy="304800"/>
            </a:xfrm>
            <a:prstGeom prst="roundRect">
              <a:avLst>
                <a:gd name="adj" fmla="val 1875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271010" y="4128135"/>
              <a:ext cx="114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89.33 → 93.20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5829300" y="4038600"/>
              <a:ext cx="9525" cy="1219200"/>
            </a:xfrm>
            <a:custGeom>
              <a:avLst/>
              <a:gdLst/>
              <a:ahLst/>
              <a:cxnLst/>
              <a:rect l="l" t="t" r="r" b="b"/>
              <a:pathLst>
                <a:path w="9525" h="1219200">
                  <a:moveTo>
                    <a:pt x="0" y="0"/>
                  </a:moveTo>
                  <a:lnTo>
                    <a:pt x="0" y="1219200"/>
                  </a:lnTo>
                </a:path>
              </a:pathLst>
            </a:custGeom>
            <a:noFill/>
            <a:ln w="9525">
              <a:solidFill>
                <a:srgbClr val="94A3B8"/>
              </a:solidFill>
              <a:custDash>
                <a:ds d="400000" sp="500000"/>
              </a:custDash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690152" y="5343049"/>
              <a:ext cx="2782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100%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581900" y="3581400"/>
            <a:ext cx="4317397" cy="1943100"/>
            <a:chOff x="7581900" y="3581400"/>
            <a:chExt cx="4317397" cy="1943100"/>
          </a:xfrm>
        </p:grpSpPr>
        <p:sp>
          <p:nvSpPr>
            <p:cNvPr id="46" name="Rectangle 46"/>
            <p:cNvSpPr/>
            <p:nvPr/>
          </p:nvSpPr>
          <p:spPr>
            <a:xfrm>
              <a:off x="7581900" y="3581400"/>
              <a:ext cx="3886200" cy="194310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867650" y="3962400"/>
              <a:ext cx="514350" cy="514350"/>
            </a:xfrm>
            <a:prstGeom prst="roundRect">
              <a:avLst>
                <a:gd name="adj" fmla="val 18519"/>
              </a:avLst>
            </a:prstGeom>
            <a:solidFill>
              <a:srgbClr val="FEE2E2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8012754" y="4115871"/>
              <a:ext cx="224133" cy="192560"/>
              <a:chOff x="8012754" y="4115871"/>
              <a:chExt cx="224133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124825" y="418623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012754" y="4115871"/>
                <a:ext cx="224133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3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2"/>
                    </a:cubicBezTo>
                    <a:cubicBezTo>
                      <a:pt x="7482" y="188388"/>
                      <a:pt x="14426" y="192475"/>
                      <a:pt x="21982" y="192560"/>
                    </a:cubicBezTo>
                    <a:lnTo>
                      <a:pt x="202160" y="192560"/>
                    </a:lnTo>
                    <a:cubicBezTo>
                      <a:pt x="209712" y="192473"/>
                      <a:pt x="216652" y="188387"/>
                      <a:pt x="220393" y="181825"/>
                    </a:cubicBezTo>
                    <a:cubicBezTo>
                      <a:pt x="224133" y="175263"/>
                      <a:pt x="224113" y="167210"/>
                      <a:pt x="220340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09" y="0"/>
                      <a:pt x="112071" y="0"/>
                    </a:cubicBezTo>
                    <a:cubicBezTo>
                      <a:pt x="104632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124825" y="4264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8551545" y="39938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边界说明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50505" y="4616768"/>
              <a:ext cx="40487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这些结果来自 outputs/web 下的 15 次样本运行。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50505" y="492156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它们证明修复链路可用，但不能替代完整、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50505" y="5226368"/>
              <a:ext cx="31126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固定 prompt 集合上的批量对比实验。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521970" y="6322695"/>
            <a:ext cx="43133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Source: outputs/web/*/metrics.json; aggregation in current workspace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515154" y="63226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5" grpId="0"/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14350"/>
            <a:ext cx="11125200" cy="58293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3335">
            <a:solidFill>
              <a:srgbClr val="CBD5E1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533400" y="514350"/>
            <a:ext cx="133350" cy="5829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4890" y="843915"/>
            <a:ext cx="703778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结论：Agent 架构的价值在可控性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3945" y="1460182"/>
            <a:ext cx="647771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项目把 SVG 生成从黑箱输出变成可追踪、可验证、可修复的流程。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080135" y="2094548"/>
            <a:ext cx="5469659" cy="2706052"/>
            <a:chOff x="1080135" y="2094548"/>
            <a:chExt cx="5469659" cy="2706052"/>
          </a:xfrm>
        </p:grpSpPr>
        <p:sp>
          <p:nvSpPr>
            <p:cNvPr id="7" name="TextBox 7"/>
            <p:cNvSpPr txBox="1"/>
            <p:nvPr/>
          </p:nvSpPr>
          <p:spPr>
            <a:xfrm>
              <a:off x="1080135" y="2094548"/>
              <a:ext cx="86863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D4ED8"/>
                  </a:solidFill>
                  <a:latin typeface="Arial"/>
                  <a:ea typeface="Microsoft YaHei"/>
                  <a:cs typeface="Arial"/>
                </a:rPr>
                <a:t>有效点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04900" y="2590800"/>
              <a:ext cx="4762500" cy="609600"/>
            </a:xfrm>
            <a:prstGeom prst="roundRect">
              <a:avLst>
                <a:gd name="adj" fmla="val 15625"/>
              </a:avLst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381125" y="2788444"/>
              <a:ext cx="190500" cy="214312"/>
              <a:chOff x="1381125" y="2788444"/>
              <a:chExt cx="190500" cy="21431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381125" y="2788444"/>
                <a:ext cx="190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71438">
                    <a:moveTo>
                      <a:pt x="0" y="35719"/>
                    </a:moveTo>
                    <a:cubicBezTo>
                      <a:pt x="0" y="55446"/>
                      <a:pt x="42645" y="71438"/>
                      <a:pt x="95250" y="71438"/>
                    </a:cubicBezTo>
                    <a:cubicBezTo>
                      <a:pt x="147855" y="71438"/>
                      <a:pt x="190500" y="55446"/>
                      <a:pt x="190500" y="35719"/>
                    </a:cubicBezTo>
                    <a:cubicBezTo>
                      <a:pt x="190500" y="15992"/>
                      <a:pt x="147855" y="0"/>
                      <a:pt x="95250" y="0"/>
                    </a:cubicBezTo>
                    <a:cubicBezTo>
                      <a:pt x="42645" y="0"/>
                      <a:pt x="0" y="15992"/>
                      <a:pt x="0" y="35719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381125" y="2824162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381125" y="2895600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734502" y="2808446"/>
              <a:ext cx="420721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RAG 记忆让历史成功和失败进入下一次目标设定。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104900" y="3390900"/>
              <a:ext cx="4762500" cy="609600"/>
            </a:xfrm>
            <a:prstGeom prst="roundRect">
              <a:avLst>
                <a:gd name="adj" fmla="val 15625"/>
              </a:avLst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393031" y="3600450"/>
              <a:ext cx="178595" cy="190500"/>
              <a:chOff x="1393031" y="3600450"/>
              <a:chExt cx="178595" cy="1905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393031" y="37433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393031" y="36004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512094" y="36004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416844" y="36480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440656" y="3683794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0" y="83344"/>
                    </a:moveTo>
                    <a:lnTo>
                      <a:pt x="71438" y="83344"/>
                    </a:lnTo>
                    <a:cubicBezTo>
                      <a:pt x="84589" y="83344"/>
                      <a:pt x="95250" y="72683"/>
                      <a:pt x="95250" y="59531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500188" y="3683794"/>
                <a:ext cx="71438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35719">
                    <a:moveTo>
                      <a:pt x="0" y="35719"/>
                    </a:moveTo>
                    <a:lnTo>
                      <a:pt x="35719" y="0"/>
                    </a:lnTo>
                    <a:lnTo>
                      <a:pt x="71438" y="35719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734502" y="3608546"/>
              <a:ext cx="481529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候选竞争、双 Critic 和 Selector 降低单次输出偶然性。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104900" y="4191000"/>
              <a:ext cx="4762500" cy="609600"/>
            </a:xfrm>
            <a:prstGeom prst="roundRect">
              <a:avLst>
                <a:gd name="adj" fmla="val 15625"/>
              </a:avLst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1369219" y="4388644"/>
              <a:ext cx="214312" cy="214312"/>
              <a:chOff x="1369219" y="4388644"/>
              <a:chExt cx="214312" cy="21431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369219" y="4555331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535906" y="4388644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23812" y="47625"/>
                    </a:move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393031" y="4412456"/>
                <a:ext cx="178594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78594" h="166688">
                    <a:moveTo>
                      <a:pt x="71438" y="166688"/>
                    </a:moveTo>
                    <a:lnTo>
                      <a:pt x="136922" y="166688"/>
                    </a:lnTo>
                    <a:cubicBezTo>
                      <a:pt x="159937" y="166688"/>
                      <a:pt x="178594" y="148030"/>
                      <a:pt x="178594" y="125016"/>
                    </a:cubicBezTo>
                    <a:cubicBezTo>
                      <a:pt x="178594" y="102001"/>
                      <a:pt x="159937" y="83344"/>
                      <a:pt x="136922" y="83344"/>
                    </a:cubicBezTo>
                    <a:lnTo>
                      <a:pt x="41672" y="83344"/>
                    </a:ln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734502" y="4408646"/>
              <a:ext cx="457776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失败先归因再路由，Refiner 获得更具体的修复任务。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452235" y="2094548"/>
            <a:ext cx="5650182" cy="2706052"/>
            <a:chOff x="6452235" y="2094548"/>
            <a:chExt cx="5650182" cy="2706052"/>
          </a:xfrm>
        </p:grpSpPr>
        <p:sp>
          <p:nvSpPr>
            <p:cNvPr id="30" name="TextBox 30"/>
            <p:cNvSpPr txBox="1"/>
            <p:nvPr/>
          </p:nvSpPr>
          <p:spPr>
            <a:xfrm>
              <a:off x="6452235" y="2094548"/>
              <a:ext cx="59559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限制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2590800"/>
              <a:ext cx="4610100" cy="609600"/>
            </a:xfrm>
            <a:prstGeom prst="roundRect">
              <a:avLst>
                <a:gd name="adj" fmla="val 15625"/>
              </a:avLst>
            </a:prstGeom>
            <a:solidFill>
              <a:srgbClr val="FEE2E2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6729412" y="2808565"/>
              <a:ext cx="238125" cy="158520"/>
            </a:xfrm>
            <a:custGeom>
              <a:avLst/>
              <a:gdLst/>
              <a:ahLst/>
              <a:cxnLst/>
              <a:rect l="l" t="t" r="r" b="b"/>
              <a:pathLst>
                <a:path w="238125" h="158520">
                  <a:moveTo>
                    <a:pt x="55447" y="158472"/>
                  </a:moveTo>
                  <a:cubicBezTo>
                    <a:pt x="24825" y="158472"/>
                    <a:pt x="0" y="134576"/>
                    <a:pt x="0" y="105096"/>
                  </a:cubicBezTo>
                  <a:cubicBezTo>
                    <a:pt x="0" y="75628"/>
                    <a:pt x="24825" y="51733"/>
                    <a:pt x="55447" y="51733"/>
                  </a:cubicBezTo>
                  <a:cubicBezTo>
                    <a:pt x="60127" y="30754"/>
                    <a:pt x="76807" y="13633"/>
                    <a:pt x="99203" y="6810"/>
                  </a:cubicBezTo>
                  <a:cubicBezTo>
                    <a:pt x="121587" y="0"/>
                    <a:pt x="146304" y="4512"/>
                    <a:pt x="164021" y="18717"/>
                  </a:cubicBezTo>
                  <a:cubicBezTo>
                    <a:pt x="181737" y="32885"/>
                    <a:pt x="189762" y="54519"/>
                    <a:pt x="185095" y="75498"/>
                  </a:cubicBezTo>
                  <a:lnTo>
                    <a:pt x="196882" y="75498"/>
                  </a:lnTo>
                  <a:cubicBezTo>
                    <a:pt x="219658" y="75498"/>
                    <a:pt x="238125" y="94071"/>
                    <a:pt x="238125" y="117003"/>
                  </a:cubicBezTo>
                  <a:cubicBezTo>
                    <a:pt x="238125" y="139946"/>
                    <a:pt x="219658" y="158520"/>
                    <a:pt x="196870" y="158520"/>
                  </a:cubicBezTo>
                  <a:lnTo>
                    <a:pt x="55447" y="158520"/>
                  </a:lnTo>
                </a:path>
              </a:pathLst>
            </a:custGeom>
            <a:noFill/>
            <a:ln w="19050">
              <a:solidFill>
                <a:srgbClr val="DC262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06602" y="2808446"/>
              <a:ext cx="397918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依赖 LLM 服务质量和 OpenRouter 排队情况。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77000" y="3390900"/>
              <a:ext cx="4610100" cy="609600"/>
            </a:xfrm>
            <a:prstGeom prst="roundRect">
              <a:avLst>
                <a:gd name="adj" fmla="val 15625"/>
              </a:avLst>
            </a:prstGeom>
            <a:solidFill>
              <a:srgbClr val="FEE2E2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765131" y="3636169"/>
              <a:ext cx="166688" cy="152400"/>
              <a:chOff x="6765131" y="3636169"/>
              <a:chExt cx="166688" cy="1524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765131" y="3636169"/>
                <a:ext cx="59531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119062">
                    <a:moveTo>
                      <a:pt x="0" y="0"/>
                    </a:moveTo>
                    <a:lnTo>
                      <a:pt x="59531" y="59531"/>
                    </a:lnTo>
                    <a:lnTo>
                      <a:pt x="0" y="119062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848475" y="3779044"/>
                <a:ext cx="833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9525">
                    <a:moveTo>
                      <a:pt x="0" y="0"/>
                    </a:moveTo>
                    <a:lnTo>
                      <a:pt x="83344" y="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106602" y="3608546"/>
              <a:ext cx="445424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渲染和检查覆盖的是实用 SVG 子集，不是完整规范。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77000" y="4191000"/>
              <a:ext cx="4610100" cy="609600"/>
            </a:xfrm>
            <a:prstGeom prst="roundRect">
              <a:avLst>
                <a:gd name="adj" fmla="val 15625"/>
              </a:avLst>
            </a:prstGeom>
            <a:solidFill>
              <a:srgbClr val="FEE2E2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741319" y="4400550"/>
              <a:ext cx="214313" cy="200025"/>
              <a:chOff x="6741319" y="4400550"/>
              <a:chExt cx="214313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741319" y="4495800"/>
                <a:ext cx="71438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0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83344"/>
                    </a:lnTo>
                    <a:cubicBezTo>
                      <a:pt x="71438" y="89919"/>
                      <a:pt x="66107" y="95250"/>
                      <a:pt x="59531" y="95250"/>
                    </a:cubicBezTo>
                    <a:lnTo>
                      <a:pt x="11906" y="95250"/>
                    </a:lnTo>
                    <a:cubicBezTo>
                      <a:pt x="5331" y="95250"/>
                      <a:pt x="0" y="89919"/>
                      <a:pt x="0" y="83344"/>
                    </a:cubicBezTo>
                    <a:lnTo>
                      <a:pt x="0" y="11906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884194" y="4448175"/>
                <a:ext cx="71438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42875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130969"/>
                    </a:lnTo>
                    <a:cubicBezTo>
                      <a:pt x="71438" y="137544"/>
                      <a:pt x="66107" y="142875"/>
                      <a:pt x="59531" y="142875"/>
                    </a:cubicBezTo>
                    <a:lnTo>
                      <a:pt x="11906" y="142875"/>
                    </a:lnTo>
                    <a:cubicBezTo>
                      <a:pt x="5331" y="142875"/>
                      <a:pt x="0" y="137544"/>
                      <a:pt x="0" y="130969"/>
                    </a:cubicBezTo>
                    <a:lnTo>
                      <a:pt x="0" y="11906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812756" y="4400550"/>
                <a:ext cx="7143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90500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178594"/>
                    </a:lnTo>
                    <a:cubicBezTo>
                      <a:pt x="71438" y="185169"/>
                      <a:pt x="66107" y="190500"/>
                      <a:pt x="59531" y="190500"/>
                    </a:cubicBezTo>
                    <a:lnTo>
                      <a:pt x="11906" y="190500"/>
                    </a:lnTo>
                    <a:cubicBezTo>
                      <a:pt x="5331" y="190500"/>
                      <a:pt x="0" y="185169"/>
                      <a:pt x="0" y="178594"/>
                    </a:cubicBezTo>
                    <a:lnTo>
                      <a:pt x="0" y="11906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753225" y="4591050"/>
                <a:ext cx="1666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9525">
                    <a:moveTo>
                      <a:pt x="0" y="0"/>
                    </a:move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106602" y="4408646"/>
              <a:ext cx="499581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当前实验样本规模有限，需要固定 prompt 集合批量评测。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104900" y="5219700"/>
            <a:ext cx="9982200" cy="533400"/>
            <a:chOff x="1104900" y="5219700"/>
            <a:chExt cx="9982200" cy="533400"/>
          </a:xfrm>
        </p:grpSpPr>
        <p:sp>
          <p:nvSpPr>
            <p:cNvPr id="47" name="Rectangle 47"/>
            <p:cNvSpPr/>
            <p:nvPr/>
          </p:nvSpPr>
          <p:spPr>
            <a:xfrm>
              <a:off x="1104900" y="5219700"/>
              <a:ext cx="9982200" cy="533400"/>
            </a:xfrm>
            <a:prstGeom prst="roundRect">
              <a:avLst>
                <a:gd name="adj" fmla="val 17857"/>
              </a:avLst>
            </a:prstGeom>
            <a:solidFill>
              <a:srgbClr val="CCFBF1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1366838" y="5386388"/>
              <a:ext cx="200025" cy="200025"/>
              <a:chOff x="1366838" y="5386388"/>
              <a:chExt cx="200025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1366838" y="5386388"/>
                <a:ext cx="2000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0012">
                    <a:moveTo>
                      <a:pt x="0" y="100012"/>
                    </a:moveTo>
                    <a:lnTo>
                      <a:pt x="11112" y="100012"/>
                    </a:lnTo>
                    <a:moveTo>
                      <a:pt x="100012" y="0"/>
                    </a:moveTo>
                    <a:lnTo>
                      <a:pt x="100012" y="11112"/>
                    </a:lnTo>
                    <a:moveTo>
                      <a:pt x="188913" y="100012"/>
                    </a:moveTo>
                    <a:lnTo>
                      <a:pt x="200025" y="100012"/>
                    </a:lnTo>
                    <a:moveTo>
                      <a:pt x="28892" y="28892"/>
                    </a:moveTo>
                    <a:lnTo>
                      <a:pt x="36671" y="36671"/>
                    </a:lnTo>
                    <a:moveTo>
                      <a:pt x="171133" y="28892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406576" y="54308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2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2" y="15304"/>
                      <a:pt x="112985" y="37992"/>
                    </a:cubicBezTo>
                    <a:cubicBezTo>
                      <a:pt x="120548" y="60681"/>
                      <a:pt x="112744" y="85663"/>
                      <a:pt x="93612" y="100012"/>
                    </a:cubicBezTo>
                    <a:cubicBezTo>
                      <a:pt x="84812" y="108723"/>
                      <a:pt x="80686" y="121102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2"/>
                      <a:pt x="35736" y="108723"/>
                      <a:pt x="26937" y="100012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441291" y="5541962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735455" y="5416868"/>
              <a:ext cx="70092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下一步：完整批量评测、人类偏好对比、扩展 SVG grammar、细化 repair route。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090612" y="5860256"/>
            <a:ext cx="64493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outputs: selected SVG / refined SVG / PNG preview / metrics / traces / memory records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202257" y="58845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6" grpId="0"/>
      <p:bldP spid="5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
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91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这次项目做的是 SVG Icon Agent，一个把短文本提示词转换成可编辑 SVG 图标的多 Agent 系统。我们没有选择直接调用文生图模型输出位图，而是把生成过程拆成目标管理、记忆检索、提示词改写、规划、候选生成、评审、选择、优化、验证、修复和记忆沉淀。右侧这些图标不是装饰图，而是项目实际 refined 输出里挑出的样例，用来说明系统最终产物就是可复查的图标资源。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这个项目和 Project 3 的对应关系主要有三点。第一，图形学对象是 SVG 图标，它要求 viewBox、路径、颜色和可编辑结构都能被检查。第二，Agent 不是一个名字，而是多个 LLM-backed Agent 分工完成窄任务。第三，项目输出不只是一张图片，还包括 SVG、PNG、gallery、metrics、trace、failure taxonomy 和 repair routes，这些文件能支撑复现和分析。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选择 SVG 图标生成，是因为这个任务更重视结构控制，而不是写实效果。文生图模型适合复杂场景、纹理和真实感输出，但它通常给的是 PNG 或 JPG，局部修改、语法检查和错误定位都不方便。图标和 UI 资产更需要可编辑路径、稳定配色、小尺寸可读性和可验证安全性。当前方案用 SVG Agent 流水线，就是把这些要求拆成可以检查和修复的结构化任务。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总体架构可以分三层看。左侧是 RAG 输入，Memory Retrieval Tool 从本地历史运行中检索相似经验，把成功策略和失败模式交给 Goal Manager。中间是主生成链路，Goal、Rewriter、Planner 和 Generator 逐步把用户提示词变成结构化计划和多个 SVG 草稿。右侧是协作和修复链路，两个 Critic 评审候选，Selector 选择 winner，Optimizer 改写 baseline，Validator 发现问题后再进入 Taxonomy、Router 和 Refiner 闭环。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这里的 RAG 不是外部资料库，而是项目自己的运行记忆。每条 MemoryRecord 保存 prompt、summary、成功策略、失败模式、用户反馈、分数和标签。检索时用 BM25 从本地 jsonl 中取 top-k 经验，Goal Manager 再据此生成 objective、visual requirements、constraints 和 acceptance criteria。这样做的价值是让系统下一次生成时能利用已有失败，而不是每次从零开始。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生成阶段不是让模型一次性给答案，而是先生成多个候选。Multi-Candidate Generator 通常输出三个 SVG 草稿，Semantic Critic 关注语义对齐和小尺寸识别，SVG Quality Critic 关注可编辑性、安全性和渲染风险，并结合 SvgCheckTool 的机器检查结果。Consensus Selector 不是只给一个分数，它还会给下游 Optimizer 写 repair brief，所以选择过程是可以解释的。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修复闭环的重点是先诊断，再修复。Validator 给出 score、valid 和 issue list，如果发现 warning 或 error，Failure Taxonomy 会把问题分类到语法安全、渲染、语义偏差、布局等类型。Repair Router 再选择路线，例如 safety rebuild、semantic recomposition 或 simplification。Refiner 最后拿到这些上下文，返回完整修复后的 SVG。现有样本里 coffee 从 70 分到 95 分，dog 从 65 分到 100 分，说明这个闭环不是摆设。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Web UI 的作用是把 Agent 流程暴露出来。它显示每个节点 waiting、active、done、skipped 或 error 的状态，也显示 prompt rewrite、memory context、候选图、selected、baseline 和 refined 输出。右侧是我从项目生成结果里挑出的八个比较稳定的例子，覆盖对象、动物、场景、安全和 UI 类图标。选择标准不是分数最高就完事，而是轮廓清楚、放大后不乱、能代表不同 prompt 类型。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当前工作区里有十五个 Web 单 prompt 样本。Baseline 阶段有十三个通过验证，Refined 阶段十五个都通过；平均分从 89.33 到 93.20，最大修复轮数是三轮。这个结果说明修复链路确实能提高有效率，但我不会把它说成完整 benchmark。严格实验还需要固定十二个 prompt 一次性批跑，并和 single workflow 做更系统的对比。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最后总结三点。第一，RAG 记忆让历史经验进入目标设定。第二，多候选、双 Critic 和 Selector 让生成不完全依赖一次模型输出。第三，Validator、Taxonomy、Router 和 Refiner 让失败修复更具体。限制也很明确：系统依赖 LLM 服务质量，SVG 检查覆盖的是实用子集，当前实验规模还不够大。下一步应该做完整批量评测、人类偏好对比，并继续扩展 SVG grammar 和 repair route。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0" Type="http://schemas.openxmlformats.org/officeDocument/2006/relationships/notesSlide" Target="../notesSlides/notesSlide8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14350"/>
            <a:ext cx="11125200" cy="58293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533400" y="514350"/>
            <a:ext cx="133350" cy="5829300"/>
          </a:xfrm>
          <a:prstGeom prst="roundRect">
            <a:avLst>
              <a:gd name="adj" fmla="val 50000"/>
            </a:avLst>
          </a:prstGeom>
          <a:solidFill>
            <a:srgbClr val="1D4ED8"/>
          </a:solidFill>
          <a:ln>
            <a:noFill/>
          </a:ln>
        </p:spPr>
      </p:sp>
      <p:grpSp>
        <p:nvGrpSpPr>
          <p:cNvPr id="9" name="Group 9"/>
          <p:cNvGrpSpPr/>
          <p:nvPr/>
        </p:nvGrpSpPr>
        <p:grpSpPr>
          <a:xfrm>
            <a:off x="1002030" y="973455"/>
            <a:ext cx="6172676" cy="1732280"/>
            <a:chOff x="1002030" y="973455"/>
            <a:chExt cx="6172676" cy="1732280"/>
          </a:xfrm>
        </p:grpSpPr>
        <p:sp>
          <p:nvSpPr>
            <p:cNvPr id="5" name="TextBox 5"/>
            <p:cNvSpPr txBox="1"/>
            <p:nvPr/>
          </p:nvSpPr>
          <p:spPr>
            <a:xfrm>
              <a:off x="1002030" y="973455"/>
              <a:ext cx="5092460" cy="1036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1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SVG Icon Agent</a:t>
              </a:r>
              <a:endParaRPr lang="zh-CN" sz="51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080135" y="1865948"/>
              <a:ext cx="4854931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4ED8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可编辑 SVG 图标生成的多 Agent 流水线</a:t>
              </a:r>
              <a:endParaRPr lang="zh-CN" sz="1950" b="1" dirty="0">
                <a:solidFill>
                  <a:srgbClr val="1D4ED8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85850" y="2400935"/>
              <a:ext cx="60888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目标：把短提示词变成可检查、可修复、可追踪的 SVG 图标生成过程</a:t>
              </a:r>
              <a:endParaRPr lang="zh-CN" sz="150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1104900" y="3676650"/>
            <a:ext cx="7367349" cy="1123950"/>
            <a:chOff x="1104900" y="3676650"/>
            <a:chExt cx="7367349" cy="1123950"/>
          </a:xfrm>
        </p:grpSpPr>
        <p:sp>
          <p:nvSpPr>
            <p:cNvPr id="10" name="Rectangle 10"/>
            <p:cNvSpPr/>
            <p:nvPr/>
          </p:nvSpPr>
          <p:spPr>
            <a:xfrm>
              <a:off x="1104900" y="3676650"/>
              <a:ext cx="7367270" cy="1123950"/>
            </a:xfrm>
            <a:prstGeom prst="roundRect">
              <a:avLst>
                <a:gd name="adj" fmla="val 10169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7" name="Group 17"/>
            <p:cNvGrpSpPr/>
            <p:nvPr/>
          </p:nvGrpSpPr>
          <p:grpSpPr>
            <a:xfrm>
              <a:off x="1462881" y="4092575"/>
              <a:ext cx="273845" cy="292100"/>
              <a:chOff x="1462881" y="4092575"/>
              <a:chExt cx="273845" cy="29210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462881" y="4311650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2"/>
                    </a:moveTo>
                    <a:cubicBezTo>
                      <a:pt x="0" y="56678"/>
                      <a:pt x="16347" y="73025"/>
                      <a:pt x="36512" y="73025"/>
                    </a:cubicBezTo>
                    <a:cubicBezTo>
                      <a:pt x="56678" y="73025"/>
                      <a:pt x="73025" y="56678"/>
                      <a:pt x="73025" y="36512"/>
                    </a:cubicBezTo>
                    <a:cubicBezTo>
                      <a:pt x="73025" y="16347"/>
                      <a:pt x="56678" y="0"/>
                      <a:pt x="36512" y="0"/>
                    </a:cubicBezTo>
                    <a:cubicBezTo>
                      <a:pt x="16347" y="0"/>
                      <a:pt x="0" y="16347"/>
                      <a:pt x="0" y="365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462881" y="4092575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2"/>
                    </a:moveTo>
                    <a:cubicBezTo>
                      <a:pt x="0" y="56678"/>
                      <a:pt x="16347" y="73025"/>
                      <a:pt x="36512" y="73025"/>
                    </a:cubicBezTo>
                    <a:cubicBezTo>
                      <a:pt x="56678" y="73025"/>
                      <a:pt x="73025" y="56678"/>
                      <a:pt x="73025" y="36512"/>
                    </a:cubicBezTo>
                    <a:cubicBezTo>
                      <a:pt x="73025" y="16347"/>
                      <a:pt x="56678" y="0"/>
                      <a:pt x="36512" y="0"/>
                    </a:cubicBezTo>
                    <a:cubicBezTo>
                      <a:pt x="16347" y="0"/>
                      <a:pt x="0" y="16347"/>
                      <a:pt x="0" y="365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645444" y="4092575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2"/>
                    </a:moveTo>
                    <a:cubicBezTo>
                      <a:pt x="0" y="56678"/>
                      <a:pt x="16347" y="73025"/>
                      <a:pt x="36513" y="73025"/>
                    </a:cubicBezTo>
                    <a:cubicBezTo>
                      <a:pt x="56678" y="73025"/>
                      <a:pt x="73025" y="56678"/>
                      <a:pt x="73025" y="36512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499394" y="4165600"/>
                <a:ext cx="952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6050">
                    <a:moveTo>
                      <a:pt x="0" y="0"/>
                    </a:moveTo>
                    <a:lnTo>
                      <a:pt x="0" y="14605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535906" y="4220369"/>
                <a:ext cx="146050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146050" h="127794">
                    <a:moveTo>
                      <a:pt x="0" y="127794"/>
                    </a:moveTo>
                    <a:lnTo>
                      <a:pt x="109538" y="127794"/>
                    </a:lnTo>
                    <a:cubicBezTo>
                      <a:pt x="129703" y="127794"/>
                      <a:pt x="146050" y="111447"/>
                      <a:pt x="146050" y="91281"/>
                    </a:cubicBezTo>
                    <a:lnTo>
                      <a:pt x="14605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627188" y="4220369"/>
                <a:ext cx="109538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54769">
                    <a:moveTo>
                      <a:pt x="0" y="54769"/>
                    </a:moveTo>
                    <a:lnTo>
                      <a:pt x="54769" y="0"/>
                    </a:lnTo>
                    <a:lnTo>
                      <a:pt x="109538" y="54769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2000250" y="3933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核心主张</a:t>
              </a:r>
              <a:endParaRPr lang="zh-CN" sz="15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002155" y="4273868"/>
              <a:ext cx="647009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不是一次模型调用，而是“记忆检索 + 多 Agent 协作 + 验证修复”的工程化生成。</a:t>
              </a:r>
              <a:endParaRPr lang="zh-CN" sz="135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33" name="TextBox 33"/>
          <p:cNvSpPr txBox="1"/>
          <p:nvPr/>
        </p:nvSpPr>
        <p:spPr>
          <a:xfrm>
            <a:off x="11202035" y="5865495"/>
            <a:ext cx="125095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01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4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20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415861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Agent 不只是一次模型调用</a:t>
            </a:r>
            <a:endParaRPr lang="zh-CN" sz="2700" b="1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4114800" cy="207645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把“图标生成”做成有状态、有工具、有反馈的系统。</a:t>
            </a:r>
            <a:endParaRPr lang="zh-CN" sz="1350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19" name="Group 19"/>
          <p:cNvGrpSpPr/>
          <p:nvPr/>
        </p:nvGrpSpPr>
        <p:grpSpPr>
          <a:xfrm>
            <a:off x="723900" y="1790700"/>
            <a:ext cx="3314700" cy="3429000"/>
            <a:chOff x="723900" y="1790700"/>
            <a:chExt cx="3314700" cy="3429000"/>
          </a:xfrm>
        </p:grpSpPr>
        <p:sp>
          <p:nvSpPr>
            <p:cNvPr id="6" name="Rectangle 6"/>
            <p:cNvSpPr/>
            <p:nvPr/>
          </p:nvSpPr>
          <p:spPr>
            <a:xfrm>
              <a:off x="723900" y="1790700"/>
              <a:ext cx="3314700" cy="3429000"/>
            </a:xfrm>
            <a:prstGeom prst="roundRect">
              <a:avLst>
                <a:gd name="adj" fmla="val 287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23900" y="1790700"/>
              <a:ext cx="3314700" cy="76200"/>
            </a:xfrm>
            <a:prstGeom prst="roundRect">
              <a:avLst>
                <a:gd name="adj" fmla="val 50000"/>
              </a:avLst>
            </a:prstGeom>
            <a:solidFill>
              <a:srgbClr val="1D4ED8"/>
            </a:solidFill>
            <a:ln>
              <a:noFill/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63625" y="2225675"/>
              <a:ext cx="292101" cy="292100"/>
              <a:chOff x="1063625" y="2225675"/>
              <a:chExt cx="292101" cy="292100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1063625" y="2225675"/>
                <a:ext cx="109538" cy="91281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91281">
                    <a:moveTo>
                      <a:pt x="0" y="36513"/>
                    </a:moveTo>
                    <a:cubicBezTo>
                      <a:pt x="0" y="16347"/>
                      <a:pt x="16347" y="0"/>
                      <a:pt x="36512" y="0"/>
                    </a:cubicBezTo>
                    <a:lnTo>
                      <a:pt x="73025" y="0"/>
                    </a:lnTo>
                    <a:cubicBezTo>
                      <a:pt x="93190" y="0"/>
                      <a:pt x="109538" y="16347"/>
                      <a:pt x="109538" y="36513"/>
                    </a:cubicBezTo>
                    <a:lnTo>
                      <a:pt x="109538" y="54769"/>
                    </a:lnTo>
                    <a:cubicBezTo>
                      <a:pt x="109538" y="74934"/>
                      <a:pt x="93190" y="91281"/>
                      <a:pt x="73025" y="91281"/>
                    </a:cubicBezTo>
                    <a:lnTo>
                      <a:pt x="36512" y="91281"/>
                    </a:lnTo>
                    <a:cubicBezTo>
                      <a:pt x="16347" y="91281"/>
                      <a:pt x="0" y="74934"/>
                      <a:pt x="0" y="54769"/>
                    </a:cubicBezTo>
                    <a:lnTo>
                      <a:pt x="0" y="3651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063625" y="2389981"/>
                <a:ext cx="109538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127794">
                    <a:moveTo>
                      <a:pt x="0" y="36513"/>
                    </a:moveTo>
                    <a:cubicBezTo>
                      <a:pt x="0" y="16347"/>
                      <a:pt x="16347" y="0"/>
                      <a:pt x="36512" y="0"/>
                    </a:cubicBezTo>
                    <a:lnTo>
                      <a:pt x="73025" y="0"/>
                    </a:lnTo>
                    <a:cubicBezTo>
                      <a:pt x="93190" y="0"/>
                      <a:pt x="109538" y="16347"/>
                      <a:pt x="109538" y="36513"/>
                    </a:cubicBezTo>
                    <a:lnTo>
                      <a:pt x="109538" y="91281"/>
                    </a:lnTo>
                    <a:cubicBezTo>
                      <a:pt x="109538" y="111447"/>
                      <a:pt x="93190" y="127794"/>
                      <a:pt x="73025" y="127794"/>
                    </a:cubicBezTo>
                    <a:lnTo>
                      <a:pt x="36512" y="127794"/>
                    </a:lnTo>
                    <a:cubicBezTo>
                      <a:pt x="16347" y="127794"/>
                      <a:pt x="0" y="111447"/>
                      <a:pt x="0" y="91281"/>
                    </a:cubicBezTo>
                    <a:lnTo>
                      <a:pt x="0" y="3651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246188" y="2225675"/>
                <a:ext cx="109538" cy="292100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292100">
                    <a:moveTo>
                      <a:pt x="0" y="36513"/>
                    </a:moveTo>
                    <a:cubicBezTo>
                      <a:pt x="0" y="16347"/>
                      <a:pt x="16347" y="0"/>
                      <a:pt x="36512" y="0"/>
                    </a:cubicBezTo>
                    <a:lnTo>
                      <a:pt x="73025" y="0"/>
                    </a:lnTo>
                    <a:cubicBezTo>
                      <a:pt x="93190" y="0"/>
                      <a:pt x="109538" y="16347"/>
                      <a:pt x="109538" y="36513"/>
                    </a:cubicBezTo>
                    <a:lnTo>
                      <a:pt x="109538" y="255588"/>
                    </a:lnTo>
                    <a:cubicBezTo>
                      <a:pt x="109538" y="275753"/>
                      <a:pt x="93190" y="292100"/>
                      <a:pt x="73025" y="292100"/>
                    </a:cubicBezTo>
                    <a:lnTo>
                      <a:pt x="36512" y="292100"/>
                    </a:lnTo>
                    <a:cubicBezTo>
                      <a:pt x="16347" y="292100"/>
                      <a:pt x="0" y="275753"/>
                      <a:pt x="0" y="255588"/>
                    </a:cubicBezTo>
                    <a:lnTo>
                      <a:pt x="0" y="3651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1577340" y="21869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图形学对象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1550" y="2828925"/>
              <a:ext cx="288845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输出不是位图，而是</a:t>
              </a:r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 </a:t>
              </a:r>
              <a:r>
                <a:rPr lang="zh-CN" sz="1500" b="1" dirty="0">
                  <a:solidFill>
                    <a:srgbClr val="1D4ED8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可编辑 SVG</a:t>
              </a:r>
              <a:endParaRPr lang="zh-CN" sz="1500" b="1" dirty="0">
                <a:solidFill>
                  <a:srgbClr val="1D4ED8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71550" y="3152775"/>
              <a:ext cx="305847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需要满足 viewBox、路径、颜色、</a:t>
              </a:r>
              <a:endParaRPr lang="zh-CN" sz="15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71550" y="3476625"/>
              <a:ext cx="203835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可解析性和渲染安全。</a:t>
              </a:r>
              <a:endParaRPr lang="zh-CN" sz="15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90600" y="4133850"/>
              <a:ext cx="2781300" cy="723900"/>
            </a:xfrm>
            <a:prstGeom prst="roundRect">
              <a:avLst>
                <a:gd name="adj" fmla="val 10526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65860" y="4309110"/>
              <a:ext cx="118262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/>
                  <a:ea typeface="微软雅黑"/>
                  <a:cs typeface="Consolas"/>
                </a:rPr>
                <a:t>baseline/*.svg</a:t>
              </a:r>
              <a:endParaRPr lang="zh-CN" sz="1200" dirty="0">
                <a:solidFill>
                  <a:srgbClr val="64748B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165860" y="4575810"/>
              <a:ext cx="11346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/>
                  <a:ea typeface="微软雅黑"/>
                  <a:cs typeface="Consolas"/>
                </a:rPr>
                <a:t>refined/*.svg</a:t>
              </a:r>
              <a:endParaRPr lang="zh-CN" sz="1200" dirty="0">
                <a:solidFill>
                  <a:srgbClr val="64748B"/>
                </a:solidFill>
                <a:latin typeface="Consolas"/>
                <a:ea typeface="微软雅黑"/>
                <a:cs typeface="Consolas"/>
              </a:endParaRP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4438650" y="1790700"/>
            <a:ext cx="3833336" cy="3429000"/>
            <a:chOff x="4438650" y="1790700"/>
            <a:chExt cx="3833336" cy="3429000"/>
          </a:xfrm>
        </p:grpSpPr>
        <p:sp>
          <p:nvSpPr>
            <p:cNvPr id="20" name="Rectangle 20"/>
            <p:cNvSpPr/>
            <p:nvPr/>
          </p:nvSpPr>
          <p:spPr>
            <a:xfrm>
              <a:off x="4438650" y="1790700"/>
              <a:ext cx="3314700" cy="3429000"/>
            </a:xfrm>
            <a:prstGeom prst="roundRect">
              <a:avLst>
                <a:gd name="adj" fmla="val 287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1" name="Rectangle 21"/>
            <p:cNvSpPr/>
            <p:nvPr/>
          </p:nvSpPr>
          <p:spPr>
            <a:xfrm>
              <a:off x="4438650" y="1790700"/>
              <a:ext cx="3314700" cy="76200"/>
            </a:xfrm>
            <a:prstGeom prst="roundRect">
              <a:avLst>
                <a:gd name="adj" fmla="val 50000"/>
              </a:avLst>
            </a:prstGeom>
            <a:solidFill>
              <a:srgbClr val="0F766E"/>
            </a:solidFill>
            <a:ln>
              <a:noFill/>
            </a:ln>
          </p:spPr>
        </p:sp>
        <p:grpSp>
          <p:nvGrpSpPr>
            <p:cNvPr id="28" name="Group 28"/>
            <p:cNvGrpSpPr/>
            <p:nvPr/>
          </p:nvGrpSpPr>
          <p:grpSpPr>
            <a:xfrm>
              <a:off x="4796631" y="2225675"/>
              <a:ext cx="273845" cy="292100"/>
              <a:chOff x="4796631" y="2225675"/>
              <a:chExt cx="273845" cy="292100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796631" y="2444750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2"/>
                    </a:moveTo>
                    <a:cubicBezTo>
                      <a:pt x="0" y="56678"/>
                      <a:pt x="16347" y="73025"/>
                      <a:pt x="36513" y="73025"/>
                    </a:cubicBezTo>
                    <a:cubicBezTo>
                      <a:pt x="56678" y="73025"/>
                      <a:pt x="73025" y="56678"/>
                      <a:pt x="73025" y="36512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4796631" y="2225675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3"/>
                    </a:moveTo>
                    <a:cubicBezTo>
                      <a:pt x="0" y="56678"/>
                      <a:pt x="16347" y="73025"/>
                      <a:pt x="36513" y="73025"/>
                    </a:cubicBezTo>
                    <a:cubicBezTo>
                      <a:pt x="56678" y="73025"/>
                      <a:pt x="73025" y="56678"/>
                      <a:pt x="73025" y="36513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3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4979194" y="2225675"/>
                <a:ext cx="73025" cy="73025"/>
              </a:xfrm>
              <a:custGeom>
                <a:avLst/>
                <a:gdLst/>
                <a:ahLst/>
                <a:cxnLst/>
                <a:rect l="l" t="t" r="r" b="b"/>
                <a:pathLst>
                  <a:path w="73025" h="73025">
                    <a:moveTo>
                      <a:pt x="0" y="36513"/>
                    </a:moveTo>
                    <a:cubicBezTo>
                      <a:pt x="0" y="56678"/>
                      <a:pt x="16347" y="73025"/>
                      <a:pt x="36513" y="73025"/>
                    </a:cubicBezTo>
                    <a:cubicBezTo>
                      <a:pt x="56678" y="73025"/>
                      <a:pt x="73025" y="56678"/>
                      <a:pt x="73025" y="36513"/>
                    </a:cubicBezTo>
                    <a:cubicBezTo>
                      <a:pt x="73025" y="16347"/>
                      <a:pt x="56678" y="0"/>
                      <a:pt x="36513" y="0"/>
                    </a:cubicBezTo>
                    <a:cubicBezTo>
                      <a:pt x="16347" y="0"/>
                      <a:pt x="0" y="16347"/>
                      <a:pt x="0" y="36513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4833144" y="2298700"/>
                <a:ext cx="9525" cy="1460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146050">
                    <a:moveTo>
                      <a:pt x="0" y="0"/>
                    </a:moveTo>
                    <a:lnTo>
                      <a:pt x="0" y="14605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869656" y="2353469"/>
                <a:ext cx="146050" cy="127794"/>
              </a:xfrm>
              <a:custGeom>
                <a:avLst/>
                <a:gdLst/>
                <a:ahLst/>
                <a:cxnLst/>
                <a:rect l="l" t="t" r="r" b="b"/>
                <a:pathLst>
                  <a:path w="146050" h="127794">
                    <a:moveTo>
                      <a:pt x="0" y="127794"/>
                    </a:moveTo>
                    <a:lnTo>
                      <a:pt x="109538" y="127794"/>
                    </a:lnTo>
                    <a:cubicBezTo>
                      <a:pt x="129703" y="127794"/>
                      <a:pt x="146050" y="111447"/>
                      <a:pt x="146050" y="91281"/>
                    </a:cubicBezTo>
                    <a:lnTo>
                      <a:pt x="14605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4960938" y="2353469"/>
                <a:ext cx="109538" cy="54769"/>
              </a:xfrm>
              <a:custGeom>
                <a:avLst/>
                <a:gdLst/>
                <a:ahLst/>
                <a:cxnLst/>
                <a:rect l="l" t="t" r="r" b="b"/>
                <a:pathLst>
                  <a:path w="109538" h="54769">
                    <a:moveTo>
                      <a:pt x="0" y="54769"/>
                    </a:moveTo>
                    <a:lnTo>
                      <a:pt x="54769" y="0"/>
                    </a:lnTo>
                    <a:lnTo>
                      <a:pt x="109538" y="54769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5292090" y="2186940"/>
              <a:ext cx="131847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Agent 设计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4514850" y="2828925"/>
              <a:ext cx="348853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Goal Manager、Rewriter、Planner、</a:t>
              </a:r>
              <a:endParaRPr lang="zh-CN" sz="15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4514850" y="3152775"/>
              <a:ext cx="3018473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Generator、Critic、Selector、</a:t>
              </a:r>
              <a:endParaRPr lang="zh-CN" sz="15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503420" y="3476625"/>
              <a:ext cx="376856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Validator、Router、Refiner 分工明确。</a:t>
              </a:r>
              <a:endParaRPr lang="zh-CN" sz="15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4705350" y="4133850"/>
              <a:ext cx="2781300" cy="723900"/>
            </a:xfrm>
            <a:prstGeom prst="roundRect">
              <a:avLst>
                <a:gd name="adj" fmla="val 10526"/>
              </a:avLst>
            </a:prstGeom>
            <a:solidFill>
              <a:srgbClr val="CCFBF1"/>
            </a:solidFill>
            <a:ln w="9525">
              <a:solidFill>
                <a:srgbClr val="CBD5E1"/>
              </a:solidFill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4879658" y="4301014"/>
              <a:ext cx="283773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每个 LLM Agent 只处理一个窄任务，</a:t>
              </a:r>
              <a:endParaRPr lang="zh-CN" sz="127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879658" y="4567714"/>
              <a:ext cx="173259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工具负责可验证检查。</a:t>
              </a:r>
              <a:endParaRPr lang="zh-CN" sz="127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8153400" y="1790700"/>
            <a:ext cx="3786188" cy="3429000"/>
            <a:chOff x="8153400" y="1790700"/>
            <a:chExt cx="3786188" cy="3429000"/>
          </a:xfrm>
        </p:grpSpPr>
        <p:sp>
          <p:nvSpPr>
            <p:cNvPr id="37" name="Rectangle 37"/>
            <p:cNvSpPr/>
            <p:nvPr/>
          </p:nvSpPr>
          <p:spPr>
            <a:xfrm>
              <a:off x="8153400" y="1790700"/>
              <a:ext cx="3314700" cy="3429000"/>
            </a:xfrm>
            <a:prstGeom prst="roundRect">
              <a:avLst>
                <a:gd name="adj" fmla="val 287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38" name="Rectangle 38"/>
            <p:cNvSpPr/>
            <p:nvPr/>
          </p:nvSpPr>
          <p:spPr>
            <a:xfrm>
              <a:off x="8153400" y="1790700"/>
              <a:ext cx="3314700" cy="76200"/>
            </a:xfrm>
            <a:prstGeom prst="roundRect">
              <a:avLst>
                <a:gd name="adj" fmla="val 50000"/>
              </a:avLst>
            </a:prstGeom>
            <a:solidFill>
              <a:srgbClr val="F59E0B"/>
            </a:solidFill>
            <a:ln>
              <a:noFill/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511381" y="2207419"/>
              <a:ext cx="292100" cy="346869"/>
              <a:chOff x="8511381" y="2207419"/>
              <a:chExt cx="292100" cy="346869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675688" y="2207419"/>
                <a:ext cx="91281" cy="91281"/>
              </a:xfrm>
              <a:custGeom>
                <a:avLst/>
                <a:gdLst/>
                <a:ahLst/>
                <a:cxnLst/>
                <a:rect l="l" t="t" r="r" b="b"/>
                <a:pathLst>
                  <a:path w="91281" h="91281">
                    <a:moveTo>
                      <a:pt x="0" y="0"/>
                    </a:moveTo>
                    <a:lnTo>
                      <a:pt x="0" y="73025"/>
                    </a:lnTo>
                    <a:cubicBezTo>
                      <a:pt x="0" y="83108"/>
                      <a:pt x="8174" y="91281"/>
                      <a:pt x="18256" y="91281"/>
                    </a:cubicBezTo>
                    <a:lnTo>
                      <a:pt x="91281" y="91281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511381" y="2207419"/>
                <a:ext cx="292100" cy="346869"/>
              </a:xfrm>
              <a:custGeom>
                <a:avLst/>
                <a:gdLst/>
                <a:ahLst/>
                <a:cxnLst/>
                <a:rect l="l" t="t" r="r" b="b"/>
                <a:pathLst>
                  <a:path w="292100" h="346869">
                    <a:moveTo>
                      <a:pt x="118666" y="328612"/>
                    </a:moveTo>
                    <a:lnTo>
                      <a:pt x="36512" y="328612"/>
                    </a:lnTo>
                    <a:cubicBezTo>
                      <a:pt x="16347" y="328612"/>
                      <a:pt x="0" y="312265"/>
                      <a:pt x="0" y="292100"/>
                    </a:cubicBezTo>
                    <a:lnTo>
                      <a:pt x="0" y="36513"/>
                    </a:lnTo>
                    <a:cubicBezTo>
                      <a:pt x="0" y="16347"/>
                      <a:pt x="16347" y="0"/>
                      <a:pt x="36512" y="0"/>
                    </a:cubicBezTo>
                    <a:lnTo>
                      <a:pt x="164306" y="0"/>
                    </a:lnTo>
                    <a:lnTo>
                      <a:pt x="255587" y="91281"/>
                    </a:lnTo>
                    <a:lnTo>
                      <a:pt x="255587" y="182562"/>
                    </a:lnTo>
                    <a:moveTo>
                      <a:pt x="164306" y="292100"/>
                    </a:moveTo>
                    <a:lnTo>
                      <a:pt x="292100" y="292100"/>
                    </a:lnTo>
                    <a:moveTo>
                      <a:pt x="237331" y="237331"/>
                    </a:moveTo>
                    <a:lnTo>
                      <a:pt x="292100" y="292100"/>
                    </a:lnTo>
                    <a:lnTo>
                      <a:pt x="237331" y="34686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9006840" y="21869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交付证据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01050" y="2828925"/>
              <a:ext cx="3168491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输出可复查：SVG、PNG、gallery、</a:t>
              </a:r>
              <a:endParaRPr lang="zh-CN" sz="15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8401050" y="3152775"/>
              <a:ext cx="336851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metrics、trace、raw responses、</a:t>
              </a:r>
              <a:endParaRPr lang="zh-CN" sz="15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8401050" y="3476625"/>
              <a:ext cx="353853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failure taxonomy 和 repair routes。</a:t>
              </a:r>
              <a:endParaRPr lang="zh-CN" sz="15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6" name="Rectangle 46"/>
            <p:cNvSpPr/>
            <p:nvPr/>
          </p:nvSpPr>
          <p:spPr>
            <a:xfrm>
              <a:off x="8420100" y="4133850"/>
              <a:ext cx="2781300" cy="723900"/>
            </a:xfrm>
            <a:prstGeom prst="roundRect">
              <a:avLst>
                <a:gd name="adj" fmla="val 10526"/>
              </a:avLst>
            </a:prstGeom>
            <a:solidFill>
              <a:srgbClr val="FEF3C7"/>
            </a:solidFill>
            <a:ln w="9525">
              <a:solidFill>
                <a:srgbClr val="CBD5E1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595360" y="4309110"/>
              <a:ext cx="103860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/>
                  <a:ea typeface="微软雅黑"/>
                  <a:cs typeface="Consolas"/>
                </a:rPr>
                <a:t>metrics.json</a:t>
              </a:r>
              <a:endParaRPr lang="zh-CN" sz="1200" dirty="0">
                <a:solidFill>
                  <a:srgbClr val="64748B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8595360" y="4575810"/>
              <a:ext cx="117462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Consolas"/>
                  <a:ea typeface="微软雅黑"/>
                  <a:cs typeface="Consolas"/>
                </a:rPr>
                <a:t>llm_trace.json</a:t>
              </a:r>
              <a:endParaRPr lang="zh-CN" sz="1200" dirty="0">
                <a:solidFill>
                  <a:srgbClr val="64748B"/>
                </a:solidFill>
                <a:latin typeface="Consolas"/>
                <a:ea typeface="微软雅黑"/>
                <a:cs typeface="Consolas"/>
              </a:endParaRPr>
            </a:p>
          </p:txBody>
        </p:sp>
      </p:grpSp>
      <p:sp>
        <p:nvSpPr>
          <p:cNvPr id="51" name="TextBox 51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02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36" grpId="0"/>
      <p:bldP spid="49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1143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4321612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为什么选择 SVG 图标生成</a:t>
            </a:r>
            <a:endParaRPr lang="zh-CN" sz="2700" b="1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8558355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小图标看似简单，但同时要求语义准确、轮廓清楚、结构可编辑、语法安全；这正适合拆成 Agent 工作流。</a:t>
            </a:r>
            <a:endParaRPr lang="zh-CN" sz="1350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25" name="Group 25"/>
          <p:cNvGrpSpPr/>
          <p:nvPr/>
        </p:nvGrpSpPr>
        <p:grpSpPr>
          <a:xfrm>
            <a:off x="723900" y="1714500"/>
            <a:ext cx="4953000" cy="4255770"/>
            <a:chOff x="723900" y="1714500"/>
            <a:chExt cx="4953000" cy="4255770"/>
          </a:xfrm>
        </p:grpSpPr>
        <p:sp>
          <p:nvSpPr>
            <p:cNvPr id="6" name="Rectangle 6"/>
            <p:cNvSpPr/>
            <p:nvPr/>
          </p:nvSpPr>
          <p:spPr>
            <a:xfrm>
              <a:off x="723900" y="1714500"/>
              <a:ext cx="4953000" cy="425577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5840" y="1958340"/>
              <a:ext cx="1053846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核心约束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grpSp>
          <p:nvGrpSpPr>
            <p:cNvPr id="12" name="Group 12"/>
            <p:cNvGrpSpPr/>
            <p:nvPr/>
          </p:nvGrpSpPr>
          <p:grpSpPr>
            <a:xfrm>
              <a:off x="990600" y="2466975"/>
              <a:ext cx="4088130" cy="561975"/>
              <a:chOff x="990600" y="2466975"/>
              <a:chExt cx="4088130" cy="561975"/>
            </a:xfrm>
          </p:grpSpPr>
          <p:sp>
            <p:nvSpPr>
              <p:cNvPr id="8" name="Ellipse 8"/>
              <p:cNvSpPr/>
              <p:nvPr/>
            </p:nvSpPr>
            <p:spPr>
              <a:xfrm>
                <a:off x="990600" y="2495550"/>
                <a:ext cx="381000" cy="381000"/>
              </a:xfrm>
              <a:prstGeom prst="ellipse">
                <a:avLst/>
              </a:prstGeom>
              <a:solidFill>
                <a:srgbClr val="DBEAFE"/>
              </a:solidFill>
              <a:ln>
                <a:noFill/>
              </a:ln>
            </p:spPr>
          </p:sp>
          <p:sp>
            <p:nvSpPr>
              <p:cNvPr id="9" name="TextBox 9"/>
              <p:cNvSpPr txBox="1"/>
              <p:nvPr/>
            </p:nvSpPr>
            <p:spPr>
              <a:xfrm>
                <a:off x="1135601" y="2606992"/>
                <a:ext cx="90997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1D4ED8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1</a:t>
                </a:r>
                <a:endParaRPr lang="zh-CN" sz="1350" b="1" dirty="0">
                  <a:solidFill>
                    <a:srgbClr val="1D4ED8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1524000" y="2466975"/>
                <a:ext cx="1718310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输入短，但约束多</a:t>
                </a:r>
                <a:endParaRPr lang="zh-CN" sz="15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>
                <a:off x="1527810" y="2785110"/>
                <a:ext cx="355092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对象、风格、尺寸、配色和可读性都要同时满足。</a:t>
                </a:r>
                <a:endPara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  <p:sp>
          <p:nvSpPr>
            <p:cNvPr id="13" name="Line 13"/>
            <p:cNvSpPr/>
            <p:nvPr/>
          </p:nvSpPr>
          <p:spPr>
            <a:xfrm>
              <a:off x="1181100" y="29146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990600" y="3267075"/>
              <a:ext cx="3760089" cy="561975"/>
              <a:chOff x="990600" y="3267075"/>
              <a:chExt cx="3760089" cy="561975"/>
            </a:xfrm>
          </p:grpSpPr>
          <p:sp>
            <p:nvSpPr>
              <p:cNvPr id="14" name="Ellipse 14"/>
              <p:cNvSpPr/>
              <p:nvPr/>
            </p:nvSpPr>
            <p:spPr>
              <a:xfrm>
                <a:off x="990600" y="3295650"/>
                <a:ext cx="381000" cy="381000"/>
              </a:xfrm>
              <a:prstGeom prst="ellipse">
                <a:avLst/>
              </a:prstGeom>
              <a:solidFill>
                <a:srgbClr val="CCFBF1"/>
              </a:solidFill>
              <a:ln>
                <a:noFill/>
              </a:ln>
            </p:spPr>
          </p:sp>
          <p:sp>
            <p:nvSpPr>
              <p:cNvPr id="15" name="TextBox 15"/>
              <p:cNvSpPr txBox="1"/>
              <p:nvPr/>
            </p:nvSpPr>
            <p:spPr>
              <a:xfrm>
                <a:off x="1111974" y="34070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0F766E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2</a:t>
                </a:r>
                <a:endParaRPr lang="zh-CN" sz="1350" b="1" dirty="0">
                  <a:solidFill>
                    <a:srgbClr val="0F766E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24000" y="3267075"/>
                <a:ext cx="1508284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输出必须可编辑</a:t>
                </a:r>
                <a:endParaRPr lang="zh-CN" sz="15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527810" y="3585210"/>
                <a:ext cx="32228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SVG 需要保留路径、形状、文本和调色空间。</a:t>
                </a:r>
                <a:endPara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  <p:sp>
          <p:nvSpPr>
            <p:cNvPr id="19" name="Line 19"/>
            <p:cNvSpPr/>
            <p:nvPr/>
          </p:nvSpPr>
          <p:spPr>
            <a:xfrm>
              <a:off x="1181100" y="3714750"/>
              <a:ext cx="9525" cy="342900"/>
            </a:xfrm>
            <a:custGeom>
              <a:avLst/>
              <a:gdLst/>
              <a:ahLst/>
              <a:cxnLst/>
              <a:rect l="l" t="t" r="r" b="b"/>
              <a:pathLst>
                <a:path w="9525" h="342900">
                  <a:moveTo>
                    <a:pt x="0" y="0"/>
                  </a:moveTo>
                  <a:lnTo>
                    <a:pt x="0" y="342900"/>
                  </a:lnTo>
                </a:path>
              </a:pathLst>
            </a:custGeom>
            <a:noFill/>
            <a:ln w="19050">
              <a:solidFill>
                <a:srgbClr val="CBD5E1"/>
              </a:solidFill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990600" y="4067175"/>
              <a:ext cx="4560189" cy="561975"/>
              <a:chOff x="990600" y="4067175"/>
              <a:chExt cx="4560189" cy="561975"/>
            </a:xfrm>
          </p:grpSpPr>
          <p:sp>
            <p:nvSpPr>
              <p:cNvPr id="20" name="Ellipse 20"/>
              <p:cNvSpPr/>
              <p:nvPr/>
            </p:nvSpPr>
            <p:spPr>
              <a:xfrm>
                <a:off x="990600" y="4095750"/>
                <a:ext cx="381000" cy="381000"/>
              </a:xfrm>
              <a:prstGeom prst="ellipse">
                <a:avLst/>
              </a:prstGeom>
              <a:solidFill>
                <a:srgbClr val="FEF3C7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1111974" y="4207192"/>
                <a:ext cx="138253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350" b="1" dirty="0">
                    <a:solidFill>
                      <a:srgbClr val="F59E0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3</a:t>
                </a:r>
                <a:endParaRPr lang="zh-CN" sz="1350" b="1" dirty="0">
                  <a:solidFill>
                    <a:srgbClr val="F59E0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22" name="TextBox 22"/>
              <p:cNvSpPr txBox="1"/>
              <p:nvPr/>
            </p:nvSpPr>
            <p:spPr>
              <a:xfrm>
                <a:off x="1524000" y="4067175"/>
                <a:ext cx="1298258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错误要能定位</a:t>
                </a:r>
                <a:endParaRPr lang="zh-CN" sz="15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527810" y="4385310"/>
                <a:ext cx="402297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语义偏差、SVG 语法、外部引用、安全标签要分开处理。</a:t>
                </a:r>
                <a:endPara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</p:grpSp>
      <p:grpSp>
        <p:nvGrpSpPr>
          <p:cNvPr id="50" name="Group 50"/>
          <p:cNvGrpSpPr/>
          <p:nvPr/>
        </p:nvGrpSpPr>
        <p:grpSpPr>
          <a:xfrm>
            <a:off x="6057900" y="1714500"/>
            <a:ext cx="5478780" cy="4255770"/>
            <a:chOff x="6057900" y="1714500"/>
            <a:chExt cx="5478780" cy="4255770"/>
          </a:xfrm>
        </p:grpSpPr>
        <p:sp>
          <p:nvSpPr>
            <p:cNvPr id="26" name="Rectangle 26"/>
            <p:cNvSpPr/>
            <p:nvPr/>
          </p:nvSpPr>
          <p:spPr>
            <a:xfrm>
              <a:off x="6057900" y="1714500"/>
              <a:ext cx="5410200" cy="4255770"/>
            </a:xfrm>
            <a:prstGeom prst="roundRect">
              <a:avLst>
                <a:gd name="adj" fmla="val 3077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6339840" y="1958340"/>
              <a:ext cx="4179037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方案对比：文生图模型 vs SVG Agent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grpSp>
          <p:nvGrpSpPr>
            <p:cNvPr id="41" name="Group 41"/>
            <p:cNvGrpSpPr/>
            <p:nvPr/>
          </p:nvGrpSpPr>
          <p:grpSpPr>
            <a:xfrm>
              <a:off x="6362700" y="2438400"/>
              <a:ext cx="4911090" cy="2076450"/>
              <a:chOff x="6362700" y="2438400"/>
              <a:chExt cx="4911090" cy="2076450"/>
            </a:xfrm>
          </p:grpSpPr>
          <p:sp>
            <p:nvSpPr>
              <p:cNvPr id="28" name="Rectangle 28"/>
              <p:cNvSpPr/>
              <p:nvPr/>
            </p:nvSpPr>
            <p:spPr>
              <a:xfrm>
                <a:off x="6362700" y="2438400"/>
                <a:ext cx="2247900" cy="2076450"/>
              </a:xfrm>
              <a:prstGeom prst="roundRect">
                <a:avLst>
                  <a:gd name="adj" fmla="val 4587"/>
                </a:avLst>
              </a:prstGeom>
              <a:solidFill>
                <a:srgbClr val="FEE2E2"/>
              </a:solidFill>
              <a:ln w="9525">
                <a:solidFill>
                  <a:srgbClr val="DC2626"/>
                </a:solidFill>
              </a:ln>
            </p:spPr>
          </p:sp>
          <p:sp>
            <p:nvSpPr>
              <p:cNvPr id="29" name="TextBox 29"/>
              <p:cNvSpPr txBox="1"/>
              <p:nvPr/>
            </p:nvSpPr>
            <p:spPr>
              <a:xfrm>
                <a:off x="6591300" y="2619375"/>
                <a:ext cx="1088231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DC2626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文生图模型</a:t>
                </a:r>
                <a:endParaRPr lang="zh-CN" sz="1500" b="1" dirty="0">
                  <a:solidFill>
                    <a:srgbClr val="DC2626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6595110" y="2975610"/>
                <a:ext cx="1494663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输出：PNG/JPG 位图</a:t>
                </a:r>
                <a:endPara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1" name="TextBox 31"/>
              <p:cNvSpPr txBox="1"/>
              <p:nvPr/>
            </p:nvSpPr>
            <p:spPr>
              <a:xfrm>
                <a:off x="6595110" y="326136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编辑：局部修改成本高</a:t>
                </a:r>
                <a:endPara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6595110" y="354711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检查：难定位形状错误</a:t>
                </a:r>
                <a:endPara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595110" y="383286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适合：写实或复杂视觉</a:t>
                </a:r>
                <a:endPara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4" name="Polygon 34"/>
              <p:cNvSpPr/>
              <p:nvPr/>
            </p:nvSpPr>
            <p:spPr>
              <a:xfrm>
                <a:off x="8839200" y="3276600"/>
                <a:ext cx="361950" cy="342900"/>
              </a:xfrm>
              <a:custGeom>
                <a:avLst/>
                <a:gdLst/>
                <a:ahLst/>
                <a:cxnLst/>
                <a:rect l="l" t="t" r="r" b="b"/>
                <a:pathLst>
                  <a:path w="361950" h="342900">
                    <a:moveTo>
                      <a:pt x="0" y="171450"/>
                    </a:moveTo>
                    <a:lnTo>
                      <a:pt x="361950" y="0"/>
                    </a:lnTo>
                    <a:lnTo>
                      <a:pt x="361950" y="342900"/>
                    </a:lnTo>
                    <a:close/>
                  </a:path>
                </a:pathLst>
              </a:cu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5" name="Rectangle 35"/>
              <p:cNvSpPr/>
              <p:nvPr/>
            </p:nvSpPr>
            <p:spPr>
              <a:xfrm>
                <a:off x="9429750" y="2438400"/>
                <a:ext cx="1790700" cy="2076450"/>
              </a:xfrm>
              <a:prstGeom prst="roundRect">
                <a:avLst>
                  <a:gd name="adj" fmla="val 5319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9639300" y="2619375"/>
                <a:ext cx="1025223" cy="3048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00" b="1" dirty="0">
                    <a:solidFill>
                      <a:srgbClr val="0F766E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SVG Agent</a:t>
                </a:r>
                <a:endParaRPr lang="zh-CN" sz="1500" b="1" dirty="0">
                  <a:solidFill>
                    <a:srgbClr val="0F766E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7" name="TextBox 37"/>
              <p:cNvSpPr txBox="1"/>
              <p:nvPr/>
            </p:nvSpPr>
            <p:spPr>
              <a:xfrm>
                <a:off x="9643110" y="2975610"/>
                <a:ext cx="130263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输出：可编辑 SVG</a:t>
                </a:r>
                <a:endPara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9643110" y="3261360"/>
                <a:ext cx="15586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编辑：形状/颜色可调</a:t>
                </a:r>
                <a:endPara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9643110" y="3547110"/>
                <a:ext cx="163068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检查：语法和安全可测</a:t>
                </a:r>
                <a:endPara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40" name="TextBox 40"/>
              <p:cNvSpPr txBox="1"/>
              <p:nvPr/>
            </p:nvSpPr>
            <p:spPr>
              <a:xfrm>
                <a:off x="9643110" y="3832860"/>
                <a:ext cx="1542669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适合：图标和 UI 资产</a:t>
                </a:r>
                <a:endPara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  <p:grpSp>
          <p:nvGrpSpPr>
            <p:cNvPr id="49" name="Group 49"/>
            <p:cNvGrpSpPr/>
            <p:nvPr/>
          </p:nvGrpSpPr>
          <p:grpSpPr>
            <a:xfrm>
              <a:off x="6431560" y="4855369"/>
              <a:ext cx="5105120" cy="711993"/>
              <a:chOff x="6431560" y="4855369"/>
              <a:chExt cx="5105120" cy="711993"/>
            </a:xfrm>
          </p:grpSpPr>
          <p:grpSp>
            <p:nvGrpSpPr>
              <p:cNvPr id="45" name="Group 45"/>
              <p:cNvGrpSpPr/>
              <p:nvPr/>
            </p:nvGrpSpPr>
            <p:grpSpPr>
              <a:xfrm>
                <a:off x="6436519" y="4855369"/>
                <a:ext cx="214312" cy="214312"/>
                <a:chOff x="6436519" y="4855369"/>
                <a:chExt cx="214312" cy="214312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6531769" y="4950619"/>
                  <a:ext cx="23812" cy="238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812" h="23812">
                      <a:moveTo>
                        <a:pt x="0" y="11906"/>
                      </a:moveTo>
                      <a:cubicBezTo>
                        <a:pt x="0" y="18482"/>
                        <a:pt x="5331" y="23812"/>
                        <a:pt x="11906" y="23812"/>
                      </a:cubicBezTo>
                      <a:cubicBezTo>
                        <a:pt x="18482" y="23812"/>
                        <a:pt x="23812" y="18482"/>
                        <a:pt x="23812" y="11906"/>
                      </a:cubicBezTo>
                      <a:cubicBezTo>
                        <a:pt x="23812" y="5331"/>
                        <a:pt x="18482" y="0"/>
                        <a:pt x="11906" y="0"/>
                      </a:cubicBezTo>
                      <a:cubicBezTo>
                        <a:pt x="5331" y="0"/>
                        <a:pt x="0" y="5331"/>
                        <a:pt x="0" y="11906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6484144" y="4902994"/>
                  <a:ext cx="119062" cy="1190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062" h="119062">
                      <a:moveTo>
                        <a:pt x="0" y="59531"/>
                      </a:moveTo>
                      <a:cubicBezTo>
                        <a:pt x="0" y="92409"/>
                        <a:pt x="26653" y="119062"/>
                        <a:pt x="59531" y="119062"/>
                      </a:cubicBezTo>
                      <a:cubicBezTo>
                        <a:pt x="92409" y="119062"/>
                        <a:pt x="119062" y="92409"/>
                        <a:pt x="119062" y="59531"/>
                      </a:cubicBezTo>
                      <a:cubicBezTo>
                        <a:pt x="119062" y="26653"/>
                        <a:pt x="92409" y="0"/>
                        <a:pt x="59531" y="0"/>
                      </a:cubicBezTo>
                      <a:cubicBezTo>
                        <a:pt x="26653" y="0"/>
                        <a:pt x="0" y="26653"/>
                        <a:pt x="0" y="59531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44" name="Freeform 44"/>
                <p:cNvSpPr/>
                <p:nvPr/>
              </p:nvSpPr>
              <p:spPr>
                <a:xfrm>
                  <a:off x="6436519" y="4855369"/>
                  <a:ext cx="214312" cy="2143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14312" h="214312">
                      <a:moveTo>
                        <a:pt x="0" y="107156"/>
                      </a:moveTo>
                      <a:cubicBezTo>
                        <a:pt x="0" y="166337"/>
                        <a:pt x="47975" y="214312"/>
                        <a:pt x="107156" y="214312"/>
                      </a:cubicBezTo>
                      <a:cubicBezTo>
                        <a:pt x="166337" y="214312"/>
                        <a:pt x="214312" y="166337"/>
                        <a:pt x="214312" y="107156"/>
                      </a:cubicBezTo>
                      <a:cubicBezTo>
                        <a:pt x="214312" y="47975"/>
                        <a:pt x="166337" y="0"/>
                        <a:pt x="107156" y="0"/>
                      </a:cubicBezTo>
                      <a:cubicBezTo>
                        <a:pt x="47975" y="0"/>
                        <a:pt x="0" y="47975"/>
                        <a:pt x="0" y="107156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</p:grpSp>
          <p:sp>
            <p:nvSpPr>
              <p:cNvPr id="46" name="TextBox 46"/>
              <p:cNvSpPr txBox="1"/>
              <p:nvPr/>
            </p:nvSpPr>
            <p:spPr>
              <a:xfrm>
                <a:off x="6821805" y="4892992"/>
                <a:ext cx="4714875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因此选择当前方案：把图标生成变成可验证的结构化任务。</a:t>
                </a:r>
                <a:endParaRPr lang="zh-CN" sz="135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47" name="Freeform 47"/>
              <p:cNvSpPr/>
              <p:nvPr/>
            </p:nvSpPr>
            <p:spPr>
              <a:xfrm>
                <a:off x="6431560" y="5255419"/>
                <a:ext cx="224229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24229" h="214312">
                    <a:moveTo>
                      <a:pt x="112115" y="0"/>
                    </a:moveTo>
                    <a:cubicBezTo>
                      <a:pt x="139926" y="24605"/>
                      <a:pt x="176223" y="37416"/>
                      <a:pt x="213318" y="35719"/>
                    </a:cubicBezTo>
                    <a:cubicBezTo>
                      <a:pt x="224229" y="72837"/>
                      <a:pt x="219621" y="112793"/>
                      <a:pt x="200547" y="146453"/>
                    </a:cubicBezTo>
                    <a:cubicBezTo>
                      <a:pt x="181473" y="180113"/>
                      <a:pt x="149564" y="204599"/>
                      <a:pt x="112115" y="214312"/>
                    </a:cubicBezTo>
                    <a:cubicBezTo>
                      <a:pt x="74665" y="204599"/>
                      <a:pt x="42756" y="180113"/>
                      <a:pt x="23682" y="146453"/>
                    </a:cubicBezTo>
                    <a:cubicBezTo>
                      <a:pt x="4608" y="112793"/>
                      <a:pt x="0" y="72837"/>
                      <a:pt x="10911" y="35719"/>
                    </a:cubicBezTo>
                    <a:cubicBezTo>
                      <a:pt x="48006" y="37416"/>
                      <a:pt x="84304" y="24605"/>
                      <a:pt x="112115" y="0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6821805" y="5293042"/>
                <a:ext cx="4192810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失败不靠“再抽一次”，而是进入诊断、路由和修复。</a:t>
                </a:r>
                <a:endParaRPr lang="zh-CN" sz="135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</p:grpSp>
      <p:sp>
        <p:nvSpPr>
          <p:cNvPr id="52" name="TextBox 52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03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50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821549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总体架构：RAG 记忆 + 多 Agent 生成/验证/修复</a:t>
            </a:r>
            <a:endParaRPr lang="zh-CN" sz="2700" b="1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9242441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本地历史运行先作为 RAG 上下文进入 Goal Manager，随后 Agent 链路逐步收窄目标、生成候选、验证并修复 SVG。</a:t>
            </a:r>
            <a:endParaRPr lang="zh-CN" sz="1350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11" name="Group 11"/>
          <p:cNvGrpSpPr/>
          <p:nvPr/>
        </p:nvGrpSpPr>
        <p:grpSpPr>
          <a:xfrm>
            <a:off x="3257550" y="4953000"/>
            <a:ext cx="2514600" cy="400050"/>
            <a:chOff x="8858250" y="1562100"/>
            <a:chExt cx="2514600" cy="400050"/>
          </a:xfrm>
        </p:grpSpPr>
        <p:sp>
          <p:nvSpPr>
            <p:cNvPr id="6" name="Rectangle 6"/>
            <p:cNvSpPr/>
            <p:nvPr/>
          </p:nvSpPr>
          <p:spPr>
            <a:xfrm>
              <a:off x="8858250" y="1562100"/>
              <a:ext cx="2514600" cy="400050"/>
            </a:xfrm>
            <a:prstGeom prst="roundRect">
              <a:avLst>
                <a:gd name="adj" fmla="val 1904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9029700" y="1695450"/>
              <a:ext cx="171450" cy="133350"/>
            </a:xfrm>
            <a:prstGeom prst="roundRect">
              <a:avLst>
                <a:gd name="adj" fmla="val 21429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8" name="TextBox 8"/>
            <p:cNvSpPr txBox="1"/>
            <p:nvPr/>
          </p:nvSpPr>
          <p:spPr>
            <a:xfrm>
              <a:off x="9264968" y="1704499"/>
              <a:ext cx="66184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LLM Agent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9" name="Rectangle 9"/>
            <p:cNvSpPr/>
            <p:nvPr/>
          </p:nvSpPr>
          <p:spPr>
            <a:xfrm>
              <a:off x="9982200" y="1695450"/>
              <a:ext cx="171450" cy="133350"/>
            </a:xfrm>
            <a:prstGeom prst="roundRect">
              <a:avLst>
                <a:gd name="adj" fmla="val 21429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217468" y="1704499"/>
              <a:ext cx="2782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Tool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" y="1771650"/>
            <a:ext cx="2152650" cy="3371850"/>
            <a:chOff x="628650" y="1771650"/>
            <a:chExt cx="2152650" cy="3371850"/>
          </a:xfrm>
        </p:grpSpPr>
        <p:sp>
          <p:nvSpPr>
            <p:cNvPr id="12" name="Rectangle 12"/>
            <p:cNvSpPr/>
            <p:nvPr/>
          </p:nvSpPr>
          <p:spPr>
            <a:xfrm>
              <a:off x="628650" y="1771650"/>
              <a:ext cx="2152650" cy="3371850"/>
            </a:xfrm>
            <a:prstGeom prst="roundRect">
              <a:avLst>
                <a:gd name="adj" fmla="val 5310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893445" y="1974532"/>
              <a:ext cx="954474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0F76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RAG 输入</a:t>
              </a:r>
              <a:endParaRPr lang="zh-CN" sz="1650" b="1" dirty="0">
                <a:solidFill>
                  <a:srgbClr val="0F76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914400" y="2457450"/>
              <a:ext cx="1581150" cy="742950"/>
            </a:xfrm>
            <a:prstGeom prst="roundRect">
              <a:avLst>
                <a:gd name="adj" fmla="val 12821"/>
              </a:avLst>
            </a:prstGeom>
            <a:solidFill>
              <a:srgbClr val="CCFBF1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120775" y="2688431"/>
              <a:ext cx="215900" cy="242888"/>
              <a:chOff x="1120775" y="2688431"/>
              <a:chExt cx="215900" cy="242888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120775" y="2688431"/>
                <a:ext cx="215900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80962">
                    <a:moveTo>
                      <a:pt x="0" y="40481"/>
                    </a:moveTo>
                    <a:cubicBezTo>
                      <a:pt x="0" y="62838"/>
                      <a:pt x="48331" y="80962"/>
                      <a:pt x="107950" y="80962"/>
                    </a:cubicBezTo>
                    <a:cubicBezTo>
                      <a:pt x="167569" y="80962"/>
                      <a:pt x="215900" y="62838"/>
                      <a:pt x="215900" y="40481"/>
                    </a:cubicBezTo>
                    <a:cubicBezTo>
                      <a:pt x="215900" y="18124"/>
                      <a:pt x="167569" y="0"/>
                      <a:pt x="107950" y="0"/>
                    </a:cubicBezTo>
                    <a:cubicBezTo>
                      <a:pt x="48331" y="0"/>
                      <a:pt x="0" y="18124"/>
                      <a:pt x="0" y="40481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120775" y="2728912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20775" y="2809875"/>
                <a:ext cx="215900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215900" h="121444">
                    <a:moveTo>
                      <a:pt x="0" y="0"/>
                    </a:moveTo>
                    <a:lnTo>
                      <a:pt x="0" y="80962"/>
                    </a:lnTo>
                    <a:cubicBezTo>
                      <a:pt x="0" y="103320"/>
                      <a:pt x="48331" y="121444"/>
                      <a:pt x="107950" y="121444"/>
                    </a:cubicBezTo>
                    <a:cubicBezTo>
                      <a:pt x="167569" y="121444"/>
                      <a:pt x="215900" y="103320"/>
                      <a:pt x="215900" y="80962"/>
                    </a:cubicBezTo>
                    <a:lnTo>
                      <a:pt x="2159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1470660" y="2613660"/>
              <a:ext cx="65215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Memory</a:t>
              </a:r>
              <a:endParaRPr lang="zh-CN" sz="12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472565" y="2877502"/>
              <a:ext cx="86677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历史运行记录</a:t>
              </a:r>
              <a:endParaRPr lang="zh-CN" sz="105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914400" y="3524250"/>
              <a:ext cx="1581150" cy="742950"/>
            </a:xfrm>
            <a:prstGeom prst="roundRect">
              <a:avLst>
                <a:gd name="adj" fmla="val 12821"/>
              </a:avLst>
            </a:prstGeom>
            <a:solidFill>
              <a:srgbClr val="CCFBF1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1107281" y="3755231"/>
              <a:ext cx="242887" cy="242887"/>
              <a:chOff x="1107281" y="3755231"/>
              <a:chExt cx="242887" cy="242887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1107281" y="3755231"/>
                <a:ext cx="188913" cy="188912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2">
                    <a:moveTo>
                      <a:pt x="0" y="94456"/>
                    </a:moveTo>
                    <a:cubicBezTo>
                      <a:pt x="0" y="146623"/>
                      <a:pt x="42290" y="188912"/>
                      <a:pt x="94456" y="188912"/>
                    </a:cubicBezTo>
                    <a:cubicBezTo>
                      <a:pt x="146623" y="188912"/>
                      <a:pt x="188913" y="146623"/>
                      <a:pt x="188913" y="94456"/>
                    </a:cubicBezTo>
                    <a:cubicBezTo>
                      <a:pt x="188913" y="42290"/>
                      <a:pt x="146623" y="0"/>
                      <a:pt x="94456" y="0"/>
                    </a:cubicBezTo>
                    <a:cubicBezTo>
                      <a:pt x="42290" y="0"/>
                      <a:pt x="0" y="42290"/>
                      <a:pt x="0" y="94456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1269206" y="391715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80962" y="809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1402080" y="3680460"/>
              <a:ext cx="124023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Top-k Retrieve</a:t>
              </a:r>
              <a:endParaRPr lang="zh-CN" sz="12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472565" y="3944302"/>
              <a:ext cx="96478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BM25 相似经验</a:t>
              </a:r>
              <a:endParaRPr lang="zh-CN" sz="105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2781300" y="1771650"/>
            <a:ext cx="7099559" cy="2124075"/>
            <a:chOff x="2781300" y="1771650"/>
            <a:chExt cx="7099559" cy="2124075"/>
          </a:xfrm>
        </p:grpSpPr>
        <p:sp>
          <p:nvSpPr>
            <p:cNvPr id="28" name="Rectangle 28"/>
            <p:cNvSpPr/>
            <p:nvPr/>
          </p:nvSpPr>
          <p:spPr>
            <a:xfrm>
              <a:off x="3257550" y="1771650"/>
              <a:ext cx="1276350" cy="666750"/>
            </a:xfrm>
            <a:prstGeom prst="roundRect">
              <a:avLst>
                <a:gd name="adj" fmla="val 14286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3481388" y="1976438"/>
              <a:ext cx="200025" cy="200025"/>
              <a:chOff x="3481388" y="1976438"/>
              <a:chExt cx="200025" cy="200025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3570288" y="206533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2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2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3525838" y="202088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3"/>
                    </a:moveTo>
                    <a:cubicBezTo>
                      <a:pt x="0" y="86249"/>
                      <a:pt x="24876" y="111125"/>
                      <a:pt x="55562" y="111125"/>
                    </a:cubicBezTo>
                    <a:cubicBezTo>
                      <a:pt x="86249" y="111125"/>
                      <a:pt x="111125" y="86249"/>
                      <a:pt x="111125" y="55563"/>
                    </a:cubicBezTo>
                    <a:cubicBezTo>
                      <a:pt x="111125" y="24876"/>
                      <a:pt x="86249" y="0"/>
                      <a:pt x="55562" y="0"/>
                    </a:cubicBezTo>
                    <a:cubicBezTo>
                      <a:pt x="24876" y="0"/>
                      <a:pt x="0" y="24876"/>
                      <a:pt x="0" y="55563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3481388" y="19764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3814762" y="1916906"/>
              <a:ext cx="3357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Goal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3816668" y="21616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验收标准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5" name="Line 35"/>
            <p:cNvSpPr/>
            <p:nvPr/>
          </p:nvSpPr>
          <p:spPr>
            <a:xfrm>
              <a:off x="2781300" y="2105025"/>
              <a:ext cx="476250" cy="1790700"/>
            </a:xfrm>
            <a:custGeom>
              <a:avLst/>
              <a:gdLst/>
              <a:ahLst/>
              <a:cxnLst/>
              <a:rect l="l" t="t" r="r" b="b"/>
              <a:pathLst>
                <a:path w="476250" h="1790700">
                  <a:moveTo>
                    <a:pt x="0" y="1790700"/>
                  </a:moveTo>
                  <a:lnTo>
                    <a:pt x="476250" y="0"/>
                  </a:lnTo>
                </a:path>
              </a:pathLst>
            </a:custGeom>
            <a:noFill/>
            <a:ln w="19050">
              <a:solidFill>
                <a:srgbClr val="0F766E"/>
              </a:solidFill>
            </a:ln>
          </p:spPr>
        </p:sp>
        <p:sp>
          <p:nvSpPr>
            <p:cNvPr id="36" name="Polygon 36"/>
            <p:cNvSpPr/>
            <p:nvPr/>
          </p:nvSpPr>
          <p:spPr>
            <a:xfrm>
              <a:off x="3143250" y="2076450"/>
              <a:ext cx="114300" cy="123825"/>
            </a:xfrm>
            <a:custGeom>
              <a:avLst/>
              <a:gdLst/>
              <a:ahLst/>
              <a:cxnLst/>
              <a:rect l="l" t="t" r="r" b="b"/>
              <a:pathLst>
                <a:path w="114300" h="123825">
                  <a:moveTo>
                    <a:pt x="114300" y="28575"/>
                  </a:moveTo>
                  <a:lnTo>
                    <a:pt x="0" y="0"/>
                  </a:lnTo>
                  <a:lnTo>
                    <a:pt x="57150" y="123825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7" name="Line 37"/>
            <p:cNvSpPr/>
            <p:nvPr/>
          </p:nvSpPr>
          <p:spPr>
            <a:xfrm>
              <a:off x="4533900" y="21050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38" name="Polygon 38"/>
            <p:cNvSpPr/>
            <p:nvPr/>
          </p:nvSpPr>
          <p:spPr>
            <a:xfrm>
              <a:off x="4895850" y="20383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39" name="Rectangle 39"/>
            <p:cNvSpPr/>
            <p:nvPr/>
          </p:nvSpPr>
          <p:spPr>
            <a:xfrm>
              <a:off x="5010150" y="1771650"/>
              <a:ext cx="1276350" cy="666750"/>
            </a:xfrm>
            <a:prstGeom prst="roundRect">
              <a:avLst>
                <a:gd name="adj" fmla="val 14286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5233988" y="1976438"/>
              <a:ext cx="200025" cy="200025"/>
              <a:chOff x="5233988" y="1976438"/>
              <a:chExt cx="200025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5233988" y="197643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33338" y="200025"/>
                    </a:moveTo>
                    <a:lnTo>
                      <a:pt x="200025" y="33338"/>
                    </a:lnTo>
                    <a:lnTo>
                      <a:pt x="166688" y="0"/>
                    </a:lnTo>
                    <a:lnTo>
                      <a:pt x="0" y="166688"/>
                    </a:lnTo>
                    <a:lnTo>
                      <a:pt x="33338" y="2000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5367338" y="2009775"/>
                <a:ext cx="33338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33338">
                    <a:moveTo>
                      <a:pt x="0" y="0"/>
                    </a:moveTo>
                    <a:lnTo>
                      <a:pt x="33338" y="33338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5278438" y="19764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0"/>
                    </a:moveTo>
                    <a:cubicBezTo>
                      <a:pt x="22225" y="12275"/>
                      <a:pt x="32175" y="22225"/>
                      <a:pt x="44450" y="22225"/>
                    </a:cubicBezTo>
                    <a:cubicBezTo>
                      <a:pt x="32175" y="22225"/>
                      <a:pt x="22225" y="32175"/>
                      <a:pt x="22225" y="44450"/>
                    </a:cubicBezTo>
                    <a:cubicBezTo>
                      <a:pt x="22225" y="32175"/>
                      <a:pt x="12275" y="22225"/>
                      <a:pt x="0" y="22225"/>
                    </a:cubicBezTo>
                    <a:cubicBezTo>
                      <a:pt x="12275" y="22225"/>
                      <a:pt x="22225" y="12275"/>
                      <a:pt x="22225" y="0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5389562" y="208756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0"/>
                    </a:moveTo>
                    <a:cubicBezTo>
                      <a:pt x="22225" y="12275"/>
                      <a:pt x="32175" y="22225"/>
                      <a:pt x="44450" y="22225"/>
                    </a:cubicBezTo>
                    <a:cubicBezTo>
                      <a:pt x="32175" y="22225"/>
                      <a:pt x="22225" y="32175"/>
                      <a:pt x="22225" y="44450"/>
                    </a:cubicBezTo>
                    <a:cubicBezTo>
                      <a:pt x="22225" y="32175"/>
                      <a:pt x="12275" y="22225"/>
                      <a:pt x="0" y="22225"/>
                    </a:cubicBezTo>
                    <a:cubicBezTo>
                      <a:pt x="12275" y="22225"/>
                      <a:pt x="22225" y="12275"/>
                      <a:pt x="22225" y="0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5567362" y="1916906"/>
              <a:ext cx="6271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Rewrite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5569268" y="21616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提示优化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7" name="Line 47"/>
            <p:cNvSpPr/>
            <p:nvPr/>
          </p:nvSpPr>
          <p:spPr>
            <a:xfrm>
              <a:off x="6286500" y="21050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48" name="Polygon 48"/>
            <p:cNvSpPr/>
            <p:nvPr/>
          </p:nvSpPr>
          <p:spPr>
            <a:xfrm>
              <a:off x="6648450" y="20383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49" name="Rectangle 49"/>
            <p:cNvSpPr/>
            <p:nvPr/>
          </p:nvSpPr>
          <p:spPr>
            <a:xfrm>
              <a:off x="6762750" y="1771650"/>
              <a:ext cx="1276350" cy="666750"/>
            </a:xfrm>
            <a:prstGeom prst="roundRect">
              <a:avLst>
                <a:gd name="adj" fmla="val 14286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986588" y="1976438"/>
              <a:ext cx="200024" cy="200024"/>
              <a:chOff x="6986588" y="1976438"/>
              <a:chExt cx="200024" cy="200024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6986588" y="21320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7142162" y="19764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7008812" y="1998662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4" y="155575"/>
                      <a:pt x="166688" y="138162"/>
                      <a:pt x="166688" y="116681"/>
                    </a:cubicBezTo>
                    <a:cubicBezTo>
                      <a:pt x="166688" y="95201"/>
                      <a:pt x="149274" y="77787"/>
                      <a:pt x="127794" y="77787"/>
                    </a:cubicBezTo>
                    <a:lnTo>
                      <a:pt x="38894" y="77787"/>
                    </a:lnTo>
                    <a:cubicBezTo>
                      <a:pt x="17413" y="77787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7319962" y="1916906"/>
              <a:ext cx="5956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Planner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7321868" y="2161699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结构计划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6" name="Line 56"/>
            <p:cNvSpPr/>
            <p:nvPr/>
          </p:nvSpPr>
          <p:spPr>
            <a:xfrm>
              <a:off x="8039100" y="2105025"/>
              <a:ext cx="476250" cy="9525"/>
            </a:xfrm>
            <a:custGeom>
              <a:avLst/>
              <a:gdLst/>
              <a:ahLst/>
              <a:cxnLst/>
              <a:rect l="l" t="t" r="r" b="b"/>
              <a:pathLst>
                <a:path w="476250" h="9525">
                  <a:moveTo>
                    <a:pt x="0" y="0"/>
                  </a:moveTo>
                  <a:lnTo>
                    <a:pt x="4762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57" name="Polygon 57"/>
            <p:cNvSpPr/>
            <p:nvPr/>
          </p:nvSpPr>
          <p:spPr>
            <a:xfrm>
              <a:off x="8401050" y="20383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58" name="Rectangle 58"/>
            <p:cNvSpPr/>
            <p:nvPr/>
          </p:nvSpPr>
          <p:spPr>
            <a:xfrm>
              <a:off x="8515350" y="1771650"/>
              <a:ext cx="1276350" cy="666750"/>
            </a:xfrm>
            <a:prstGeom prst="roundRect">
              <a:avLst>
                <a:gd name="adj" fmla="val 14286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62" name="Group 62"/>
            <p:cNvGrpSpPr/>
            <p:nvPr/>
          </p:nvGrpSpPr>
          <p:grpSpPr>
            <a:xfrm>
              <a:off x="8750300" y="1987550"/>
              <a:ext cx="177800" cy="177800"/>
              <a:chOff x="8750300" y="1987550"/>
              <a:chExt cx="177800" cy="17780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8750300" y="1987550"/>
                <a:ext cx="66675" cy="55563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55563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33338"/>
                    </a:lnTo>
                    <a:cubicBezTo>
                      <a:pt x="66675" y="45612"/>
                      <a:pt x="56725" y="55563"/>
                      <a:pt x="44450" y="55563"/>
                    </a:cubicBezTo>
                    <a:lnTo>
                      <a:pt x="22225" y="55563"/>
                    </a:lnTo>
                    <a:cubicBezTo>
                      <a:pt x="9950" y="55563"/>
                      <a:pt x="0" y="45612"/>
                      <a:pt x="0" y="33338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8750300" y="2087562"/>
                <a:ext cx="66675" cy="7778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77788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55563"/>
                    </a:lnTo>
                    <a:cubicBezTo>
                      <a:pt x="66675" y="67837"/>
                      <a:pt x="56725" y="77788"/>
                      <a:pt x="44450" y="77788"/>
                    </a:cubicBezTo>
                    <a:lnTo>
                      <a:pt x="22225" y="77788"/>
                    </a:lnTo>
                    <a:cubicBezTo>
                      <a:pt x="9950" y="77788"/>
                      <a:pt x="0" y="67837"/>
                      <a:pt x="0" y="55563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61" name="Freeform 61"/>
              <p:cNvSpPr/>
              <p:nvPr/>
            </p:nvSpPr>
            <p:spPr>
              <a:xfrm>
                <a:off x="8861425" y="1987550"/>
                <a:ext cx="66675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177800">
                    <a:moveTo>
                      <a:pt x="0" y="22225"/>
                    </a:moveTo>
                    <a:cubicBezTo>
                      <a:pt x="0" y="9950"/>
                      <a:pt x="9950" y="0"/>
                      <a:pt x="22225" y="0"/>
                    </a:cubicBezTo>
                    <a:lnTo>
                      <a:pt x="44450" y="0"/>
                    </a:lnTo>
                    <a:cubicBezTo>
                      <a:pt x="56725" y="0"/>
                      <a:pt x="66675" y="9950"/>
                      <a:pt x="66675" y="22225"/>
                    </a:cubicBezTo>
                    <a:lnTo>
                      <a:pt x="66675" y="155575"/>
                    </a:lnTo>
                    <a:cubicBezTo>
                      <a:pt x="66675" y="167850"/>
                      <a:pt x="56725" y="177800"/>
                      <a:pt x="44450" y="177800"/>
                    </a:cubicBezTo>
                    <a:lnTo>
                      <a:pt x="22225" y="177800"/>
                    </a:lnTo>
                    <a:cubicBezTo>
                      <a:pt x="9950" y="177800"/>
                      <a:pt x="0" y="167850"/>
                      <a:pt x="0" y="155575"/>
                    </a:cubicBezTo>
                    <a:lnTo>
                      <a:pt x="0" y="22225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63" name="TextBox 63"/>
            <p:cNvSpPr txBox="1"/>
            <p:nvPr/>
          </p:nvSpPr>
          <p:spPr>
            <a:xfrm>
              <a:off x="9072562" y="1916906"/>
              <a:ext cx="8082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Generator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074468" y="2161699"/>
              <a:ext cx="52532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 个候选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82" name="Group 82"/>
          <p:cNvGrpSpPr/>
          <p:nvPr/>
        </p:nvGrpSpPr>
        <p:grpSpPr>
          <a:xfrm>
            <a:off x="7677150" y="2438400"/>
            <a:ext cx="3390900" cy="2305050"/>
            <a:chOff x="7677150" y="2438400"/>
            <a:chExt cx="3390900" cy="2305050"/>
          </a:xfrm>
        </p:grpSpPr>
        <p:sp>
          <p:nvSpPr>
            <p:cNvPr id="66" name="Line 66"/>
            <p:cNvSpPr/>
            <p:nvPr/>
          </p:nvSpPr>
          <p:spPr>
            <a:xfrm>
              <a:off x="8534400" y="2438400"/>
              <a:ext cx="619125" cy="666750"/>
            </a:xfrm>
            <a:custGeom>
              <a:avLst/>
              <a:gdLst/>
              <a:ahLst/>
              <a:cxnLst/>
              <a:rect l="l" t="t" r="r" b="b"/>
              <a:pathLst>
                <a:path w="619125" h="666750">
                  <a:moveTo>
                    <a:pt x="619125" y="0"/>
                  </a:moveTo>
                  <a:lnTo>
                    <a:pt x="0" y="666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7" name="Polygon 67"/>
            <p:cNvSpPr/>
            <p:nvPr/>
          </p:nvSpPr>
          <p:spPr>
            <a:xfrm>
              <a:off x="8534400" y="298132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0" y="123825"/>
                  </a:moveTo>
                  <a:lnTo>
                    <a:pt x="28575" y="0"/>
                  </a:lnTo>
                  <a:lnTo>
                    <a:pt x="123825" y="952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68" name="Line 68"/>
            <p:cNvSpPr/>
            <p:nvPr/>
          </p:nvSpPr>
          <p:spPr>
            <a:xfrm>
              <a:off x="9153525" y="2438400"/>
              <a:ext cx="676275" cy="666750"/>
            </a:xfrm>
            <a:custGeom>
              <a:avLst/>
              <a:gdLst/>
              <a:ahLst/>
              <a:cxnLst/>
              <a:rect l="l" t="t" r="r" b="b"/>
              <a:pathLst>
                <a:path w="676275" h="666750">
                  <a:moveTo>
                    <a:pt x="0" y="0"/>
                  </a:moveTo>
                  <a:lnTo>
                    <a:pt x="676275" y="666750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69" name="Polygon 69"/>
            <p:cNvSpPr/>
            <p:nvPr/>
          </p:nvSpPr>
          <p:spPr>
            <a:xfrm>
              <a:off x="9705975" y="298132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123825"/>
                  </a:moveTo>
                  <a:lnTo>
                    <a:pt x="0" y="95250"/>
                  </a:lnTo>
                  <a:lnTo>
                    <a:pt x="95250" y="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70" name="Rectangle 70"/>
            <p:cNvSpPr/>
            <p:nvPr/>
          </p:nvSpPr>
          <p:spPr>
            <a:xfrm>
              <a:off x="7677150" y="3105150"/>
              <a:ext cx="1524000" cy="628650"/>
            </a:xfrm>
            <a:prstGeom prst="roundRect">
              <a:avLst>
                <a:gd name="adj" fmla="val 15152"/>
              </a:avLst>
            </a:prstGeom>
            <a:solidFill>
              <a:srgbClr val="DBEAFE"/>
            </a:solidFill>
            <a:ln w="11430">
              <a:solidFill>
                <a:srgbClr val="1D4ED8"/>
              </a:solidFill>
            </a:ln>
          </p:spPr>
        </p:sp>
        <p:sp>
          <p:nvSpPr>
            <p:cNvPr id="71" name="TextBox 71"/>
            <p:cNvSpPr txBox="1"/>
            <p:nvPr/>
          </p:nvSpPr>
          <p:spPr>
            <a:xfrm>
              <a:off x="7948612" y="3250406"/>
              <a:ext cx="120209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Semantic Critic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72" name="TextBox 72"/>
            <p:cNvSpPr txBox="1"/>
            <p:nvPr/>
          </p:nvSpPr>
          <p:spPr>
            <a:xfrm>
              <a:off x="7950518" y="34761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语义与可读性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73" name="Rectangle 73"/>
            <p:cNvSpPr/>
            <p:nvPr/>
          </p:nvSpPr>
          <p:spPr>
            <a:xfrm>
              <a:off x="9544050" y="3105150"/>
              <a:ext cx="1524000" cy="628650"/>
            </a:xfrm>
            <a:prstGeom prst="roundRect">
              <a:avLst>
                <a:gd name="adj" fmla="val 15152"/>
              </a:avLst>
            </a:prstGeom>
            <a:solidFill>
              <a:srgbClr val="DBEAFE"/>
            </a:solidFill>
            <a:ln w="11430">
              <a:solidFill>
                <a:srgbClr val="1D4ED8"/>
              </a:solidFill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9796462" y="3250406"/>
              <a:ext cx="10760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Quality Critic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9798368" y="3476149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安全与渲染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76" name="Line 76"/>
            <p:cNvSpPr/>
            <p:nvPr/>
          </p:nvSpPr>
          <p:spPr>
            <a:xfrm>
              <a:off x="8439150" y="3733800"/>
              <a:ext cx="638175" cy="381000"/>
            </a:xfrm>
            <a:custGeom>
              <a:avLst/>
              <a:gdLst/>
              <a:ahLst/>
              <a:cxnLst/>
              <a:rect l="l" t="t" r="r" b="b"/>
              <a:pathLst>
                <a:path w="638175" h="381000">
                  <a:moveTo>
                    <a:pt x="0" y="0"/>
                  </a:moveTo>
                  <a:lnTo>
                    <a:pt x="638175" y="38100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77" name="Line 77"/>
            <p:cNvSpPr/>
            <p:nvPr/>
          </p:nvSpPr>
          <p:spPr>
            <a:xfrm>
              <a:off x="9696450" y="3733800"/>
              <a:ext cx="609600" cy="381000"/>
            </a:xfrm>
            <a:custGeom>
              <a:avLst/>
              <a:gdLst/>
              <a:ahLst/>
              <a:cxnLst/>
              <a:rect l="l" t="t" r="r" b="b"/>
              <a:pathLst>
                <a:path w="609600" h="381000">
                  <a:moveTo>
                    <a:pt x="609600" y="0"/>
                  </a:moveTo>
                  <a:lnTo>
                    <a:pt x="0" y="38100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78" name="Rectangle 78"/>
            <p:cNvSpPr/>
            <p:nvPr/>
          </p:nvSpPr>
          <p:spPr>
            <a:xfrm>
              <a:off x="8763000" y="4114800"/>
              <a:ext cx="1276350" cy="628650"/>
            </a:xfrm>
            <a:prstGeom prst="roundRect">
              <a:avLst>
                <a:gd name="adj" fmla="val 15152"/>
              </a:avLst>
            </a:prstGeom>
            <a:solidFill>
              <a:srgbClr val="FEF3C7"/>
            </a:solidFill>
            <a:ln w="11430">
              <a:solidFill>
                <a:srgbClr val="F59E0B"/>
              </a:solidFill>
            </a:ln>
          </p:spPr>
        </p:sp>
        <p:sp>
          <p:nvSpPr>
            <p:cNvPr id="79" name="Freeform 79"/>
            <p:cNvSpPr/>
            <p:nvPr/>
          </p:nvSpPr>
          <p:spPr>
            <a:xfrm>
              <a:off x="9009062" y="4354512"/>
              <a:ext cx="166688" cy="111125"/>
            </a:xfrm>
            <a:custGeom>
              <a:avLst/>
              <a:gdLst/>
              <a:ahLst/>
              <a:cxnLst/>
              <a:rect l="l" t="t" r="r" b="b"/>
              <a:pathLst>
                <a:path w="166688" h="111125">
                  <a:moveTo>
                    <a:pt x="0" y="55562"/>
                  </a:moveTo>
                  <a:lnTo>
                    <a:pt x="55562" y="111125"/>
                  </a:lnTo>
                  <a:lnTo>
                    <a:pt x="166688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9301162" y="4250531"/>
              <a:ext cx="68228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Selector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81" name="TextBox 81"/>
            <p:cNvSpPr txBox="1"/>
            <p:nvPr/>
          </p:nvSpPr>
          <p:spPr>
            <a:xfrm>
              <a:off x="9303068" y="4476274"/>
              <a:ext cx="674846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可解释选择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121" name="Group 121"/>
          <p:cNvGrpSpPr/>
          <p:nvPr/>
        </p:nvGrpSpPr>
        <p:grpSpPr>
          <a:xfrm>
            <a:off x="6438900" y="4114800"/>
            <a:ext cx="5358872" cy="1809750"/>
            <a:chOff x="6438900" y="4114800"/>
            <a:chExt cx="5358872" cy="1809750"/>
          </a:xfrm>
        </p:grpSpPr>
        <p:sp>
          <p:nvSpPr>
            <p:cNvPr id="83" name="Line 83"/>
            <p:cNvSpPr/>
            <p:nvPr/>
          </p:nvSpPr>
          <p:spPr>
            <a:xfrm>
              <a:off x="10039350" y="4429125"/>
              <a:ext cx="533400" cy="9525"/>
            </a:xfrm>
            <a:custGeom>
              <a:avLst/>
              <a:gdLst/>
              <a:ahLst/>
              <a:cxnLst/>
              <a:rect l="l" t="t" r="r" b="b"/>
              <a:pathLst>
                <a:path w="533400" h="9525">
                  <a:moveTo>
                    <a:pt x="0" y="0"/>
                  </a:moveTo>
                  <a:lnTo>
                    <a:pt x="533400" y="0"/>
                  </a:lnTo>
                </a:path>
              </a:pathLst>
            </a:custGeom>
            <a:noFill/>
            <a:ln w="20955">
              <a:solidFill>
                <a:srgbClr val="F59E0B"/>
              </a:solidFill>
            </a:ln>
          </p:spPr>
        </p:sp>
        <p:sp>
          <p:nvSpPr>
            <p:cNvPr id="84" name="Polygon 84"/>
            <p:cNvSpPr/>
            <p:nvPr/>
          </p:nvSpPr>
          <p:spPr>
            <a:xfrm>
              <a:off x="10458450" y="4362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85" name="Rectangle 85"/>
            <p:cNvSpPr/>
            <p:nvPr/>
          </p:nvSpPr>
          <p:spPr>
            <a:xfrm>
              <a:off x="10572750" y="4114800"/>
              <a:ext cx="990600" cy="628650"/>
            </a:xfrm>
            <a:prstGeom prst="roundRect">
              <a:avLst>
                <a:gd name="adj" fmla="val 15152"/>
              </a:avLst>
            </a:prstGeom>
            <a:solidFill>
              <a:srgbClr val="FEF3C7"/>
            </a:solidFill>
            <a:ln w="11430">
              <a:solidFill>
                <a:srgbClr val="F59E0B"/>
              </a:solidFill>
            </a:ln>
          </p:spPr>
          <p:txBody>
            <a:bodyPr/>
            <a:p>
              <a:endParaRPr lang="zh-CN" altLang="en-US"/>
            </a:p>
          </p:txBody>
        </p:sp>
        <p:grpSp>
          <p:nvGrpSpPr>
            <p:cNvPr id="92" name="Group 92"/>
            <p:cNvGrpSpPr/>
            <p:nvPr/>
          </p:nvGrpSpPr>
          <p:grpSpPr>
            <a:xfrm>
              <a:off x="10813256" y="4297077"/>
              <a:ext cx="186817" cy="186817"/>
              <a:chOff x="10813256" y="4297077"/>
              <a:chExt cx="186817" cy="186817"/>
            </a:xfrm>
          </p:grpSpPr>
          <p:sp>
            <p:nvSpPr>
              <p:cNvPr id="86" name="Freeform 86"/>
              <p:cNvSpPr/>
              <p:nvPr/>
            </p:nvSpPr>
            <p:spPr>
              <a:xfrm>
                <a:off x="10813256" y="4297077"/>
                <a:ext cx="186817" cy="186817"/>
              </a:xfrm>
              <a:custGeom>
                <a:avLst/>
                <a:gdLst/>
                <a:ahLst/>
                <a:cxnLst/>
                <a:rect l="l" t="t" r="r" b="b"/>
                <a:pathLst>
                  <a:path w="186817" h="186817">
                    <a:moveTo>
                      <a:pt x="0" y="186817"/>
                    </a:moveTo>
                    <a:lnTo>
                      <a:pt x="41275" y="186817"/>
                    </a:lnTo>
                    <a:lnTo>
                      <a:pt x="175419" y="52673"/>
                    </a:lnTo>
                    <a:cubicBezTo>
                      <a:pt x="186817" y="41275"/>
                      <a:pt x="186817" y="22796"/>
                      <a:pt x="175419" y="11398"/>
                    </a:cubicBezTo>
                    <a:cubicBezTo>
                      <a:pt x="164021" y="0"/>
                      <a:pt x="145542" y="0"/>
                      <a:pt x="134144" y="11398"/>
                    </a:cubicBezTo>
                    <a:lnTo>
                      <a:pt x="0" y="145542"/>
                    </a:lnTo>
                    <a:lnTo>
                      <a:pt x="0" y="186817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7" name="Freeform 87"/>
              <p:cNvSpPr/>
              <p:nvPr/>
            </p:nvSpPr>
            <p:spPr>
              <a:xfrm>
                <a:off x="10931922" y="4323953"/>
                <a:ext cx="41275" cy="41275"/>
              </a:xfrm>
              <a:custGeom>
                <a:avLst/>
                <a:gdLst/>
                <a:ahLst/>
                <a:cxnLst/>
                <a:rect l="l" t="t" r="r" b="b"/>
                <a:pathLst>
                  <a:path w="41275" h="41275">
                    <a:moveTo>
                      <a:pt x="0" y="0"/>
                    </a:moveTo>
                    <a:lnTo>
                      <a:pt x="41275" y="412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8" name="Freeform 88"/>
              <p:cNvSpPr/>
              <p:nvPr/>
            </p:nvSpPr>
            <p:spPr>
              <a:xfrm>
                <a:off x="10813256" y="4298156"/>
                <a:ext cx="92869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2869">
                    <a:moveTo>
                      <a:pt x="92869" y="51594"/>
                    </a:moveTo>
                    <a:lnTo>
                      <a:pt x="41275" y="0"/>
                    </a:lnTo>
                    <a:lnTo>
                      <a:pt x="0" y="41275"/>
                    </a:lnTo>
                    <a:lnTo>
                      <a:pt x="51594" y="9286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89" name="Freeform 89"/>
              <p:cNvSpPr/>
              <p:nvPr/>
            </p:nvSpPr>
            <p:spPr>
              <a:xfrm>
                <a:off x="10839053" y="4349750"/>
                <a:ext cx="15478" cy="15478"/>
              </a:xfrm>
              <a:custGeom>
                <a:avLst/>
                <a:gdLst/>
                <a:ahLst/>
                <a:cxnLst/>
                <a:rect l="l" t="t" r="r" b="b"/>
                <a:pathLst>
                  <a:path w="15478" h="15478">
                    <a:moveTo>
                      <a:pt x="15478" y="0"/>
                    </a:moveTo>
                    <a:lnTo>
                      <a:pt x="0" y="1547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90" name="Freeform 90"/>
              <p:cNvSpPr/>
              <p:nvPr/>
            </p:nvSpPr>
            <p:spPr>
              <a:xfrm>
                <a:off x="10906125" y="4391025"/>
                <a:ext cx="92869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92869" h="92869">
                    <a:moveTo>
                      <a:pt x="41275" y="0"/>
                    </a:moveTo>
                    <a:lnTo>
                      <a:pt x="92869" y="51594"/>
                    </a:lnTo>
                    <a:lnTo>
                      <a:pt x="51594" y="92869"/>
                    </a:lnTo>
                    <a:lnTo>
                      <a:pt x="0" y="412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91" name="Freeform 91"/>
              <p:cNvSpPr/>
              <p:nvPr/>
            </p:nvSpPr>
            <p:spPr>
              <a:xfrm>
                <a:off x="10931922" y="4442619"/>
                <a:ext cx="15478" cy="15478"/>
              </a:xfrm>
              <a:custGeom>
                <a:avLst/>
                <a:gdLst/>
                <a:ahLst/>
                <a:cxnLst/>
                <a:rect l="l" t="t" r="r" b="b"/>
                <a:pathLst>
                  <a:path w="15478" h="15478">
                    <a:moveTo>
                      <a:pt x="15478" y="0"/>
                    </a:moveTo>
                    <a:lnTo>
                      <a:pt x="0" y="1547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93" name="TextBox 93"/>
            <p:cNvSpPr txBox="1"/>
            <p:nvPr/>
          </p:nvSpPr>
          <p:spPr>
            <a:xfrm>
              <a:off x="11091862" y="4250531"/>
              <a:ext cx="70591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Optimize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94" name="TextBox 94"/>
            <p:cNvSpPr txBox="1"/>
            <p:nvPr/>
          </p:nvSpPr>
          <p:spPr>
            <a:xfrm>
              <a:off x="11093768" y="4476274"/>
              <a:ext cx="53832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改写 SVG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95" name="Rectangle 95"/>
            <p:cNvSpPr/>
            <p:nvPr/>
          </p:nvSpPr>
          <p:spPr>
            <a:xfrm>
              <a:off x="6438900" y="4953000"/>
              <a:ext cx="1428750" cy="628650"/>
            </a:xfrm>
            <a:prstGeom prst="roundRect">
              <a:avLst>
                <a:gd name="adj" fmla="val 15152"/>
              </a:avLst>
            </a:prstGeom>
            <a:solidFill>
              <a:srgbClr val="DBEAFE"/>
            </a:solidFill>
            <a:ln w="11430">
              <a:solidFill>
                <a:srgbClr val="1D4ED8"/>
              </a:solidFill>
            </a:ln>
          </p:spPr>
        </p:sp>
        <p:sp>
          <p:nvSpPr>
            <p:cNvPr id="96" name="Freeform 96"/>
            <p:cNvSpPr/>
            <p:nvPr/>
          </p:nvSpPr>
          <p:spPr>
            <a:xfrm>
              <a:off x="6658110" y="5138738"/>
              <a:ext cx="209280" cy="200025"/>
            </a:xfrm>
            <a:custGeom>
              <a:avLst/>
              <a:gdLst/>
              <a:ahLst/>
              <a:cxnLst/>
              <a:rect l="l" t="t" r="r" b="b"/>
              <a:pathLst>
                <a:path w="209280" h="200025">
                  <a:moveTo>
                    <a:pt x="104640" y="0"/>
                  </a:moveTo>
                  <a:cubicBezTo>
                    <a:pt x="130597" y="22965"/>
                    <a:pt x="164475" y="34922"/>
                    <a:pt x="199096" y="33338"/>
                  </a:cubicBezTo>
                  <a:cubicBezTo>
                    <a:pt x="209280" y="67981"/>
                    <a:pt x="204980" y="105274"/>
                    <a:pt x="187177" y="136690"/>
                  </a:cubicBezTo>
                  <a:cubicBezTo>
                    <a:pt x="169375" y="168106"/>
                    <a:pt x="139593" y="190959"/>
                    <a:pt x="104640" y="200025"/>
                  </a:cubicBezTo>
                  <a:cubicBezTo>
                    <a:pt x="69687" y="190959"/>
                    <a:pt x="39906" y="168106"/>
                    <a:pt x="22103" y="136690"/>
                  </a:cubicBezTo>
                  <a:cubicBezTo>
                    <a:pt x="4301" y="105274"/>
                    <a:pt x="0" y="67981"/>
                    <a:pt x="10184" y="33338"/>
                  </a:cubicBezTo>
                  <a:cubicBezTo>
                    <a:pt x="44805" y="34922"/>
                    <a:pt x="78683" y="22965"/>
                    <a:pt x="104640" y="0"/>
                  </a:cubicBez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97" name="TextBox 97"/>
            <p:cNvSpPr txBox="1"/>
            <p:nvPr/>
          </p:nvSpPr>
          <p:spPr>
            <a:xfrm>
              <a:off x="6996112" y="5088731"/>
              <a:ext cx="72953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Validator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98" name="TextBox 98"/>
            <p:cNvSpPr txBox="1"/>
            <p:nvPr/>
          </p:nvSpPr>
          <p:spPr>
            <a:xfrm>
              <a:off x="6998018" y="5314474"/>
              <a:ext cx="9283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score + issues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99" name="Line 99"/>
            <p:cNvSpPr/>
            <p:nvPr/>
          </p:nvSpPr>
          <p:spPr>
            <a:xfrm>
              <a:off x="7867650" y="4743450"/>
              <a:ext cx="3200400" cy="523875"/>
            </a:xfrm>
            <a:custGeom>
              <a:avLst/>
              <a:gdLst/>
              <a:ahLst/>
              <a:cxnLst/>
              <a:rect l="l" t="t" r="r" b="b"/>
              <a:pathLst>
                <a:path w="3200400" h="523875">
                  <a:moveTo>
                    <a:pt x="3200400" y="0"/>
                  </a:moveTo>
                  <a:lnTo>
                    <a:pt x="0" y="523875"/>
                  </a:ln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00" name="Polygon 100"/>
            <p:cNvSpPr/>
            <p:nvPr/>
          </p:nvSpPr>
          <p:spPr>
            <a:xfrm>
              <a:off x="7867650" y="5181600"/>
              <a:ext cx="133350" cy="133350"/>
            </a:xfrm>
            <a:custGeom>
              <a:avLst/>
              <a:gdLst/>
              <a:ahLst/>
              <a:cxnLst/>
              <a:rect l="l" t="t" r="r" b="b"/>
              <a:pathLst>
                <a:path w="133350" h="133350">
                  <a:moveTo>
                    <a:pt x="0" y="85725"/>
                  </a:moveTo>
                  <a:lnTo>
                    <a:pt x="114300" y="0"/>
                  </a:lnTo>
                  <a:lnTo>
                    <a:pt x="13335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101" name="Rectangle 101"/>
            <p:cNvSpPr/>
            <p:nvPr/>
          </p:nvSpPr>
          <p:spPr>
            <a:xfrm>
              <a:off x="8305800" y="4953000"/>
              <a:ext cx="1428750" cy="628650"/>
            </a:xfrm>
            <a:prstGeom prst="roundRect">
              <a:avLst>
                <a:gd name="adj" fmla="val 15152"/>
              </a:avLst>
            </a:prstGeom>
            <a:solidFill>
              <a:srgbClr val="FEE2E2"/>
            </a:solidFill>
            <a:ln w="11430">
              <a:solidFill>
                <a:srgbClr val="DC2626"/>
              </a:solidFill>
            </a:ln>
          </p:spPr>
        </p:sp>
        <p:grpSp>
          <p:nvGrpSpPr>
            <p:cNvPr id="105" name="Group 105"/>
            <p:cNvGrpSpPr/>
            <p:nvPr/>
          </p:nvGrpSpPr>
          <p:grpSpPr>
            <a:xfrm>
              <a:off x="8517579" y="5135046"/>
              <a:ext cx="224133" cy="192560"/>
              <a:chOff x="8517579" y="5135046"/>
              <a:chExt cx="224133" cy="192560"/>
            </a:xfrm>
          </p:grpSpPr>
          <p:sp>
            <p:nvSpPr>
              <p:cNvPr id="102" name="Freeform 102"/>
              <p:cNvSpPr/>
              <p:nvPr/>
            </p:nvSpPr>
            <p:spPr>
              <a:xfrm>
                <a:off x="8629650" y="5205412"/>
                <a:ext cx="9525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4450">
                    <a:moveTo>
                      <a:pt x="0" y="0"/>
                    </a:moveTo>
                    <a:lnTo>
                      <a:pt x="0" y="4445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03" name="Freeform 103"/>
              <p:cNvSpPr/>
              <p:nvPr/>
            </p:nvSpPr>
            <p:spPr>
              <a:xfrm>
                <a:off x="8517579" y="5135046"/>
                <a:ext cx="224133" cy="192560"/>
              </a:xfrm>
              <a:custGeom>
                <a:avLst/>
                <a:gdLst/>
                <a:ahLst/>
                <a:cxnLst/>
                <a:rect l="l" t="t" r="r" b="b"/>
                <a:pathLst>
                  <a:path w="224133" h="192560">
                    <a:moveTo>
                      <a:pt x="93880" y="10259"/>
                    </a:moveTo>
                    <a:lnTo>
                      <a:pt x="3802" y="160656"/>
                    </a:lnTo>
                    <a:cubicBezTo>
                      <a:pt x="23" y="167200"/>
                      <a:pt x="0" y="175257"/>
                      <a:pt x="3741" y="181822"/>
                    </a:cubicBezTo>
                    <a:cubicBezTo>
                      <a:pt x="7482" y="188388"/>
                      <a:pt x="14426" y="192475"/>
                      <a:pt x="21982" y="192560"/>
                    </a:cubicBezTo>
                    <a:lnTo>
                      <a:pt x="202160" y="192560"/>
                    </a:lnTo>
                    <a:cubicBezTo>
                      <a:pt x="209712" y="192473"/>
                      <a:pt x="216652" y="188387"/>
                      <a:pt x="220393" y="181825"/>
                    </a:cubicBezTo>
                    <a:cubicBezTo>
                      <a:pt x="224133" y="175263"/>
                      <a:pt x="224113" y="167210"/>
                      <a:pt x="220340" y="160667"/>
                    </a:cubicBezTo>
                    <a:lnTo>
                      <a:pt x="130262" y="10248"/>
                    </a:lnTo>
                    <a:cubicBezTo>
                      <a:pt x="126408" y="3886"/>
                      <a:pt x="119509" y="0"/>
                      <a:pt x="112071" y="0"/>
                    </a:cubicBezTo>
                    <a:cubicBezTo>
                      <a:pt x="104632" y="0"/>
                      <a:pt x="97734" y="3886"/>
                      <a:pt x="93880" y="10248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04" name="Freeform 104"/>
              <p:cNvSpPr/>
              <p:nvPr/>
            </p:nvSpPr>
            <p:spPr>
              <a:xfrm>
                <a:off x="8629650" y="52832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1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106" name="TextBox 106"/>
            <p:cNvSpPr txBox="1"/>
            <p:nvPr/>
          </p:nvSpPr>
          <p:spPr>
            <a:xfrm>
              <a:off x="8863012" y="5088731"/>
              <a:ext cx="75316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Taxonomy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07" name="TextBox 107"/>
            <p:cNvSpPr txBox="1"/>
            <p:nvPr/>
          </p:nvSpPr>
          <p:spPr>
            <a:xfrm>
              <a:off x="8864918" y="53144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失败归因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08" name="Line 108"/>
            <p:cNvSpPr/>
            <p:nvPr/>
          </p:nvSpPr>
          <p:spPr>
            <a:xfrm>
              <a:off x="7867650" y="5267325"/>
              <a:ext cx="438150" cy="9525"/>
            </a:xfrm>
            <a:custGeom>
              <a:avLst/>
              <a:gdLst/>
              <a:ahLst/>
              <a:cxnLst/>
              <a:rect l="l" t="t" r="r" b="b"/>
              <a:pathLst>
                <a:path w="438150" h="9525">
                  <a:moveTo>
                    <a:pt x="0" y="0"/>
                  </a:moveTo>
                  <a:lnTo>
                    <a:pt x="438150" y="0"/>
                  </a:lnTo>
                </a:path>
              </a:pathLst>
            </a:custGeom>
            <a:noFill/>
            <a:ln w="19050">
              <a:solidFill>
                <a:srgbClr val="DC2626"/>
              </a:solidFill>
            </a:ln>
          </p:spPr>
        </p:sp>
        <p:sp>
          <p:nvSpPr>
            <p:cNvPr id="109" name="Polygon 109"/>
            <p:cNvSpPr/>
            <p:nvPr/>
          </p:nvSpPr>
          <p:spPr>
            <a:xfrm>
              <a:off x="8191500" y="5200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10" name="Rectangle 110"/>
            <p:cNvSpPr/>
            <p:nvPr/>
          </p:nvSpPr>
          <p:spPr>
            <a:xfrm>
              <a:off x="10153650" y="4953000"/>
              <a:ext cx="1428750" cy="628650"/>
            </a:xfrm>
            <a:prstGeom prst="roundRect">
              <a:avLst>
                <a:gd name="adj" fmla="val 15152"/>
              </a:avLst>
            </a:prstGeom>
            <a:solidFill>
              <a:srgbClr val="FEE2E2"/>
            </a:solidFill>
            <a:ln w="11430">
              <a:solidFill>
                <a:srgbClr val="DC2626"/>
              </a:solidFill>
            </a:ln>
          </p:spPr>
        </p:sp>
        <p:grpSp>
          <p:nvGrpSpPr>
            <p:cNvPr id="114" name="Group 114"/>
            <p:cNvGrpSpPr/>
            <p:nvPr/>
          </p:nvGrpSpPr>
          <p:grpSpPr>
            <a:xfrm>
              <a:off x="10377488" y="5138738"/>
              <a:ext cx="200024" cy="200024"/>
              <a:chOff x="10377488" y="5138738"/>
              <a:chExt cx="200024" cy="200024"/>
            </a:xfrm>
          </p:grpSpPr>
          <p:sp>
            <p:nvSpPr>
              <p:cNvPr id="111" name="Freeform 111"/>
              <p:cNvSpPr/>
              <p:nvPr/>
            </p:nvSpPr>
            <p:spPr>
              <a:xfrm>
                <a:off x="10377488" y="5294312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0" y="22225"/>
                    </a:moveTo>
                    <a:cubicBezTo>
                      <a:pt x="0" y="34500"/>
                      <a:pt x="9950" y="44450"/>
                      <a:pt x="22225" y="44450"/>
                    </a:cubicBez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10533062" y="5138738"/>
                <a:ext cx="44450" cy="44450"/>
              </a:xfrm>
              <a:custGeom>
                <a:avLst/>
                <a:gdLst/>
                <a:ahLst/>
                <a:cxnLst/>
                <a:rect l="l" t="t" r="r" b="b"/>
                <a:pathLst>
                  <a:path w="44450" h="44450">
                    <a:moveTo>
                      <a:pt x="22225" y="44450"/>
                    </a:moveTo>
                    <a:cubicBezTo>
                      <a:pt x="34500" y="44450"/>
                      <a:pt x="44450" y="34500"/>
                      <a:pt x="44450" y="22225"/>
                    </a:cubicBezTo>
                    <a:cubicBezTo>
                      <a:pt x="44450" y="9950"/>
                      <a:pt x="34500" y="0"/>
                      <a:pt x="22225" y="0"/>
                    </a:cubicBezTo>
                    <a:cubicBezTo>
                      <a:pt x="9950" y="0"/>
                      <a:pt x="0" y="9950"/>
                      <a:pt x="0" y="22225"/>
                    </a:cubicBezTo>
                    <a:cubicBezTo>
                      <a:pt x="0" y="34500"/>
                      <a:pt x="9950" y="44450"/>
                      <a:pt x="22225" y="44450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10399712" y="5160962"/>
                <a:ext cx="16668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55575">
                    <a:moveTo>
                      <a:pt x="66675" y="155575"/>
                    </a:moveTo>
                    <a:lnTo>
                      <a:pt x="127794" y="155575"/>
                    </a:lnTo>
                    <a:cubicBezTo>
                      <a:pt x="149274" y="155575"/>
                      <a:pt x="166688" y="138162"/>
                      <a:pt x="166688" y="116681"/>
                    </a:cubicBezTo>
                    <a:cubicBezTo>
                      <a:pt x="166688" y="95201"/>
                      <a:pt x="149274" y="77787"/>
                      <a:pt x="127794" y="77787"/>
                    </a:cubicBezTo>
                    <a:lnTo>
                      <a:pt x="38894" y="77787"/>
                    </a:lnTo>
                    <a:cubicBezTo>
                      <a:pt x="17413" y="77787"/>
                      <a:pt x="0" y="60374"/>
                      <a:pt x="0" y="38894"/>
                    </a:cubicBezTo>
                    <a:cubicBezTo>
                      <a:pt x="0" y="17413"/>
                      <a:pt x="17413" y="0"/>
                      <a:pt x="38894" y="0"/>
                    </a:cubicBezTo>
                    <a:lnTo>
                      <a:pt x="88900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115" name="TextBox 115"/>
            <p:cNvSpPr txBox="1"/>
            <p:nvPr/>
          </p:nvSpPr>
          <p:spPr>
            <a:xfrm>
              <a:off x="10710862" y="5088731"/>
              <a:ext cx="5483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Router</a:t>
              </a:r>
              <a:endParaRPr lang="zh-CN" sz="11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16" name="TextBox 116"/>
            <p:cNvSpPr txBox="1"/>
            <p:nvPr/>
          </p:nvSpPr>
          <p:spPr>
            <a:xfrm>
              <a:off x="10712768" y="5314474"/>
              <a:ext cx="54483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修复路线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17" name="Line 117"/>
            <p:cNvSpPr/>
            <p:nvPr/>
          </p:nvSpPr>
          <p:spPr>
            <a:xfrm>
              <a:off x="9734550" y="5267325"/>
              <a:ext cx="419100" cy="9525"/>
            </a:xfrm>
            <a:custGeom>
              <a:avLst/>
              <a:gdLst/>
              <a:ahLst/>
              <a:cxnLst/>
              <a:rect l="l" t="t" r="r" b="b"/>
              <a:pathLst>
                <a:path w="419100" h="9525">
                  <a:moveTo>
                    <a:pt x="0" y="0"/>
                  </a:moveTo>
                  <a:lnTo>
                    <a:pt x="419100" y="0"/>
                  </a:lnTo>
                </a:path>
              </a:pathLst>
            </a:custGeom>
            <a:noFill/>
            <a:ln w="19050">
              <a:solidFill>
                <a:srgbClr val="DC2626"/>
              </a:solidFill>
            </a:ln>
          </p:spPr>
        </p:sp>
        <p:sp>
          <p:nvSpPr>
            <p:cNvPr id="118" name="Polygon 118"/>
            <p:cNvSpPr/>
            <p:nvPr/>
          </p:nvSpPr>
          <p:spPr>
            <a:xfrm>
              <a:off x="10039350" y="52006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19" name="Freeform 119"/>
            <p:cNvSpPr/>
            <p:nvPr/>
          </p:nvSpPr>
          <p:spPr>
            <a:xfrm>
              <a:off x="7153275" y="5067300"/>
              <a:ext cx="3714750" cy="857250"/>
            </a:xfrm>
            <a:custGeom>
              <a:avLst/>
              <a:gdLst/>
              <a:ahLst/>
              <a:cxnLst/>
              <a:rect l="l" t="t" r="r" b="b"/>
              <a:pathLst>
                <a:path w="3714750" h="857250">
                  <a:moveTo>
                    <a:pt x="3714750" y="0"/>
                  </a:moveTo>
                  <a:lnTo>
                    <a:pt x="3714750" y="857250"/>
                  </a:lnTo>
                  <a:lnTo>
                    <a:pt x="0" y="857250"/>
                  </a:lnTo>
                  <a:lnTo>
                    <a:pt x="0" y="628650"/>
                  </a:lnTo>
                </a:path>
              </a:pathLst>
            </a:custGeom>
            <a:noFill/>
            <a:ln w="19050">
              <a:solidFill>
                <a:srgbClr val="DC2626"/>
              </a:solidFill>
            </a:ln>
          </p:spPr>
        </p:sp>
        <p:sp>
          <p:nvSpPr>
            <p:cNvPr id="120" name="Polygon 120"/>
            <p:cNvSpPr/>
            <p:nvPr/>
          </p:nvSpPr>
          <p:spPr>
            <a:xfrm>
              <a:off x="7086600" y="55816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0"/>
                  </a:moveTo>
                  <a:lnTo>
                    <a:pt x="0" y="114300"/>
                  </a:lnTo>
                  <a:lnTo>
                    <a:pt x="133350" y="11430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</p:grpSp>
      <p:grpSp>
        <p:nvGrpSpPr>
          <p:cNvPr id="127" name="Group 127"/>
          <p:cNvGrpSpPr/>
          <p:nvPr/>
        </p:nvGrpSpPr>
        <p:grpSpPr>
          <a:xfrm>
            <a:off x="723900" y="5524500"/>
            <a:ext cx="2838221" cy="514350"/>
            <a:chOff x="723900" y="5524500"/>
            <a:chExt cx="2838221" cy="514350"/>
          </a:xfrm>
        </p:grpSpPr>
        <p:sp>
          <p:nvSpPr>
            <p:cNvPr id="122" name="Rectangle 122"/>
            <p:cNvSpPr/>
            <p:nvPr/>
          </p:nvSpPr>
          <p:spPr>
            <a:xfrm>
              <a:off x="723900" y="5524500"/>
              <a:ext cx="2757805" cy="514350"/>
            </a:xfrm>
            <a:prstGeom prst="roundRect">
              <a:avLst>
                <a:gd name="adj" fmla="val 18519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grpSp>
          <p:nvGrpSpPr>
            <p:cNvPr id="125" name="Group 125"/>
            <p:cNvGrpSpPr/>
            <p:nvPr/>
          </p:nvGrpSpPr>
          <p:grpSpPr>
            <a:xfrm>
              <a:off x="985044" y="5688806"/>
              <a:ext cx="165100" cy="196056"/>
              <a:chOff x="985044" y="5688806"/>
              <a:chExt cx="165100" cy="196056"/>
            </a:xfrm>
          </p:grpSpPr>
          <p:sp>
            <p:nvSpPr>
              <p:cNvPr id="123" name="Freeform 123"/>
              <p:cNvSpPr/>
              <p:nvPr/>
            </p:nvSpPr>
            <p:spPr>
              <a:xfrm>
                <a:off x="1077912" y="5688806"/>
                <a:ext cx="51594" cy="51594"/>
              </a:xfrm>
              <a:custGeom>
                <a:avLst/>
                <a:gdLst/>
                <a:ahLst/>
                <a:cxnLst/>
                <a:rect l="l" t="t" r="r" b="b"/>
                <a:pathLst>
                  <a:path w="51594" h="51594">
                    <a:moveTo>
                      <a:pt x="0" y="0"/>
                    </a:moveTo>
                    <a:lnTo>
                      <a:pt x="0" y="41275"/>
                    </a:lnTo>
                    <a:cubicBezTo>
                      <a:pt x="0" y="46974"/>
                      <a:pt x="4620" y="51594"/>
                      <a:pt x="10319" y="51594"/>
                    </a:cubicBezTo>
                    <a:lnTo>
                      <a:pt x="51594" y="51594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124" name="Freeform 124"/>
              <p:cNvSpPr/>
              <p:nvPr/>
            </p:nvSpPr>
            <p:spPr>
              <a:xfrm>
                <a:off x="985044" y="5688806"/>
                <a:ext cx="165100" cy="196056"/>
              </a:xfrm>
              <a:custGeom>
                <a:avLst/>
                <a:gdLst/>
                <a:ahLst/>
                <a:cxnLst/>
                <a:rect l="l" t="t" r="r" b="b"/>
                <a:pathLst>
                  <a:path w="165100" h="196056">
                    <a:moveTo>
                      <a:pt x="67072" y="185738"/>
                    </a:moveTo>
                    <a:lnTo>
                      <a:pt x="20637" y="185738"/>
                    </a:lnTo>
                    <a:cubicBezTo>
                      <a:pt x="9240" y="185738"/>
                      <a:pt x="0" y="176498"/>
                      <a:pt x="0" y="165100"/>
                    </a:cubicBezTo>
                    <a:lnTo>
                      <a:pt x="0" y="20637"/>
                    </a:lnTo>
                    <a:cubicBezTo>
                      <a:pt x="0" y="9240"/>
                      <a:pt x="9240" y="0"/>
                      <a:pt x="20637" y="0"/>
                    </a:cubicBezTo>
                    <a:lnTo>
                      <a:pt x="92869" y="0"/>
                    </a:lnTo>
                    <a:lnTo>
                      <a:pt x="144462" y="51594"/>
                    </a:lnTo>
                    <a:lnTo>
                      <a:pt x="144462" y="103188"/>
                    </a:lnTo>
                    <a:moveTo>
                      <a:pt x="92869" y="165100"/>
                    </a:moveTo>
                    <a:lnTo>
                      <a:pt x="165100" y="165100"/>
                    </a:lnTo>
                    <a:moveTo>
                      <a:pt x="134144" y="134144"/>
                    </a:moveTo>
                    <a:lnTo>
                      <a:pt x="165100" y="165100"/>
                    </a:lnTo>
                    <a:lnTo>
                      <a:pt x="134144" y="196056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126" name="TextBox 126"/>
            <p:cNvSpPr txBox="1"/>
            <p:nvPr/>
          </p:nvSpPr>
          <p:spPr>
            <a:xfrm>
              <a:off x="1280160" y="5718810"/>
              <a:ext cx="22819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Exporter + Memory Curator</a:t>
              </a:r>
              <a:endParaRPr lang="zh-CN" sz="12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129" name="TextBox 129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04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5" dur="4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9" dur="4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4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4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7" grpId="0"/>
      <p:bldP spid="65" grpId="0"/>
      <p:bldP spid="82" grpId="0"/>
      <p:bldP spid="121" grpId="0"/>
      <p:bldP spid="1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1143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6697345" cy="41529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RAG ：本地运行记忆，而不是外部资料堆叠</a:t>
            </a:r>
            <a:endParaRPr lang="zh-CN" sz="2700" b="1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CCFBF1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8297323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检索增强复用项目自己的成功和失败经验，帮助 Goal Manager 明确本次生成的目标、约束和验收标准。</a:t>
            </a:r>
            <a:endParaRPr lang="zh-CN" sz="1350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23" name="Group 23"/>
          <p:cNvGrpSpPr/>
          <p:nvPr/>
        </p:nvGrpSpPr>
        <p:grpSpPr>
          <a:xfrm>
            <a:off x="723900" y="1752600"/>
            <a:ext cx="4686300" cy="3848100"/>
            <a:chOff x="723900" y="1752600"/>
            <a:chExt cx="4686300" cy="3848100"/>
          </a:xfrm>
        </p:grpSpPr>
        <p:sp>
          <p:nvSpPr>
            <p:cNvPr id="6" name="Rectangle 6"/>
            <p:cNvSpPr/>
            <p:nvPr/>
          </p:nvSpPr>
          <p:spPr>
            <a:xfrm>
              <a:off x="723900" y="1752600"/>
              <a:ext cx="4686300" cy="3848100"/>
            </a:xfrm>
            <a:prstGeom prst="roundRect">
              <a:avLst>
                <a:gd name="adj" fmla="val 2970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5840" y="1958340"/>
              <a:ext cx="264164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MemoryRecord 存什么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028700" y="2457450"/>
              <a:ext cx="4076700" cy="2781300"/>
            </a:xfrm>
            <a:prstGeom prst="roundRect">
              <a:avLst>
                <a:gd name="adj" fmla="val 3425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241108" y="2643664"/>
              <a:ext cx="17690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微软雅黑"/>
                  <a:cs typeface="Consolas"/>
                </a:rPr>
                <a:t>id</a:t>
              </a:r>
              <a:endParaRPr lang="zh-CN" sz="1275" dirty="0">
                <a:solidFill>
                  <a:srgbClr val="111827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403158" y="26436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稳定哈希，避免重复写入</a:t>
              </a:r>
              <a:endParaRPr lang="zh-CN" sz="12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1" name="Line 11"/>
            <p:cNvSpPr/>
            <p:nvPr/>
          </p:nvSpPr>
          <p:spPr>
            <a:xfrm>
              <a:off x="1257300" y="29718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241108" y="3119914"/>
              <a:ext cx="62745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微软雅黑"/>
                  <a:cs typeface="Consolas"/>
                </a:rPr>
                <a:t>prompt</a:t>
              </a:r>
              <a:endParaRPr lang="zh-CN" sz="1275" dirty="0">
                <a:solidFill>
                  <a:srgbClr val="111827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403158" y="3119914"/>
              <a:ext cx="105251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原始图标需求</a:t>
              </a:r>
              <a:endParaRPr lang="zh-CN" sz="12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Line 14"/>
            <p:cNvSpPr/>
            <p:nvPr/>
          </p:nvSpPr>
          <p:spPr>
            <a:xfrm>
              <a:off x="1257300" y="34480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241108" y="3596164"/>
              <a:ext cx="75497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微软雅黑"/>
                  <a:cs typeface="Consolas"/>
                </a:rPr>
                <a:t>summary</a:t>
              </a:r>
              <a:endParaRPr lang="zh-CN" sz="1275" dirty="0">
                <a:solidFill>
                  <a:srgbClr val="111827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403158" y="3596164"/>
              <a:ext cx="139255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本次运行经验摘要</a:t>
              </a:r>
              <a:endParaRPr lang="zh-CN" sz="12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Line 17"/>
            <p:cNvSpPr/>
            <p:nvPr/>
          </p:nvSpPr>
          <p:spPr>
            <a:xfrm>
              <a:off x="1257300" y="392430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241108" y="4072414"/>
              <a:ext cx="78047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微软雅黑"/>
                  <a:cs typeface="Consolas"/>
                </a:rPr>
                <a:t>patterns</a:t>
              </a:r>
              <a:endParaRPr lang="zh-CN" sz="1275" dirty="0">
                <a:solidFill>
                  <a:srgbClr val="111827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2403158" y="4072414"/>
              <a:ext cx="1562576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成功策略和失败模式</a:t>
              </a:r>
              <a:endParaRPr lang="zh-CN" sz="12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Line 20"/>
            <p:cNvSpPr/>
            <p:nvPr/>
          </p:nvSpPr>
          <p:spPr>
            <a:xfrm>
              <a:off x="1257300" y="4400550"/>
              <a:ext cx="3619500" cy="9525"/>
            </a:xfrm>
            <a:custGeom>
              <a:avLst/>
              <a:gdLst/>
              <a:ahLst/>
              <a:cxnLst/>
              <a:rect l="l" t="t" r="r" b="b"/>
              <a:pathLst>
                <a:path w="3619500" h="9525">
                  <a:moveTo>
                    <a:pt x="0" y="0"/>
                  </a:moveTo>
                  <a:lnTo>
                    <a:pt x="3619500" y="0"/>
                  </a:lnTo>
                </a:path>
              </a:pathLst>
            </a:custGeom>
            <a:noFill/>
            <a:ln w="9525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241108" y="4548664"/>
              <a:ext cx="4999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Consolas"/>
                  <a:ea typeface="微软雅黑"/>
                  <a:cs typeface="Consolas"/>
                </a:rPr>
                <a:t>score</a:t>
              </a:r>
              <a:endParaRPr lang="zh-CN" sz="1275" dirty="0">
                <a:solidFill>
                  <a:srgbClr val="111827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403158" y="4548664"/>
              <a:ext cx="19026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验证分数，用于后续判断</a:t>
              </a:r>
              <a:endParaRPr lang="zh-CN" sz="12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057900" y="1752600"/>
            <a:ext cx="5410200" cy="3848100"/>
            <a:chOff x="6057900" y="1752600"/>
            <a:chExt cx="5410200" cy="3848100"/>
          </a:xfrm>
        </p:grpSpPr>
        <p:sp>
          <p:nvSpPr>
            <p:cNvPr id="24" name="Rectangle 24"/>
            <p:cNvSpPr/>
            <p:nvPr/>
          </p:nvSpPr>
          <p:spPr>
            <a:xfrm>
              <a:off x="6057900" y="1752600"/>
              <a:ext cx="5410200" cy="3848100"/>
            </a:xfrm>
            <a:prstGeom prst="roundRect">
              <a:avLst>
                <a:gd name="adj" fmla="val 2970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339840" y="1958340"/>
              <a:ext cx="256603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检索如何进入生成链路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6477000" y="2552700"/>
              <a:ext cx="1333500" cy="704850"/>
            </a:xfrm>
            <a:prstGeom prst="roundRect">
              <a:avLst>
                <a:gd name="adj" fmla="val 13514"/>
              </a:avLst>
            </a:prstGeom>
            <a:solidFill>
              <a:srgbClr val="CCFBF1"/>
            </a:solidFill>
            <a:ln w="11430">
              <a:solidFill>
                <a:srgbClr val="0F766E"/>
              </a:solidFill>
            </a:ln>
          </p:spPr>
        </p:sp>
        <p:grpSp>
          <p:nvGrpSpPr>
            <p:cNvPr id="30" name="Group 30"/>
            <p:cNvGrpSpPr/>
            <p:nvPr/>
          </p:nvGrpSpPr>
          <p:grpSpPr>
            <a:xfrm>
              <a:off x="6715125" y="2778919"/>
              <a:ext cx="190500" cy="214312"/>
              <a:chOff x="6715125" y="2778919"/>
              <a:chExt cx="190500" cy="214312"/>
            </a:xfrm>
          </p:grpSpPr>
          <p:sp>
            <p:nvSpPr>
              <p:cNvPr id="27" name="Freeform 27"/>
              <p:cNvSpPr/>
              <p:nvPr/>
            </p:nvSpPr>
            <p:spPr>
              <a:xfrm>
                <a:off x="6715125" y="2778919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8" name="Freeform 28"/>
              <p:cNvSpPr/>
              <p:nvPr/>
            </p:nvSpPr>
            <p:spPr>
              <a:xfrm>
                <a:off x="6715125" y="2814638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29" name="Freeform 29"/>
              <p:cNvSpPr/>
              <p:nvPr/>
            </p:nvSpPr>
            <p:spPr>
              <a:xfrm>
                <a:off x="6715125" y="2886075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1" name="TextBox 31"/>
            <p:cNvSpPr txBox="1"/>
            <p:nvPr/>
          </p:nvSpPr>
          <p:spPr>
            <a:xfrm>
              <a:off x="7033260" y="2747010"/>
              <a:ext cx="45053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Index</a:t>
              </a:r>
              <a:endParaRPr lang="zh-CN" sz="12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36118" y="2980849"/>
              <a:ext cx="31730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Consolas"/>
                  <a:ea typeface="微软雅黑"/>
                  <a:cs typeface="Consolas"/>
                </a:rPr>
                <a:t>jsonl</a:t>
              </a:r>
              <a:endParaRPr lang="zh-CN" sz="975" dirty="0">
                <a:solidFill>
                  <a:srgbClr val="64748B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33" name="Line 33"/>
            <p:cNvSpPr/>
            <p:nvPr/>
          </p:nvSpPr>
          <p:spPr>
            <a:xfrm>
              <a:off x="7810500" y="290512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0955">
              <a:solidFill>
                <a:srgbClr val="0F766E"/>
              </a:solidFill>
            </a:ln>
          </p:spPr>
        </p:sp>
        <p:sp>
          <p:nvSpPr>
            <p:cNvPr id="34" name="Polygon 34"/>
            <p:cNvSpPr/>
            <p:nvPr/>
          </p:nvSpPr>
          <p:spPr>
            <a:xfrm>
              <a:off x="8305800" y="2838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8420100" y="2552700"/>
              <a:ext cx="1333500" cy="704850"/>
            </a:xfrm>
            <a:prstGeom prst="roundRect">
              <a:avLst>
                <a:gd name="adj" fmla="val 13514"/>
              </a:avLst>
            </a:prstGeom>
            <a:solidFill>
              <a:srgbClr val="CCFBF1"/>
            </a:solidFill>
            <a:ln w="11430">
              <a:solidFill>
                <a:srgbClr val="0F766E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8646319" y="2778919"/>
              <a:ext cx="214313" cy="214313"/>
              <a:chOff x="8646319" y="2778919"/>
              <a:chExt cx="214313" cy="214313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8646319" y="2778919"/>
                <a:ext cx="166688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166688">
                    <a:moveTo>
                      <a:pt x="0" y="83344"/>
                    </a:moveTo>
                    <a:cubicBezTo>
                      <a:pt x="0" y="129373"/>
                      <a:pt x="37314" y="166688"/>
                      <a:pt x="83344" y="166688"/>
                    </a:cubicBezTo>
                    <a:cubicBezTo>
                      <a:pt x="129373" y="166688"/>
                      <a:pt x="166688" y="12937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ubicBezTo>
                      <a:pt x="37314" y="0"/>
                      <a:pt x="0" y="37314"/>
                      <a:pt x="0" y="83344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8789194" y="2921794"/>
                <a:ext cx="71438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71438">
                    <a:moveTo>
                      <a:pt x="71438" y="71438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8976360" y="2747010"/>
              <a:ext cx="43373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BM25</a:t>
              </a:r>
              <a:endParaRPr lang="zh-CN" sz="12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979218" y="2980849"/>
              <a:ext cx="101288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top-k memories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1" name="Line 41"/>
            <p:cNvSpPr/>
            <p:nvPr/>
          </p:nvSpPr>
          <p:spPr>
            <a:xfrm>
              <a:off x="9753600" y="2905125"/>
              <a:ext cx="609600" cy="9525"/>
            </a:xfrm>
            <a:custGeom>
              <a:avLst/>
              <a:gdLst/>
              <a:ahLst/>
              <a:cxnLst/>
              <a:rect l="l" t="t" r="r" b="b"/>
              <a:pathLst>
                <a:path w="609600" h="9525">
                  <a:moveTo>
                    <a:pt x="0" y="0"/>
                  </a:moveTo>
                  <a:lnTo>
                    <a:pt x="60960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42" name="Polygon 42"/>
            <p:cNvSpPr/>
            <p:nvPr/>
          </p:nvSpPr>
          <p:spPr>
            <a:xfrm>
              <a:off x="10248900" y="2838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10363200" y="2552700"/>
              <a:ext cx="838200" cy="704850"/>
            </a:xfrm>
            <a:prstGeom prst="roundRect">
              <a:avLst>
                <a:gd name="adj" fmla="val 13514"/>
              </a:avLst>
            </a:prstGeom>
            <a:solidFill>
              <a:srgbClr val="DBEAFE"/>
            </a:solidFill>
            <a:ln w="11430">
              <a:solidFill>
                <a:srgbClr val="1D4ED8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10682288" y="2757488"/>
              <a:ext cx="200025" cy="200025"/>
              <a:chOff x="10682288" y="2757488"/>
              <a:chExt cx="200025" cy="200025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10771188" y="2846388"/>
                <a:ext cx="22225" cy="22225"/>
              </a:xfrm>
              <a:custGeom>
                <a:avLst/>
                <a:gdLst/>
                <a:ahLst/>
                <a:cxnLst/>
                <a:rect l="l" t="t" r="r" b="b"/>
                <a:pathLst>
                  <a:path w="22225" h="22225">
                    <a:moveTo>
                      <a:pt x="0" y="11113"/>
                    </a:moveTo>
                    <a:cubicBezTo>
                      <a:pt x="0" y="17250"/>
                      <a:pt x="4975" y="22225"/>
                      <a:pt x="11113" y="22225"/>
                    </a:cubicBezTo>
                    <a:cubicBezTo>
                      <a:pt x="17250" y="22225"/>
                      <a:pt x="22225" y="17250"/>
                      <a:pt x="22225" y="11113"/>
                    </a:cubicBezTo>
                    <a:cubicBezTo>
                      <a:pt x="22225" y="4975"/>
                      <a:pt x="17250" y="0"/>
                      <a:pt x="11113" y="0"/>
                    </a:cubicBezTo>
                    <a:cubicBezTo>
                      <a:pt x="4975" y="0"/>
                      <a:pt x="0" y="4975"/>
                      <a:pt x="0" y="11113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10726738" y="2801938"/>
                <a:ext cx="111125" cy="111125"/>
              </a:xfrm>
              <a:custGeom>
                <a:avLst/>
                <a:gdLst/>
                <a:ahLst/>
                <a:cxnLst/>
                <a:rect l="l" t="t" r="r" b="b"/>
                <a:pathLst>
                  <a:path w="111125" h="111125">
                    <a:moveTo>
                      <a:pt x="0" y="55562"/>
                    </a:moveTo>
                    <a:cubicBezTo>
                      <a:pt x="0" y="86249"/>
                      <a:pt x="24876" y="111125"/>
                      <a:pt x="55562" y="111125"/>
                    </a:cubicBezTo>
                    <a:cubicBezTo>
                      <a:pt x="86249" y="111125"/>
                      <a:pt x="111125" y="86249"/>
                      <a:pt x="111125" y="55562"/>
                    </a:cubicBezTo>
                    <a:cubicBezTo>
                      <a:pt x="111125" y="24876"/>
                      <a:pt x="86249" y="0"/>
                      <a:pt x="55562" y="0"/>
                    </a:cubicBezTo>
                    <a:cubicBezTo>
                      <a:pt x="24876" y="0"/>
                      <a:pt x="0" y="24876"/>
                      <a:pt x="0" y="5556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10682288" y="2757488"/>
                <a:ext cx="200025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0025">
                    <a:moveTo>
                      <a:pt x="0" y="100012"/>
                    </a:moveTo>
                    <a:cubicBezTo>
                      <a:pt x="0" y="155248"/>
                      <a:pt x="44777" y="200025"/>
                      <a:pt x="100012" y="200025"/>
                    </a:cubicBezTo>
                    <a:cubicBezTo>
                      <a:pt x="155248" y="200025"/>
                      <a:pt x="200025" y="155248"/>
                      <a:pt x="200025" y="100012"/>
                    </a:cubicBezTo>
                    <a:cubicBezTo>
                      <a:pt x="200025" y="44777"/>
                      <a:pt x="155248" y="0"/>
                      <a:pt x="100012" y="0"/>
                    </a:cubicBezTo>
                    <a:cubicBezTo>
                      <a:pt x="44777" y="0"/>
                      <a:pt x="0" y="44777"/>
                      <a:pt x="0" y="1000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10625622" y="3010852"/>
              <a:ext cx="313356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Goal</a:t>
              </a:r>
              <a:endParaRPr lang="zh-CN" sz="105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9" name="Rectangle 49"/>
            <p:cNvSpPr/>
            <p:nvPr/>
          </p:nvSpPr>
          <p:spPr>
            <a:xfrm>
              <a:off x="6477000" y="3848100"/>
              <a:ext cx="4724400" cy="1162050"/>
            </a:xfrm>
            <a:prstGeom prst="roundRect">
              <a:avLst>
                <a:gd name="adj" fmla="val 8197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743700" y="4010025"/>
              <a:ext cx="184432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Goal Manager 输出</a:t>
              </a:r>
              <a:endParaRPr lang="zh-CN" sz="15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745605" y="4369118"/>
              <a:ext cx="431482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objective / visual requirements / constraints / acceptance criteria</a:t>
              </a:r>
              <a:endParaRPr lang="zh-CN" sz="12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724015" y="4673918"/>
              <a:ext cx="4265295" cy="1841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后续 Rewriter、Planner、Optimizer 都能引用同一套目标口径。</a:t>
              </a:r>
              <a:endParaRPr lang="zh-CN" sz="120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1600200" y="5810250"/>
            <a:ext cx="8991600" cy="361950"/>
            <a:chOff x="1600200" y="5810250"/>
            <a:chExt cx="8991600" cy="361950"/>
          </a:xfrm>
        </p:grpSpPr>
        <p:sp>
          <p:nvSpPr>
            <p:cNvPr id="54" name="Rectangle 54"/>
            <p:cNvSpPr/>
            <p:nvPr/>
          </p:nvSpPr>
          <p:spPr>
            <a:xfrm>
              <a:off x="1600200" y="5810250"/>
              <a:ext cx="8991600" cy="361950"/>
            </a:xfrm>
            <a:prstGeom prst="roundRect">
              <a:avLst>
                <a:gd name="adj" fmla="val 21053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3129726" y="5910739"/>
              <a:ext cx="593254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RAG 的作用不是“增加材料”，而是把历史失败变成下一次生成的可用约束。</a:t>
              </a:r>
              <a:endParaRPr lang="zh-CN" sz="127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05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/>
      <p:bldP spid="53" grpId="0"/>
      <p:bldP spid="5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8385620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候选竞争：三个草稿，两路评审，一个可解释选择</a:t>
            </a:r>
            <a:endParaRPr lang="zh-CN" sz="2700" b="1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8468344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Multi-Candidate Generator 降低单次输出偶然性；两个 Critic 分别评价“像不像”和“能不能安全导出”。</a:t>
            </a:r>
            <a:endParaRPr lang="zh-CN" sz="1350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13" name="Group 13"/>
          <p:cNvGrpSpPr/>
          <p:nvPr/>
        </p:nvGrpSpPr>
        <p:grpSpPr>
          <a:xfrm>
            <a:off x="666750" y="2247900"/>
            <a:ext cx="1809750" cy="933450"/>
            <a:chOff x="666750" y="2247900"/>
            <a:chExt cx="1809750" cy="933450"/>
          </a:xfrm>
        </p:grpSpPr>
        <p:sp>
          <p:nvSpPr>
            <p:cNvPr id="6" name="Rectangle 6"/>
            <p:cNvSpPr/>
            <p:nvPr/>
          </p:nvSpPr>
          <p:spPr>
            <a:xfrm>
              <a:off x="666750" y="2247900"/>
              <a:ext cx="1809750" cy="933450"/>
            </a:xfrm>
            <a:prstGeom prst="roundRect">
              <a:avLst>
                <a:gd name="adj" fmla="val 12245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grpSp>
          <p:nvGrpSpPr>
            <p:cNvPr id="10" name="Group 10"/>
            <p:cNvGrpSpPr/>
            <p:nvPr/>
          </p:nvGrpSpPr>
          <p:grpSpPr>
            <a:xfrm>
              <a:off x="974725" y="2555875"/>
              <a:ext cx="241301" cy="241300"/>
              <a:chOff x="974725" y="2555875"/>
              <a:chExt cx="241301" cy="241300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974725" y="2555875"/>
                <a:ext cx="90488" cy="75406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75406">
                    <a:moveTo>
                      <a:pt x="0" y="30163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60325" y="0"/>
                    </a:lnTo>
                    <a:cubicBezTo>
                      <a:pt x="76983" y="0"/>
                      <a:pt x="90488" y="13504"/>
                      <a:pt x="90488" y="30163"/>
                    </a:cubicBezTo>
                    <a:lnTo>
                      <a:pt x="90488" y="45244"/>
                    </a:lnTo>
                    <a:cubicBezTo>
                      <a:pt x="90488" y="61902"/>
                      <a:pt x="76983" y="75406"/>
                      <a:pt x="60325" y="75406"/>
                    </a:cubicBezTo>
                    <a:lnTo>
                      <a:pt x="30163" y="75406"/>
                    </a:lnTo>
                    <a:cubicBezTo>
                      <a:pt x="13504" y="75406"/>
                      <a:pt x="0" y="61902"/>
                      <a:pt x="0" y="45244"/>
                    </a:cubicBezTo>
                    <a:lnTo>
                      <a:pt x="0" y="3016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974725" y="2691606"/>
                <a:ext cx="90488" cy="105569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105569">
                    <a:moveTo>
                      <a:pt x="0" y="30163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60325" y="0"/>
                    </a:lnTo>
                    <a:cubicBezTo>
                      <a:pt x="76983" y="0"/>
                      <a:pt x="90488" y="13504"/>
                      <a:pt x="90488" y="30163"/>
                    </a:cubicBezTo>
                    <a:lnTo>
                      <a:pt x="90488" y="75406"/>
                    </a:lnTo>
                    <a:cubicBezTo>
                      <a:pt x="90488" y="92065"/>
                      <a:pt x="76983" y="105569"/>
                      <a:pt x="60325" y="105569"/>
                    </a:cubicBezTo>
                    <a:lnTo>
                      <a:pt x="30163" y="105569"/>
                    </a:lnTo>
                    <a:cubicBezTo>
                      <a:pt x="13504" y="105569"/>
                      <a:pt x="0" y="92065"/>
                      <a:pt x="0" y="75406"/>
                    </a:cubicBezTo>
                    <a:lnTo>
                      <a:pt x="0" y="3016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25538" y="2555875"/>
                <a:ext cx="90488" cy="241300"/>
              </a:xfrm>
              <a:custGeom>
                <a:avLst/>
                <a:gdLst/>
                <a:ahLst/>
                <a:cxnLst/>
                <a:rect l="l" t="t" r="r" b="b"/>
                <a:pathLst>
                  <a:path w="90488" h="241300">
                    <a:moveTo>
                      <a:pt x="0" y="30163"/>
                    </a:moveTo>
                    <a:cubicBezTo>
                      <a:pt x="0" y="13504"/>
                      <a:pt x="13504" y="0"/>
                      <a:pt x="30163" y="0"/>
                    </a:cubicBezTo>
                    <a:lnTo>
                      <a:pt x="60325" y="0"/>
                    </a:lnTo>
                    <a:cubicBezTo>
                      <a:pt x="76983" y="0"/>
                      <a:pt x="90488" y="13504"/>
                      <a:pt x="90488" y="30163"/>
                    </a:cubicBezTo>
                    <a:lnTo>
                      <a:pt x="90488" y="211138"/>
                    </a:lnTo>
                    <a:cubicBezTo>
                      <a:pt x="90488" y="227796"/>
                      <a:pt x="76983" y="241300"/>
                      <a:pt x="60325" y="241300"/>
                    </a:cubicBezTo>
                    <a:lnTo>
                      <a:pt x="30163" y="241300"/>
                    </a:lnTo>
                    <a:cubicBezTo>
                      <a:pt x="13504" y="241300"/>
                      <a:pt x="0" y="227796"/>
                      <a:pt x="0" y="211138"/>
                    </a:cubicBezTo>
                    <a:lnTo>
                      <a:pt x="0" y="30163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1" name="TextBox 11"/>
            <p:cNvSpPr txBox="1"/>
            <p:nvPr/>
          </p:nvSpPr>
          <p:spPr>
            <a:xfrm>
              <a:off x="1333500" y="2569845"/>
              <a:ext cx="1077730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Generator</a:t>
              </a:r>
              <a:endParaRPr lang="zh-CN" sz="15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83932" y="2861786"/>
              <a:ext cx="128873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生成 3 个 SVG 草稿</a:t>
              </a:r>
              <a:endParaRPr lang="zh-CN" sz="112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476500" y="1790700"/>
            <a:ext cx="2152650" cy="2228850"/>
            <a:chOff x="2476500" y="1790700"/>
            <a:chExt cx="2152650" cy="2228850"/>
          </a:xfrm>
        </p:grpSpPr>
        <p:sp>
          <p:nvSpPr>
            <p:cNvPr id="14" name="Line 14"/>
            <p:cNvSpPr/>
            <p:nvPr/>
          </p:nvSpPr>
          <p:spPr>
            <a:xfrm>
              <a:off x="2476500" y="2133600"/>
              <a:ext cx="590550" cy="581025"/>
            </a:xfrm>
            <a:custGeom>
              <a:avLst/>
              <a:gdLst/>
              <a:ahLst/>
              <a:cxnLst/>
              <a:rect l="l" t="t" r="r" b="b"/>
              <a:pathLst>
                <a:path w="590550" h="581025">
                  <a:moveTo>
                    <a:pt x="0" y="581025"/>
                  </a:moveTo>
                  <a:lnTo>
                    <a:pt x="5905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2943225" y="213360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0"/>
                  </a:moveTo>
                  <a:lnTo>
                    <a:pt x="0" y="38100"/>
                  </a:lnTo>
                  <a:lnTo>
                    <a:pt x="95250" y="123825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16" name="Line 16"/>
            <p:cNvSpPr/>
            <p:nvPr/>
          </p:nvSpPr>
          <p:spPr>
            <a:xfrm>
              <a:off x="2476500" y="2714625"/>
              <a:ext cx="590550" cy="9525"/>
            </a:xfrm>
            <a:custGeom>
              <a:avLst/>
              <a:gdLst/>
              <a:ahLst/>
              <a:cxnLst/>
              <a:rect l="l" t="t" r="r" b="b"/>
              <a:pathLst>
                <a:path w="590550" h="9525">
                  <a:moveTo>
                    <a:pt x="0" y="0"/>
                  </a:moveTo>
                  <a:lnTo>
                    <a:pt x="590550" y="0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17" name="Polygon 17"/>
            <p:cNvSpPr/>
            <p:nvPr/>
          </p:nvSpPr>
          <p:spPr>
            <a:xfrm>
              <a:off x="2952750" y="26479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18" name="Line 18"/>
            <p:cNvSpPr/>
            <p:nvPr/>
          </p:nvSpPr>
          <p:spPr>
            <a:xfrm>
              <a:off x="2476500" y="2714625"/>
              <a:ext cx="590550" cy="581025"/>
            </a:xfrm>
            <a:custGeom>
              <a:avLst/>
              <a:gdLst/>
              <a:ahLst/>
              <a:cxnLst/>
              <a:rect l="l" t="t" r="r" b="b"/>
              <a:pathLst>
                <a:path w="590550" h="581025">
                  <a:moveTo>
                    <a:pt x="0" y="0"/>
                  </a:moveTo>
                  <a:lnTo>
                    <a:pt x="590550" y="581025"/>
                  </a:lnTo>
                </a:path>
              </a:pathLst>
            </a:custGeom>
            <a:noFill/>
            <a:ln w="20955">
              <a:solidFill>
                <a:srgbClr val="1D4ED8"/>
              </a:solidFill>
            </a:ln>
          </p:spPr>
        </p:sp>
        <p:sp>
          <p:nvSpPr>
            <p:cNvPr id="19" name="Polygon 19"/>
            <p:cNvSpPr/>
            <p:nvPr/>
          </p:nvSpPr>
          <p:spPr>
            <a:xfrm>
              <a:off x="2943225" y="317182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123825"/>
                  </a:moveTo>
                  <a:lnTo>
                    <a:pt x="9525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1D4ED8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3067050" y="1790700"/>
              <a:ext cx="15621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3330042" y="1911668"/>
              <a:ext cx="10361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Candidate 1</a:t>
              </a:r>
              <a:endParaRPr lang="zh-CN" sz="135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31905" y="2180749"/>
              <a:ext cx="103239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Consolas"/>
                  <a:ea typeface="微软雅黑"/>
                  <a:cs typeface="Consolas"/>
                </a:rPr>
                <a:t>candidate-1.svg</a:t>
              </a:r>
              <a:endParaRPr lang="zh-CN" sz="975" dirty="0">
                <a:solidFill>
                  <a:srgbClr val="64748B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3067050" y="2590800"/>
              <a:ext cx="15621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3306414" y="271176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Candidate 2</a:t>
              </a:r>
              <a:endParaRPr lang="zh-CN" sz="135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3315652" y="29808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Consolas"/>
                  <a:ea typeface="微软雅黑"/>
                  <a:cs typeface="Consolas"/>
                </a:rPr>
                <a:t>candidate-2.svg</a:t>
              </a:r>
              <a:endParaRPr lang="zh-CN" sz="975" dirty="0">
                <a:solidFill>
                  <a:srgbClr val="64748B"/>
                </a:solidFill>
                <a:latin typeface="Consolas"/>
                <a:ea typeface="微软雅黑"/>
                <a:cs typeface="Consolas"/>
              </a:endParaRP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3067050" y="3390900"/>
              <a:ext cx="1562100" cy="628650"/>
            </a:xfrm>
            <a:prstGeom prst="roundRect">
              <a:avLst>
                <a:gd name="adj" fmla="val 15152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306414" y="3511868"/>
              <a:ext cx="108337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Candidate 3</a:t>
              </a:r>
              <a:endParaRPr lang="zh-CN" sz="135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315652" y="37809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Consolas"/>
                  <a:ea typeface="微软雅黑"/>
                  <a:cs typeface="Consolas"/>
                </a:rPr>
                <a:t>candidate-3.svg</a:t>
              </a:r>
              <a:endParaRPr lang="zh-CN" sz="975" dirty="0">
                <a:solidFill>
                  <a:srgbClr val="64748B"/>
                </a:solidFill>
                <a:latin typeface="Consolas"/>
                <a:ea typeface="微软雅黑"/>
                <a:cs typeface="Consolas"/>
              </a:endParaRP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4629150" y="1866900"/>
            <a:ext cx="3063701" cy="2095500"/>
            <a:chOff x="4629150" y="1866900"/>
            <a:chExt cx="3063701" cy="2095500"/>
          </a:xfrm>
        </p:grpSpPr>
        <p:sp>
          <p:nvSpPr>
            <p:cNvPr id="30" name="Line 30"/>
            <p:cNvSpPr/>
            <p:nvPr/>
          </p:nvSpPr>
          <p:spPr>
            <a:xfrm>
              <a:off x="4629150" y="2305050"/>
              <a:ext cx="685800" cy="600075"/>
            </a:xfrm>
            <a:custGeom>
              <a:avLst/>
              <a:gdLst/>
              <a:ahLst/>
              <a:cxnLst/>
              <a:rect l="l" t="t" r="r" b="b"/>
              <a:pathLst>
                <a:path w="685800" h="600075">
                  <a:moveTo>
                    <a:pt x="0" y="600075"/>
                  </a:moveTo>
                  <a:lnTo>
                    <a:pt x="685800" y="0"/>
                  </a:lnTo>
                </a:path>
              </a:pathLst>
            </a:custGeom>
            <a:noFill/>
            <a:ln w="20955">
              <a:solidFill>
                <a:srgbClr val="0F766E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5191125" y="2305050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0"/>
                  </a:moveTo>
                  <a:lnTo>
                    <a:pt x="0" y="38100"/>
                  </a:lnTo>
                  <a:lnTo>
                    <a:pt x="95250" y="123825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2" name="Line 32"/>
            <p:cNvSpPr/>
            <p:nvPr/>
          </p:nvSpPr>
          <p:spPr>
            <a:xfrm>
              <a:off x="4629150" y="2905125"/>
              <a:ext cx="685800" cy="600075"/>
            </a:xfrm>
            <a:custGeom>
              <a:avLst/>
              <a:gdLst/>
              <a:ahLst/>
              <a:cxnLst/>
              <a:rect l="l" t="t" r="r" b="b"/>
              <a:pathLst>
                <a:path w="685800" h="600075">
                  <a:moveTo>
                    <a:pt x="0" y="0"/>
                  </a:moveTo>
                  <a:lnTo>
                    <a:pt x="685800" y="600075"/>
                  </a:lnTo>
                </a:path>
              </a:pathLst>
            </a:custGeom>
            <a:noFill/>
            <a:ln w="20955">
              <a:solidFill>
                <a:srgbClr val="0F766E"/>
              </a:solidFill>
            </a:ln>
          </p:spPr>
        </p:sp>
        <p:sp>
          <p:nvSpPr>
            <p:cNvPr id="33" name="Polygon 33"/>
            <p:cNvSpPr/>
            <p:nvPr/>
          </p:nvSpPr>
          <p:spPr>
            <a:xfrm>
              <a:off x="5191125" y="3381375"/>
              <a:ext cx="123825" cy="123825"/>
            </a:xfrm>
            <a:custGeom>
              <a:avLst/>
              <a:gdLst/>
              <a:ahLst/>
              <a:cxnLst/>
              <a:rect l="l" t="t" r="r" b="b"/>
              <a:pathLst>
                <a:path w="123825" h="123825">
                  <a:moveTo>
                    <a:pt x="123825" y="123825"/>
                  </a:moveTo>
                  <a:lnTo>
                    <a:pt x="95250" y="0"/>
                  </a:lnTo>
                  <a:lnTo>
                    <a:pt x="0" y="85725"/>
                  </a:lnTo>
                  <a:close/>
                </a:path>
              </a:pathLst>
            </a:custGeom>
            <a:solidFill>
              <a:srgbClr val="0F766E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314950" y="1866900"/>
              <a:ext cx="2190750" cy="895350"/>
            </a:xfrm>
            <a:prstGeom prst="roundRect">
              <a:avLst>
                <a:gd name="adj" fmla="val 12766"/>
              </a:avLst>
            </a:prstGeom>
            <a:solidFill>
              <a:srgbClr val="CCFBF1"/>
            </a:solidFill>
            <a:ln w="12382">
              <a:solidFill>
                <a:srgbClr val="0F766E"/>
              </a:solidFill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5622131" y="2174081"/>
              <a:ext cx="242887" cy="242887"/>
              <a:chOff x="5622131" y="2174081"/>
              <a:chExt cx="242887" cy="242887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5622131" y="2174081"/>
                <a:ext cx="188913" cy="188913"/>
              </a:xfrm>
              <a:custGeom>
                <a:avLst/>
                <a:gdLst/>
                <a:ahLst/>
                <a:cxnLst/>
                <a:rect l="l" t="t" r="r" b="b"/>
                <a:pathLst>
                  <a:path w="188913" h="188913">
                    <a:moveTo>
                      <a:pt x="0" y="94456"/>
                    </a:moveTo>
                    <a:cubicBezTo>
                      <a:pt x="0" y="146623"/>
                      <a:pt x="42290" y="188913"/>
                      <a:pt x="94456" y="188913"/>
                    </a:cubicBezTo>
                    <a:cubicBezTo>
                      <a:pt x="146623" y="188913"/>
                      <a:pt x="188913" y="146623"/>
                      <a:pt x="188913" y="94456"/>
                    </a:cubicBezTo>
                    <a:cubicBezTo>
                      <a:pt x="188913" y="42290"/>
                      <a:pt x="146623" y="0"/>
                      <a:pt x="94456" y="0"/>
                    </a:cubicBezTo>
                    <a:cubicBezTo>
                      <a:pt x="42290" y="0"/>
                      <a:pt x="0" y="42290"/>
                      <a:pt x="0" y="94456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5784056" y="2336006"/>
                <a:ext cx="80962" cy="80962"/>
              </a:xfrm>
              <a:custGeom>
                <a:avLst/>
                <a:gdLst/>
                <a:ahLst/>
                <a:cxnLst/>
                <a:rect l="l" t="t" r="r" b="b"/>
                <a:pathLst>
                  <a:path w="80962" h="80962">
                    <a:moveTo>
                      <a:pt x="80962" y="80962"/>
                    </a:moveTo>
                    <a:lnTo>
                      <a:pt x="0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6020752" y="2075021"/>
              <a:ext cx="152265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Semantic Critic</a:t>
              </a:r>
              <a:endParaRPr lang="zh-CN" sz="14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024562" y="239315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语义对齐、小尺寸识别</a:t>
              </a:r>
              <a:endParaRPr lang="zh-CN" sz="112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5314950" y="3067050"/>
              <a:ext cx="2190750" cy="895350"/>
            </a:xfrm>
            <a:prstGeom prst="roundRect">
              <a:avLst>
                <a:gd name="adj" fmla="val 12766"/>
              </a:avLst>
            </a:prstGeom>
            <a:solidFill>
              <a:srgbClr val="CCFBF1"/>
            </a:solidFill>
            <a:ln w="12382">
              <a:solidFill>
                <a:srgbClr val="0F766E"/>
              </a:solidFill>
            </a:ln>
          </p:spPr>
        </p:sp>
        <p:sp>
          <p:nvSpPr>
            <p:cNvPr id="41" name="Freeform 41"/>
            <p:cNvSpPr/>
            <p:nvPr/>
          </p:nvSpPr>
          <p:spPr>
            <a:xfrm>
              <a:off x="5616512" y="3374231"/>
              <a:ext cx="254126" cy="242888"/>
            </a:xfrm>
            <a:custGeom>
              <a:avLst/>
              <a:gdLst/>
              <a:ahLst/>
              <a:cxnLst/>
              <a:rect l="l" t="t" r="r" b="b"/>
              <a:pathLst>
                <a:path w="254126" h="242888">
                  <a:moveTo>
                    <a:pt x="127063" y="0"/>
                  </a:moveTo>
                  <a:cubicBezTo>
                    <a:pt x="158582" y="27886"/>
                    <a:pt x="199720" y="42405"/>
                    <a:pt x="241760" y="40481"/>
                  </a:cubicBezTo>
                  <a:cubicBezTo>
                    <a:pt x="254126" y="82548"/>
                    <a:pt x="248904" y="127832"/>
                    <a:pt x="227287" y="165980"/>
                  </a:cubicBezTo>
                  <a:cubicBezTo>
                    <a:pt x="205670" y="204128"/>
                    <a:pt x="169506" y="231879"/>
                    <a:pt x="127063" y="242888"/>
                  </a:cubicBezTo>
                  <a:cubicBezTo>
                    <a:pt x="84621" y="231879"/>
                    <a:pt x="48457" y="204128"/>
                    <a:pt x="26840" y="165980"/>
                  </a:cubicBezTo>
                  <a:cubicBezTo>
                    <a:pt x="5222" y="127832"/>
                    <a:pt x="0" y="82548"/>
                    <a:pt x="12366" y="40481"/>
                  </a:cubicBezTo>
                  <a:cubicBezTo>
                    <a:pt x="54406" y="42405"/>
                    <a:pt x="95544" y="27886"/>
                    <a:pt x="127063" y="0"/>
                  </a:cubicBezTo>
                </a:path>
              </a:pathLst>
            </a:custGeom>
            <a:noFill/>
            <a:ln w="19050">
              <a:solidFill>
                <a:srgbClr val="0F766E"/>
              </a:solidFill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940742" y="3275171"/>
              <a:ext cx="1752109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SVG Quality Critic</a:t>
              </a:r>
              <a:endParaRPr lang="zh-CN" sz="142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910262" y="3593306"/>
              <a:ext cx="1678781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可编辑、安全、渲染风险</a:t>
              </a:r>
              <a:endParaRPr lang="zh-CN" sz="112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7505700" y="2314575"/>
            <a:ext cx="4152900" cy="1200150"/>
            <a:chOff x="7505700" y="2314575"/>
            <a:chExt cx="4152900" cy="1200150"/>
          </a:xfrm>
        </p:grpSpPr>
        <p:sp>
          <p:nvSpPr>
            <p:cNvPr id="45" name="Line 45"/>
            <p:cNvSpPr/>
            <p:nvPr/>
          </p:nvSpPr>
          <p:spPr>
            <a:xfrm>
              <a:off x="7505700" y="2314575"/>
              <a:ext cx="800100" cy="590550"/>
            </a:xfrm>
            <a:custGeom>
              <a:avLst/>
              <a:gdLst/>
              <a:ahLst/>
              <a:cxnLst/>
              <a:rect l="l" t="t" r="r" b="b"/>
              <a:pathLst>
                <a:path w="800100" h="590550">
                  <a:moveTo>
                    <a:pt x="0" y="0"/>
                  </a:moveTo>
                  <a:lnTo>
                    <a:pt x="800100" y="590550"/>
                  </a:lnTo>
                </a:path>
              </a:pathLst>
            </a:custGeom>
            <a:noFill/>
            <a:ln w="20955">
              <a:solidFill>
                <a:srgbClr val="F59E0B"/>
              </a:solidFill>
            </a:ln>
          </p:spPr>
        </p:sp>
        <p:sp>
          <p:nvSpPr>
            <p:cNvPr id="46" name="Line 46"/>
            <p:cNvSpPr/>
            <p:nvPr/>
          </p:nvSpPr>
          <p:spPr>
            <a:xfrm>
              <a:off x="7505700" y="2905125"/>
              <a:ext cx="800100" cy="609600"/>
            </a:xfrm>
            <a:custGeom>
              <a:avLst/>
              <a:gdLst/>
              <a:ahLst/>
              <a:cxnLst/>
              <a:rect l="l" t="t" r="r" b="b"/>
              <a:pathLst>
                <a:path w="800100" h="609600">
                  <a:moveTo>
                    <a:pt x="0" y="609600"/>
                  </a:moveTo>
                  <a:lnTo>
                    <a:pt x="800100" y="0"/>
                  </a:lnTo>
                </a:path>
              </a:pathLst>
            </a:custGeom>
            <a:noFill/>
            <a:ln w="20955">
              <a:solidFill>
                <a:srgbClr val="F59E0B"/>
              </a:solidFill>
            </a:ln>
          </p:spPr>
        </p:sp>
        <p:sp>
          <p:nvSpPr>
            <p:cNvPr id="47" name="Polygon 47"/>
            <p:cNvSpPr/>
            <p:nvPr/>
          </p:nvSpPr>
          <p:spPr>
            <a:xfrm>
              <a:off x="8181975" y="2857500"/>
              <a:ext cx="123825" cy="133350"/>
            </a:xfrm>
            <a:custGeom>
              <a:avLst/>
              <a:gdLst/>
              <a:ahLst/>
              <a:cxnLst/>
              <a:rect l="l" t="t" r="r" b="b"/>
              <a:pathLst>
                <a:path w="123825" h="133350">
                  <a:moveTo>
                    <a:pt x="123825" y="47625"/>
                  </a:moveTo>
                  <a:lnTo>
                    <a:pt x="0" y="0"/>
                  </a:lnTo>
                  <a:lnTo>
                    <a:pt x="9525" y="13335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48" name="Rectangle 48"/>
            <p:cNvSpPr/>
            <p:nvPr/>
          </p:nvSpPr>
          <p:spPr>
            <a:xfrm>
              <a:off x="8305800" y="2381250"/>
              <a:ext cx="1428750" cy="1047750"/>
            </a:xfrm>
            <a:prstGeom prst="roundRect">
              <a:avLst>
                <a:gd name="adj" fmla="val 10909"/>
              </a:avLst>
            </a:prstGeom>
            <a:solidFill>
              <a:srgbClr val="FEF3C7"/>
            </a:solidFill>
            <a:ln w="12382">
              <a:solidFill>
                <a:srgbClr val="F59E0B"/>
              </a:solidFill>
            </a:ln>
          </p:spPr>
        </p:sp>
        <p:sp>
          <p:nvSpPr>
            <p:cNvPr id="49" name="Freeform 49"/>
            <p:cNvSpPr/>
            <p:nvPr/>
          </p:nvSpPr>
          <p:spPr>
            <a:xfrm>
              <a:off x="8811419" y="2685256"/>
              <a:ext cx="202406" cy="134937"/>
            </a:xfrm>
            <a:custGeom>
              <a:avLst/>
              <a:gdLst/>
              <a:ahLst/>
              <a:cxnLst/>
              <a:rect l="l" t="t" r="r" b="b"/>
              <a:pathLst>
                <a:path w="202406" h="134937">
                  <a:moveTo>
                    <a:pt x="0" y="67469"/>
                  </a:moveTo>
                  <a:lnTo>
                    <a:pt x="67469" y="134937"/>
                  </a:lnTo>
                  <a:lnTo>
                    <a:pt x="202406" y="0"/>
                  </a:lnTo>
                </a:path>
              </a:pathLst>
            </a:custGeom>
            <a:noFill/>
            <a:ln w="19050">
              <a:solidFill>
                <a:srgbClr val="F59E0B"/>
              </a:solidFill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565321" y="2924175"/>
              <a:ext cx="909709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Selector</a:t>
              </a:r>
              <a:endParaRPr lang="zh-CN" sz="15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523780" y="3201352"/>
              <a:ext cx="99279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winner + brief</a:t>
              </a:r>
              <a:endParaRPr lang="zh-CN" sz="105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2" name="Line 52"/>
            <p:cNvSpPr/>
            <p:nvPr/>
          </p:nvSpPr>
          <p:spPr>
            <a:xfrm>
              <a:off x="9734550" y="2905125"/>
              <a:ext cx="571500" cy="9525"/>
            </a:xfrm>
            <a:custGeom>
              <a:avLst/>
              <a:gdLst/>
              <a:ahLst/>
              <a:cxnLst/>
              <a:rect l="l" t="t" r="r" b="b"/>
              <a:pathLst>
                <a:path w="571500" h="9525">
                  <a:moveTo>
                    <a:pt x="0" y="0"/>
                  </a:moveTo>
                  <a:lnTo>
                    <a:pt x="571500" y="0"/>
                  </a:lnTo>
                </a:path>
              </a:pathLst>
            </a:custGeom>
            <a:noFill/>
            <a:ln w="20955">
              <a:solidFill>
                <a:srgbClr val="F59E0B"/>
              </a:solidFill>
            </a:ln>
          </p:spPr>
        </p:sp>
        <p:sp>
          <p:nvSpPr>
            <p:cNvPr id="53" name="Polygon 53"/>
            <p:cNvSpPr/>
            <p:nvPr/>
          </p:nvSpPr>
          <p:spPr>
            <a:xfrm>
              <a:off x="10191750" y="2838450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F59E0B"/>
            </a:solidFill>
            <a:ln>
              <a:noFill/>
            </a:ln>
          </p:spPr>
        </p:sp>
        <p:sp>
          <p:nvSpPr>
            <p:cNvPr id="54" name="Rectangle 54"/>
            <p:cNvSpPr/>
            <p:nvPr/>
          </p:nvSpPr>
          <p:spPr>
            <a:xfrm>
              <a:off x="10306050" y="2381250"/>
              <a:ext cx="1352550" cy="1047750"/>
            </a:xfrm>
            <a:prstGeom prst="roundRect">
              <a:avLst>
                <a:gd name="adj" fmla="val 10909"/>
              </a:avLst>
            </a:prstGeom>
            <a:solidFill>
              <a:srgbClr val="FEF3C7"/>
            </a:solidFill>
            <a:ln w="12382">
              <a:solidFill>
                <a:srgbClr val="F59E0B"/>
              </a:solidFill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10860881" y="2629870"/>
              <a:ext cx="244299" cy="244299"/>
              <a:chOff x="10860881" y="2629870"/>
              <a:chExt cx="244299" cy="244299"/>
            </a:xfrm>
          </p:grpSpPr>
          <p:sp>
            <p:nvSpPr>
              <p:cNvPr id="55" name="Freeform 55"/>
              <p:cNvSpPr/>
              <p:nvPr/>
            </p:nvSpPr>
            <p:spPr>
              <a:xfrm>
                <a:off x="10860881" y="2629870"/>
                <a:ext cx="244299" cy="244299"/>
              </a:xfrm>
              <a:custGeom>
                <a:avLst/>
                <a:gdLst/>
                <a:ahLst/>
                <a:cxnLst/>
                <a:rect l="l" t="t" r="r" b="b"/>
                <a:pathLst>
                  <a:path w="244299" h="244299">
                    <a:moveTo>
                      <a:pt x="0" y="244299"/>
                    </a:moveTo>
                    <a:lnTo>
                      <a:pt x="53975" y="244299"/>
                    </a:lnTo>
                    <a:lnTo>
                      <a:pt x="229394" y="68880"/>
                    </a:lnTo>
                    <a:cubicBezTo>
                      <a:pt x="244299" y="53975"/>
                      <a:pt x="244299" y="29810"/>
                      <a:pt x="229394" y="14905"/>
                    </a:cubicBezTo>
                    <a:cubicBezTo>
                      <a:pt x="214489" y="0"/>
                      <a:pt x="190324" y="0"/>
                      <a:pt x="175419" y="14905"/>
                    </a:cubicBezTo>
                    <a:lnTo>
                      <a:pt x="0" y="190324"/>
                    </a:lnTo>
                    <a:lnTo>
                      <a:pt x="0" y="24429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6" name="Freeform 56"/>
              <p:cNvSpPr/>
              <p:nvPr/>
            </p:nvSpPr>
            <p:spPr>
              <a:xfrm>
                <a:off x="11016059" y="2665016"/>
                <a:ext cx="53975" cy="53975"/>
              </a:xfrm>
              <a:custGeom>
                <a:avLst/>
                <a:gdLst/>
                <a:ahLst/>
                <a:cxnLst/>
                <a:rect l="l" t="t" r="r" b="b"/>
                <a:pathLst>
                  <a:path w="53975" h="53975">
                    <a:moveTo>
                      <a:pt x="0" y="0"/>
                    </a:moveTo>
                    <a:lnTo>
                      <a:pt x="53975" y="539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7" name="Freeform 57"/>
              <p:cNvSpPr/>
              <p:nvPr/>
            </p:nvSpPr>
            <p:spPr>
              <a:xfrm>
                <a:off x="10860881" y="2631281"/>
                <a:ext cx="121444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21444">
                    <a:moveTo>
                      <a:pt x="121444" y="67469"/>
                    </a:moveTo>
                    <a:lnTo>
                      <a:pt x="53975" y="0"/>
                    </a:lnTo>
                    <a:lnTo>
                      <a:pt x="0" y="53975"/>
                    </a:lnTo>
                    <a:lnTo>
                      <a:pt x="67469" y="121444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10894616" y="2698750"/>
                <a:ext cx="20241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20241" h="20241">
                    <a:moveTo>
                      <a:pt x="20241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10982325" y="2752725"/>
                <a:ext cx="121444" cy="121444"/>
              </a:xfrm>
              <a:custGeom>
                <a:avLst/>
                <a:gdLst/>
                <a:ahLst/>
                <a:cxnLst/>
                <a:rect l="l" t="t" r="r" b="b"/>
                <a:pathLst>
                  <a:path w="121444" h="121444">
                    <a:moveTo>
                      <a:pt x="53975" y="0"/>
                    </a:moveTo>
                    <a:lnTo>
                      <a:pt x="121444" y="67469"/>
                    </a:lnTo>
                    <a:lnTo>
                      <a:pt x="67469" y="121444"/>
                    </a:lnTo>
                    <a:lnTo>
                      <a:pt x="0" y="5397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11016059" y="2820194"/>
                <a:ext cx="20241" cy="20241"/>
              </a:xfrm>
              <a:custGeom>
                <a:avLst/>
                <a:gdLst/>
                <a:ahLst/>
                <a:cxnLst/>
                <a:rect l="l" t="t" r="r" b="b"/>
                <a:pathLst>
                  <a:path w="20241" h="20241">
                    <a:moveTo>
                      <a:pt x="20241" y="0"/>
                    </a:moveTo>
                    <a:lnTo>
                      <a:pt x="0" y="20241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453961" y="2924175"/>
              <a:ext cx="1056727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Optimizer</a:t>
              </a:r>
              <a:endParaRPr lang="zh-CN" sz="15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559439" y="3201352"/>
              <a:ext cx="84577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baseline SVG</a:t>
              </a:r>
              <a:endParaRPr lang="zh-CN" sz="105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723900" y="4876800"/>
            <a:ext cx="12015978" cy="895350"/>
            <a:chOff x="723900" y="4876800"/>
            <a:chExt cx="12015978" cy="895350"/>
          </a:xfrm>
        </p:grpSpPr>
        <p:sp>
          <p:nvSpPr>
            <p:cNvPr id="65" name="Rectangle 65"/>
            <p:cNvSpPr/>
            <p:nvPr/>
          </p:nvSpPr>
          <p:spPr>
            <a:xfrm>
              <a:off x="723900" y="4876800"/>
              <a:ext cx="3314700" cy="895350"/>
            </a:xfrm>
            <a:prstGeom prst="roundRect">
              <a:avLst>
                <a:gd name="adj" fmla="val 106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973455" y="50549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输入</a:t>
              </a:r>
              <a:endParaRPr lang="zh-CN" sz="135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5360" y="535686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结构化 IconPlan + 目标约束 + prompt rewrite</a:t>
              </a:r>
              <a:endParaRPr lang="zh-CN" sz="120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68" name="Rectangle 68"/>
            <p:cNvSpPr/>
            <p:nvPr/>
          </p:nvSpPr>
          <p:spPr>
            <a:xfrm>
              <a:off x="4438650" y="4876800"/>
              <a:ext cx="3314700" cy="895350"/>
            </a:xfrm>
            <a:prstGeom prst="roundRect">
              <a:avLst>
                <a:gd name="adj" fmla="val 106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69" name="TextBox 69"/>
            <p:cNvSpPr txBox="1"/>
            <p:nvPr/>
          </p:nvSpPr>
          <p:spPr>
            <a:xfrm>
              <a:off x="4688205" y="50549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评审</a:t>
              </a:r>
              <a:endParaRPr lang="zh-CN" sz="135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4690110" y="5356860"/>
              <a:ext cx="322287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LLM 语义判断 + SvgCheckTool 机器检查证据</a:t>
              </a:r>
              <a:endParaRPr lang="zh-CN" sz="120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71" name="Rectangle 71"/>
            <p:cNvSpPr/>
            <p:nvPr/>
          </p:nvSpPr>
          <p:spPr>
            <a:xfrm>
              <a:off x="8153400" y="4876800"/>
              <a:ext cx="3314700" cy="895350"/>
            </a:xfrm>
            <a:prstGeom prst="roundRect">
              <a:avLst>
                <a:gd name="adj" fmla="val 10638"/>
              </a:avLst>
            </a:prstGeom>
            <a:solidFill>
              <a:srgbClr val="FFFFFF"/>
            </a:solidFill>
            <a:ln w="9525">
              <a:solidFill>
                <a:srgbClr val="CBD5E1"/>
              </a:solidFill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8402955" y="5054918"/>
              <a:ext cx="412337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输出</a:t>
              </a:r>
              <a:endParaRPr lang="zh-CN" sz="135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8404860" y="5356860"/>
              <a:ext cx="433501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selected SVG、optimizer feedback source、baseline SVG</a:t>
              </a:r>
              <a:endParaRPr lang="zh-CN" sz="120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76" name="TextBox 76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06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4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4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4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29" grpId="0"/>
      <p:bldP spid="44" grpId="0"/>
      <p:bldP spid="64" grpId="0"/>
      <p:bldP spid="7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611733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修复闭环：先诊断，再选择修复路线</a:t>
            </a:r>
            <a:endParaRPr lang="zh-CN" sz="2700" b="1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FEE2E2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10016538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Validator 发现问题后，系统不直接重试；Failure Taxonomy 先归因，Repair Router 再把问题翻译成 Refiner 的具体任务。</a:t>
            </a:r>
            <a:endParaRPr lang="zh-CN" sz="1350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44" name="Group 44"/>
          <p:cNvGrpSpPr/>
          <p:nvPr/>
        </p:nvGrpSpPr>
        <p:grpSpPr>
          <a:xfrm>
            <a:off x="723900" y="1733550"/>
            <a:ext cx="6248400" cy="4095750"/>
            <a:chOff x="723900" y="1733550"/>
            <a:chExt cx="6248400" cy="4095750"/>
          </a:xfrm>
        </p:grpSpPr>
        <p:sp>
          <p:nvSpPr>
            <p:cNvPr id="6" name="Rectangle 6"/>
            <p:cNvSpPr/>
            <p:nvPr/>
          </p:nvSpPr>
          <p:spPr>
            <a:xfrm>
              <a:off x="723900" y="1733550"/>
              <a:ext cx="59055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05840" y="1939290"/>
              <a:ext cx="3208715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Validation and Repair Loop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352550" y="2686050"/>
              <a:ext cx="1428750" cy="723900"/>
            </a:xfrm>
            <a:prstGeom prst="roundRect">
              <a:avLst>
                <a:gd name="adj" fmla="val 13158"/>
              </a:avLst>
            </a:prstGeom>
            <a:solidFill>
              <a:srgbClr val="DBEAFE"/>
            </a:solidFill>
            <a:ln w="12382">
              <a:solidFill>
                <a:srgbClr val="1D4ED8"/>
              </a:solidFill>
            </a:ln>
          </p:spPr>
        </p:sp>
        <p:sp>
          <p:nvSpPr>
            <p:cNvPr id="9" name="Freeform 9"/>
            <p:cNvSpPr/>
            <p:nvPr/>
          </p:nvSpPr>
          <p:spPr>
            <a:xfrm>
              <a:off x="1592860" y="2931319"/>
              <a:ext cx="224229" cy="214312"/>
            </a:xfrm>
            <a:custGeom>
              <a:avLst/>
              <a:gdLst/>
              <a:ahLst/>
              <a:cxnLst/>
              <a:rect l="l" t="t" r="r" b="b"/>
              <a:pathLst>
                <a:path w="224229" h="214312">
                  <a:moveTo>
                    <a:pt x="112115" y="0"/>
                  </a:moveTo>
                  <a:cubicBezTo>
                    <a:pt x="139926" y="24605"/>
                    <a:pt x="176223" y="37416"/>
                    <a:pt x="213318" y="35719"/>
                  </a:cubicBezTo>
                  <a:cubicBezTo>
                    <a:pt x="224229" y="72837"/>
                    <a:pt x="219621" y="112793"/>
                    <a:pt x="200547" y="146453"/>
                  </a:cubicBezTo>
                  <a:cubicBezTo>
                    <a:pt x="181473" y="180113"/>
                    <a:pt x="149564" y="204599"/>
                    <a:pt x="112115" y="214312"/>
                  </a:cubicBezTo>
                  <a:cubicBezTo>
                    <a:pt x="74665" y="204599"/>
                    <a:pt x="42756" y="180113"/>
                    <a:pt x="23682" y="146453"/>
                  </a:cubicBezTo>
                  <a:cubicBezTo>
                    <a:pt x="4608" y="112793"/>
                    <a:pt x="0" y="72837"/>
                    <a:pt x="10911" y="35719"/>
                  </a:cubicBezTo>
                  <a:cubicBezTo>
                    <a:pt x="48006" y="37416"/>
                    <a:pt x="84304" y="24605"/>
                    <a:pt x="112115" y="0"/>
                  </a:cubicBezTo>
                </a:path>
              </a:pathLst>
            </a:custGeom>
            <a:noFill/>
            <a:ln w="19050">
              <a:solidFill>
                <a:srgbClr val="1D4ED8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945958" y="2853214"/>
              <a:ext cx="8268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Validator</a:t>
              </a:r>
              <a:endParaRPr lang="zh-CN" sz="127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949768" y="3114199"/>
              <a:ext cx="928378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score + issues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2" name="Line 12"/>
            <p:cNvSpPr/>
            <p:nvPr/>
          </p:nvSpPr>
          <p:spPr>
            <a:xfrm>
              <a:off x="2781300" y="3048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2860">
              <a:solidFill>
                <a:srgbClr val="DC2626"/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3333750" y="2981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3448050" y="2686050"/>
              <a:ext cx="1428750" cy="723900"/>
            </a:xfrm>
            <a:prstGeom prst="roundRect">
              <a:avLst>
                <a:gd name="adj" fmla="val 13158"/>
              </a:avLst>
            </a:prstGeom>
            <a:solidFill>
              <a:srgbClr val="FEE2E2"/>
            </a:solidFill>
            <a:ln w="12382">
              <a:solidFill>
                <a:srgbClr val="DC2626"/>
              </a:solidFill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3680399" y="2927363"/>
              <a:ext cx="240143" cy="206314"/>
              <a:chOff x="3680399" y="2927363"/>
              <a:chExt cx="240143" cy="206314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3800475" y="3002756"/>
                <a:ext cx="95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47625">
                    <a:moveTo>
                      <a:pt x="0" y="0"/>
                    </a:move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3680399" y="2927363"/>
                <a:ext cx="240143" cy="206314"/>
              </a:xfrm>
              <a:custGeom>
                <a:avLst/>
                <a:gdLst/>
                <a:ahLst/>
                <a:cxnLst/>
                <a:rect l="l" t="t" r="r" b="b"/>
                <a:pathLst>
                  <a:path w="240143" h="206314">
                    <a:moveTo>
                      <a:pt x="100585" y="10992"/>
                    </a:moveTo>
                    <a:lnTo>
                      <a:pt x="4073" y="172131"/>
                    </a:lnTo>
                    <a:cubicBezTo>
                      <a:pt x="25" y="179142"/>
                      <a:pt x="0" y="187775"/>
                      <a:pt x="4008" y="194810"/>
                    </a:cubicBezTo>
                    <a:cubicBezTo>
                      <a:pt x="8017" y="201844"/>
                      <a:pt x="15456" y="206223"/>
                      <a:pt x="23552" y="206314"/>
                    </a:cubicBezTo>
                    <a:lnTo>
                      <a:pt x="216600" y="206314"/>
                    </a:lnTo>
                    <a:cubicBezTo>
                      <a:pt x="224692" y="206221"/>
                      <a:pt x="232127" y="201843"/>
                      <a:pt x="236135" y="194813"/>
                    </a:cubicBezTo>
                    <a:cubicBezTo>
                      <a:pt x="240143" y="187782"/>
                      <a:pt x="240121" y="179154"/>
                      <a:pt x="236078" y="172143"/>
                    </a:cubicBezTo>
                    <a:lnTo>
                      <a:pt x="139566" y="10980"/>
                    </a:lnTo>
                    <a:cubicBezTo>
                      <a:pt x="135437" y="4164"/>
                      <a:pt x="128046" y="0"/>
                      <a:pt x="120076" y="0"/>
                    </a:cubicBezTo>
                    <a:cubicBezTo>
                      <a:pt x="112106" y="0"/>
                      <a:pt x="104715" y="4164"/>
                      <a:pt x="100585" y="10980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3800475" y="3086100"/>
                <a:ext cx="952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">
                    <a:moveTo>
                      <a:pt x="0" y="0"/>
                    </a:moveTo>
                    <a:lnTo>
                      <a:pt x="119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4041458" y="2853214"/>
              <a:ext cx="853588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Taxonomy</a:t>
              </a:r>
              <a:endParaRPr lang="zh-CN" sz="127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45268" y="3114199"/>
              <a:ext cx="7853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failure type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Line 21"/>
            <p:cNvSpPr/>
            <p:nvPr/>
          </p:nvSpPr>
          <p:spPr>
            <a:xfrm>
              <a:off x="4876800" y="3048000"/>
              <a:ext cx="666750" cy="9525"/>
            </a:xfrm>
            <a:custGeom>
              <a:avLst/>
              <a:gdLst/>
              <a:ahLst/>
              <a:cxnLst/>
              <a:rect l="l" t="t" r="r" b="b"/>
              <a:pathLst>
                <a:path w="666750" h="9525">
                  <a:moveTo>
                    <a:pt x="0" y="0"/>
                  </a:moveTo>
                  <a:lnTo>
                    <a:pt x="666750" y="0"/>
                  </a:lnTo>
                </a:path>
              </a:pathLst>
            </a:custGeom>
            <a:noFill/>
            <a:ln w="22860">
              <a:solidFill>
                <a:srgbClr val="DC2626"/>
              </a:solidFill>
            </a:ln>
          </p:spPr>
        </p:sp>
        <p:sp>
          <p:nvSpPr>
            <p:cNvPr id="22" name="Polygon 22"/>
            <p:cNvSpPr/>
            <p:nvPr/>
          </p:nvSpPr>
          <p:spPr>
            <a:xfrm>
              <a:off x="5429250" y="2981325"/>
              <a:ext cx="114300" cy="133350"/>
            </a:xfrm>
            <a:custGeom>
              <a:avLst/>
              <a:gdLst/>
              <a:ahLst/>
              <a:cxnLst/>
              <a:rect l="l" t="t" r="r" b="b"/>
              <a:pathLst>
                <a:path w="114300" h="133350">
                  <a:moveTo>
                    <a:pt x="114300" y="66675"/>
                  </a:moveTo>
                  <a:lnTo>
                    <a:pt x="0" y="0"/>
                  </a:lnTo>
                  <a:lnTo>
                    <a:pt x="0" y="13335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23" name="Rectangle 23"/>
            <p:cNvSpPr/>
            <p:nvPr/>
          </p:nvSpPr>
          <p:spPr>
            <a:xfrm>
              <a:off x="5543550" y="2686050"/>
              <a:ext cx="1428750" cy="723900"/>
            </a:xfrm>
            <a:prstGeom prst="roundRect">
              <a:avLst>
                <a:gd name="adj" fmla="val 13158"/>
              </a:avLst>
            </a:prstGeom>
            <a:solidFill>
              <a:srgbClr val="FEE2E2"/>
            </a:solidFill>
            <a:ln w="12382">
              <a:solidFill>
                <a:srgbClr val="DC2626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788819" y="2931319"/>
              <a:ext cx="214312" cy="214312"/>
              <a:chOff x="5788819" y="2931319"/>
              <a:chExt cx="214312" cy="21431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5788819" y="3098006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5955506" y="2931319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812631" y="2955131"/>
                <a:ext cx="178594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166688">
                    <a:moveTo>
                      <a:pt x="71438" y="166688"/>
                    </a:moveTo>
                    <a:lnTo>
                      <a:pt x="136922" y="166688"/>
                    </a:lnTo>
                    <a:cubicBezTo>
                      <a:pt x="159937" y="166688"/>
                      <a:pt x="178594" y="148030"/>
                      <a:pt x="178594" y="125016"/>
                    </a:cubicBezTo>
                    <a:cubicBezTo>
                      <a:pt x="178594" y="102001"/>
                      <a:pt x="159937" y="83344"/>
                      <a:pt x="136922" y="83344"/>
                    </a:cubicBezTo>
                    <a:lnTo>
                      <a:pt x="41672" y="83344"/>
                    </a:ln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6136958" y="2853214"/>
              <a:ext cx="62150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Router</a:t>
              </a:r>
              <a:endParaRPr lang="zh-CN" sz="127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6140768" y="3114199"/>
              <a:ext cx="81786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repair route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0" name="Freeform 30"/>
            <p:cNvSpPr/>
            <p:nvPr/>
          </p:nvSpPr>
          <p:spPr>
            <a:xfrm>
              <a:off x="2066925" y="3409950"/>
              <a:ext cx="4191000" cy="819150"/>
            </a:xfrm>
            <a:custGeom>
              <a:avLst/>
              <a:gdLst/>
              <a:ahLst/>
              <a:cxnLst/>
              <a:rect l="l" t="t" r="r" b="b"/>
              <a:pathLst>
                <a:path w="4191000" h="819150">
                  <a:moveTo>
                    <a:pt x="4191000" y="0"/>
                  </a:moveTo>
                  <a:lnTo>
                    <a:pt x="4191000" y="819150"/>
                  </a:lnTo>
                  <a:lnTo>
                    <a:pt x="0" y="819150"/>
                  </a:lnTo>
                  <a:lnTo>
                    <a:pt x="0" y="0"/>
                  </a:lnTo>
                </a:path>
              </a:pathLst>
            </a:custGeom>
            <a:noFill/>
            <a:ln w="22860">
              <a:solidFill>
                <a:srgbClr val="DC2626"/>
              </a:solidFill>
            </a:ln>
          </p:spPr>
        </p:sp>
        <p:sp>
          <p:nvSpPr>
            <p:cNvPr id="31" name="Polygon 31"/>
            <p:cNvSpPr/>
            <p:nvPr/>
          </p:nvSpPr>
          <p:spPr>
            <a:xfrm>
              <a:off x="2000250" y="3409950"/>
              <a:ext cx="133350" cy="114300"/>
            </a:xfrm>
            <a:custGeom>
              <a:avLst/>
              <a:gdLst/>
              <a:ahLst/>
              <a:cxnLst/>
              <a:rect l="l" t="t" r="r" b="b"/>
              <a:pathLst>
                <a:path w="133350" h="114300">
                  <a:moveTo>
                    <a:pt x="66675" y="0"/>
                  </a:moveTo>
                  <a:lnTo>
                    <a:pt x="0" y="114300"/>
                  </a:lnTo>
                  <a:lnTo>
                    <a:pt x="133350" y="114300"/>
                  </a:lnTo>
                  <a:close/>
                </a:path>
              </a:pathLst>
            </a:custGeom>
            <a:solidFill>
              <a:srgbClr val="DC262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3352800" y="3848100"/>
              <a:ext cx="1619250" cy="762000"/>
            </a:xfrm>
            <a:prstGeom prst="roundRect">
              <a:avLst>
                <a:gd name="adj" fmla="val 12500"/>
              </a:avLst>
            </a:prstGeom>
            <a:solidFill>
              <a:srgbClr val="FEF3C7"/>
            </a:solidFill>
            <a:ln w="12382">
              <a:solidFill>
                <a:srgbClr val="F59E0B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3617119" y="4111174"/>
              <a:ext cx="215558" cy="215558"/>
              <a:chOff x="3617119" y="4111174"/>
              <a:chExt cx="215558" cy="215558"/>
            </a:xfrm>
          </p:grpSpPr>
          <p:sp>
            <p:nvSpPr>
              <p:cNvPr id="33" name="Freeform 33"/>
              <p:cNvSpPr/>
              <p:nvPr/>
            </p:nvSpPr>
            <p:spPr>
              <a:xfrm>
                <a:off x="3617119" y="4111174"/>
                <a:ext cx="215558" cy="215558"/>
              </a:xfrm>
              <a:custGeom>
                <a:avLst/>
                <a:gdLst/>
                <a:ahLst/>
                <a:cxnLst/>
                <a:rect l="l" t="t" r="r" b="b"/>
                <a:pathLst>
                  <a:path w="215558" h="215558">
                    <a:moveTo>
                      <a:pt x="0" y="215558"/>
                    </a:moveTo>
                    <a:lnTo>
                      <a:pt x="47625" y="215558"/>
                    </a:lnTo>
                    <a:lnTo>
                      <a:pt x="202406" y="60776"/>
                    </a:lnTo>
                    <a:cubicBezTo>
                      <a:pt x="215558" y="47625"/>
                      <a:pt x="215558" y="26303"/>
                      <a:pt x="202406" y="13151"/>
                    </a:cubicBezTo>
                    <a:cubicBezTo>
                      <a:pt x="189255" y="0"/>
                      <a:pt x="167933" y="0"/>
                      <a:pt x="154781" y="13151"/>
                    </a:cubicBezTo>
                    <a:lnTo>
                      <a:pt x="0" y="167933"/>
                    </a:lnTo>
                    <a:lnTo>
                      <a:pt x="0" y="215558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4" name="Freeform 34"/>
              <p:cNvSpPr/>
              <p:nvPr/>
            </p:nvSpPr>
            <p:spPr>
              <a:xfrm>
                <a:off x="3754041" y="4142184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0"/>
                    </a:moveTo>
                    <a:lnTo>
                      <a:pt x="47625" y="476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3617119" y="4112419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107156" y="59531"/>
                    </a:moveTo>
                    <a:lnTo>
                      <a:pt x="47625" y="0"/>
                    </a:lnTo>
                    <a:lnTo>
                      <a:pt x="0" y="47625"/>
                    </a:lnTo>
                    <a:lnTo>
                      <a:pt x="59531" y="107156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3646884" y="4171950"/>
                <a:ext cx="17859" cy="17859"/>
              </a:xfrm>
              <a:custGeom>
                <a:avLst/>
                <a:gdLst/>
                <a:ahLst/>
                <a:cxnLst/>
                <a:rect l="l" t="t" r="r" b="b"/>
                <a:pathLst>
                  <a:path w="17859" h="17859">
                    <a:moveTo>
                      <a:pt x="17859" y="0"/>
                    </a:moveTo>
                    <a:lnTo>
                      <a:pt x="0" y="1785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3724275" y="4219575"/>
                <a:ext cx="107156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07156" h="107156">
                    <a:moveTo>
                      <a:pt x="47625" y="0"/>
                    </a:moveTo>
                    <a:lnTo>
                      <a:pt x="107156" y="59531"/>
                    </a:lnTo>
                    <a:lnTo>
                      <a:pt x="59531" y="107156"/>
                    </a:lnTo>
                    <a:lnTo>
                      <a:pt x="0" y="47625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3754041" y="4279106"/>
                <a:ext cx="17859" cy="17859"/>
              </a:xfrm>
              <a:custGeom>
                <a:avLst/>
                <a:gdLst/>
                <a:ahLst/>
                <a:cxnLst/>
                <a:rect l="l" t="t" r="r" b="b"/>
                <a:pathLst>
                  <a:path w="17859" h="17859">
                    <a:moveTo>
                      <a:pt x="17859" y="0"/>
                    </a:moveTo>
                    <a:lnTo>
                      <a:pt x="0" y="17859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3984308" y="4034314"/>
              <a:ext cx="675065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Refiner</a:t>
              </a:r>
              <a:endParaRPr lang="zh-CN" sz="1275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3988118" y="4295299"/>
              <a:ext cx="135093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complete revised SVG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1371600" y="4838700"/>
              <a:ext cx="4648200" cy="514350"/>
            </a:xfrm>
            <a:prstGeom prst="roundRect">
              <a:avLst>
                <a:gd name="adj" fmla="val 14815"/>
              </a:avLst>
            </a:prstGeom>
            <a:solidFill>
              <a:srgbClr val="F8FAFC"/>
            </a:solidFill>
            <a:ln w="9525">
              <a:solidFill>
                <a:srgbClr val="CBD5E1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1503998" y="4899184"/>
              <a:ext cx="4485005" cy="3937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最多迭代 3 轮；</a:t>
              </a:r>
              <a:endParaRPr lang="zh-CN" sz="127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如果 Validator 通过，则 Taxonomy / Router / Refiner 被跳过。</a:t>
              </a:r>
              <a:endParaRPr lang="zh-CN" sz="127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62" name="Group 62"/>
          <p:cNvGrpSpPr/>
          <p:nvPr/>
        </p:nvGrpSpPr>
        <p:grpSpPr>
          <a:xfrm>
            <a:off x="7086600" y="1733550"/>
            <a:ext cx="4381500" cy="4095750"/>
            <a:chOff x="7086600" y="1733550"/>
            <a:chExt cx="4381500" cy="4095750"/>
          </a:xfrm>
        </p:grpSpPr>
        <p:sp>
          <p:nvSpPr>
            <p:cNvPr id="45" name="Rectangle 45"/>
            <p:cNvSpPr/>
            <p:nvPr/>
          </p:nvSpPr>
          <p:spPr>
            <a:xfrm>
              <a:off x="7086600" y="1733550"/>
              <a:ext cx="43815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7368540" y="1939290"/>
              <a:ext cx="2314004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闭环带来的可见收益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grpSp>
          <p:nvGrpSpPr>
            <p:cNvPr id="51" name="Group 51"/>
            <p:cNvGrpSpPr/>
            <p:nvPr/>
          </p:nvGrpSpPr>
          <p:grpSpPr>
            <a:xfrm>
              <a:off x="7391400" y="2514600"/>
              <a:ext cx="1809750" cy="1104900"/>
              <a:chOff x="7391400" y="2514600"/>
              <a:chExt cx="1809750" cy="1104900"/>
            </a:xfrm>
          </p:grpSpPr>
          <p:sp>
            <p:nvSpPr>
              <p:cNvPr id="47" name="Rectangle 47"/>
              <p:cNvSpPr/>
              <p:nvPr/>
            </p:nvSpPr>
            <p:spPr>
              <a:xfrm>
                <a:off x="7391400" y="2514600"/>
                <a:ext cx="1809750" cy="1104900"/>
              </a:xfrm>
              <a:prstGeom prst="roundRect">
                <a:avLst>
                  <a:gd name="adj" fmla="val 8621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48" name="TextBox 48"/>
              <p:cNvSpPr txBox="1"/>
              <p:nvPr/>
            </p:nvSpPr>
            <p:spPr>
              <a:xfrm>
                <a:off x="7623810" y="2689860"/>
                <a:ext cx="87058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coffee run</a:t>
                </a:r>
                <a:endPara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49" name="TextBox 49"/>
              <p:cNvSpPr txBox="1"/>
              <p:nvPr/>
            </p:nvSpPr>
            <p:spPr>
              <a:xfrm>
                <a:off x="7597140" y="2901315"/>
                <a:ext cx="1354479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16A34A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70→95</a:t>
                </a:r>
                <a:endParaRPr lang="zh-CN" sz="3300" b="1" dirty="0">
                  <a:solidFill>
                    <a:srgbClr val="16A34A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50" name="TextBox 50"/>
              <p:cNvSpPr txBox="1"/>
              <p:nvPr/>
            </p:nvSpPr>
            <p:spPr>
              <a:xfrm>
                <a:off x="7625715" y="3372802"/>
                <a:ext cx="9507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1 轮修复后通过</a:t>
                </a:r>
                <a:endParaRPr lang="zh-CN" sz="105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  <p:grpSp>
          <p:nvGrpSpPr>
            <p:cNvPr id="56" name="Group 56"/>
            <p:cNvGrpSpPr/>
            <p:nvPr/>
          </p:nvGrpSpPr>
          <p:grpSpPr>
            <a:xfrm>
              <a:off x="9391650" y="2514600"/>
              <a:ext cx="1809750" cy="1104900"/>
              <a:chOff x="9391650" y="2514600"/>
              <a:chExt cx="1809750" cy="1104900"/>
            </a:xfrm>
          </p:grpSpPr>
          <p:sp>
            <p:nvSpPr>
              <p:cNvPr id="52" name="Rectangle 52"/>
              <p:cNvSpPr/>
              <p:nvPr/>
            </p:nvSpPr>
            <p:spPr>
              <a:xfrm>
                <a:off x="9391650" y="2514600"/>
                <a:ext cx="1809750" cy="1104900"/>
              </a:xfrm>
              <a:prstGeom prst="roundRect">
                <a:avLst>
                  <a:gd name="adj" fmla="val 8621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sp>
            <p:nvSpPr>
              <p:cNvPr id="53" name="TextBox 53"/>
              <p:cNvSpPr txBox="1"/>
              <p:nvPr/>
            </p:nvSpPr>
            <p:spPr>
              <a:xfrm>
                <a:off x="9624060" y="2689860"/>
                <a:ext cx="60655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dog run</a:t>
                </a:r>
                <a:endPara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54" name="TextBox 54"/>
              <p:cNvSpPr txBox="1"/>
              <p:nvPr/>
            </p:nvSpPr>
            <p:spPr>
              <a:xfrm>
                <a:off x="9597390" y="2901315"/>
                <a:ext cx="1493096" cy="6705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3300" b="1" dirty="0">
                    <a:solidFill>
                      <a:srgbClr val="16A34A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65→100</a:t>
                </a:r>
                <a:endParaRPr lang="zh-CN" sz="3300" b="1" dirty="0">
                  <a:solidFill>
                    <a:srgbClr val="16A34A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55" name="TextBox 55"/>
              <p:cNvSpPr txBox="1"/>
              <p:nvPr/>
            </p:nvSpPr>
            <p:spPr>
              <a:xfrm>
                <a:off x="9625965" y="3372802"/>
                <a:ext cx="95078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1 轮修复后满分</a:t>
                </a:r>
                <a:endParaRPr lang="zh-CN" sz="105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  <p:sp>
          <p:nvSpPr>
            <p:cNvPr id="57" name="Rectangle 57"/>
            <p:cNvSpPr/>
            <p:nvPr/>
          </p:nvSpPr>
          <p:spPr>
            <a:xfrm>
              <a:off x="7391400" y="3962400"/>
              <a:ext cx="3810000" cy="1491615"/>
            </a:xfrm>
            <a:prstGeom prst="roundRect">
              <a:avLst>
                <a:gd name="adj" fmla="val 7576"/>
              </a:avLst>
            </a:prstGeom>
            <a:solidFill>
              <a:srgbClr val="FEE2E2"/>
            </a:solidFill>
            <a:ln w="9525">
              <a:solidFill>
                <a:srgbClr val="DC2626"/>
              </a:solidFill>
            </a:ln>
          </p:spPr>
          <p:txBody>
            <a:bodyPr/>
            <a:p>
              <a:endParaRPr lang="zh-CN" altLang="en-US"/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7639050" y="4143375"/>
              <a:ext cx="214886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为什么不是普通 retry</a:t>
              </a:r>
              <a:endParaRPr lang="zh-CN" sz="15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7641908" y="4529614"/>
              <a:ext cx="324578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Taxonomy 保存失败类型、证据、优先级；</a:t>
              </a:r>
              <a:endParaRPr lang="zh-CN" sz="127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7641908" y="4815364"/>
              <a:ext cx="248069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Router 生成路线和具体 brief；</a:t>
              </a:r>
              <a:endParaRPr lang="zh-CN" sz="127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641908" y="5101114"/>
              <a:ext cx="289724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Refiner 才拿到上下文返回完整 SVG。</a:t>
              </a:r>
              <a:endParaRPr lang="zh-CN" sz="127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64" name="TextBox 64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07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7" dur="4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1" dur="4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  <p:bldP spid="6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5493558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Web UI：让每个 Agent 节点可见</a:t>
            </a:r>
            <a:endParaRPr lang="zh-CN" sz="2700" b="1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8810387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前端不是装饰：它把 prompt rewrite、memory context、候选、验证和 post-run 优化都变成可检查对象。</a:t>
            </a:r>
            <a:endParaRPr lang="zh-CN" sz="1350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58" name="Group 58"/>
          <p:cNvGrpSpPr/>
          <p:nvPr/>
        </p:nvGrpSpPr>
        <p:grpSpPr>
          <a:xfrm>
            <a:off x="723900" y="1733550"/>
            <a:ext cx="4857750" cy="4095750"/>
            <a:chOff x="723900" y="1733550"/>
            <a:chExt cx="4857750" cy="4095750"/>
          </a:xfrm>
        </p:grpSpPr>
        <p:sp>
          <p:nvSpPr>
            <p:cNvPr id="6" name="Rectangle 6"/>
            <p:cNvSpPr/>
            <p:nvPr/>
          </p:nvSpPr>
          <p:spPr>
            <a:xfrm>
              <a:off x="723900" y="1733550"/>
              <a:ext cx="485775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7" name="Rectangle 7"/>
            <p:cNvSpPr/>
            <p:nvPr/>
          </p:nvSpPr>
          <p:spPr>
            <a:xfrm>
              <a:off x="723900" y="1733550"/>
              <a:ext cx="4857750" cy="400050"/>
            </a:xfrm>
            <a:prstGeom prst="roundRect">
              <a:avLst>
                <a:gd name="adj" fmla="val 28571"/>
              </a:avLst>
            </a:prstGeom>
            <a:solidFill>
              <a:srgbClr val="111827"/>
            </a:solidFill>
            <a:ln>
              <a:noFill/>
            </a:ln>
          </p:spPr>
        </p:sp>
        <p:sp>
          <p:nvSpPr>
            <p:cNvPr id="8" name="Ellipse 8"/>
            <p:cNvSpPr/>
            <p:nvPr/>
          </p:nvSpPr>
          <p:spPr>
            <a:xfrm>
              <a:off x="952500" y="1876425"/>
              <a:ext cx="114300" cy="114300"/>
            </a:xfrm>
            <a:prstGeom prst="ellipse">
              <a:avLst/>
            </a:prstGeom>
            <a:solidFill>
              <a:srgbClr val="DC2626"/>
            </a:solidFill>
            <a:ln>
              <a:noFill/>
            </a:ln>
          </p:spPr>
        </p:sp>
        <p:sp>
          <p:nvSpPr>
            <p:cNvPr id="9" name="Ellipse 9"/>
            <p:cNvSpPr/>
            <p:nvPr/>
          </p:nvSpPr>
          <p:spPr>
            <a:xfrm>
              <a:off x="1143000" y="1876425"/>
              <a:ext cx="114300" cy="114300"/>
            </a:xfrm>
            <a:prstGeom prst="ellipse">
              <a:avLst/>
            </a:prstGeom>
            <a:solidFill>
              <a:srgbClr val="F59E0B"/>
            </a:solidFill>
            <a:ln>
              <a:noFill/>
            </a:ln>
          </p:spPr>
        </p:sp>
        <p:sp>
          <p:nvSpPr>
            <p:cNvPr id="10" name="Ellipse 10"/>
            <p:cNvSpPr/>
            <p:nvPr/>
          </p:nvSpPr>
          <p:spPr>
            <a:xfrm>
              <a:off x="1333500" y="1876425"/>
              <a:ext cx="114300" cy="114300"/>
            </a:xfrm>
            <a:prstGeom prst="ellipse">
              <a:avLst/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663065" y="1877378"/>
              <a:ext cx="146184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FFFFFF"/>
                  </a:solidFill>
                  <a:latin typeface="Consolas"/>
                  <a:ea typeface="微软雅黑"/>
                  <a:cs typeface="Consolas"/>
                </a:rPr>
                <a:t>SVG Icon Agent Web UI</a:t>
              </a:r>
              <a:endParaRPr lang="zh-CN" sz="1050" dirty="0">
                <a:solidFill>
                  <a:srgbClr val="FFFFFF"/>
                </a:solidFill>
                <a:latin typeface="Consolas"/>
                <a:ea typeface="微软雅黑"/>
                <a:cs typeface="Consolas"/>
              </a:endParaRPr>
            </a:p>
          </p:txBody>
        </p:sp>
        <p:grpSp>
          <p:nvGrpSpPr>
            <p:cNvPr id="24" name="Group 24"/>
            <p:cNvGrpSpPr/>
            <p:nvPr/>
          </p:nvGrpSpPr>
          <p:grpSpPr>
            <a:xfrm>
              <a:off x="1008698" y="2306479"/>
              <a:ext cx="4268152" cy="874871"/>
              <a:chOff x="1008698" y="2306479"/>
              <a:chExt cx="4268152" cy="874871"/>
            </a:xfrm>
          </p:grpSpPr>
          <p:sp>
            <p:nvSpPr>
              <p:cNvPr id="12" name="TextBox 12"/>
              <p:cNvSpPr txBox="1"/>
              <p:nvPr/>
            </p:nvSpPr>
            <p:spPr>
              <a:xfrm>
                <a:off x="1008698" y="2306479"/>
                <a:ext cx="1142643" cy="3200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575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运行状态图</a:t>
                </a:r>
                <a:endParaRPr lang="zh-CN" sz="1575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13" name="Rectangle 13"/>
              <p:cNvSpPr/>
              <p:nvPr/>
            </p:nvSpPr>
            <p:spPr>
              <a:xfrm>
                <a:off x="1028700" y="2781300"/>
                <a:ext cx="8763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CCFBF1"/>
              </a:solidFill>
              <a:ln w="9525">
                <a:solidFill>
                  <a:srgbClr val="0F766E"/>
                </a:solidFill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181531" y="2925128"/>
                <a:ext cx="570638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Memory</a:t>
                </a:r>
                <a:endParaRPr lang="zh-CN" sz="10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15" name="Rectangle 15"/>
              <p:cNvSpPr/>
              <p:nvPr/>
            </p:nvSpPr>
            <p:spPr>
              <a:xfrm>
                <a:off x="2152650" y="2781300"/>
                <a:ext cx="8763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DBEAFE"/>
              </a:solidFill>
              <a:ln w="9525">
                <a:solidFill>
                  <a:srgbClr val="1D4ED8"/>
                </a:solidFill>
              </a:ln>
            </p:spPr>
          </p:sp>
          <p:sp>
            <p:nvSpPr>
              <p:cNvPr id="16" name="TextBox 16"/>
              <p:cNvSpPr txBox="1"/>
              <p:nvPr/>
            </p:nvSpPr>
            <p:spPr>
              <a:xfrm>
                <a:off x="2434122" y="2925128"/>
                <a:ext cx="31335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Goal</a:t>
                </a:r>
                <a:endParaRPr lang="zh-CN" sz="10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17" name="Rectangle 17"/>
              <p:cNvSpPr/>
              <p:nvPr/>
            </p:nvSpPr>
            <p:spPr>
              <a:xfrm>
                <a:off x="3276600" y="2781300"/>
                <a:ext cx="8763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DBEAFE"/>
              </a:solidFill>
              <a:ln w="9525">
                <a:solidFill>
                  <a:srgbClr val="1D4ED8"/>
                </a:solidFill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3436782" y="2925128"/>
                <a:ext cx="55593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Planner</a:t>
                </a:r>
                <a:endParaRPr lang="zh-CN" sz="10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19" name="Rectangle 19"/>
              <p:cNvSpPr/>
              <p:nvPr/>
            </p:nvSpPr>
            <p:spPr>
              <a:xfrm>
                <a:off x="4400550" y="2781300"/>
                <a:ext cx="876300" cy="400050"/>
              </a:xfrm>
              <a:prstGeom prst="roundRect">
                <a:avLst>
                  <a:gd name="adj" fmla="val 19048"/>
                </a:avLst>
              </a:prstGeom>
              <a:solidFill>
                <a:srgbClr val="FEF3C7"/>
              </a:solidFill>
              <a:ln w="9525">
                <a:solidFill>
                  <a:srgbClr val="F59E0B"/>
                </a:solidFill>
              </a:ln>
            </p:spPr>
          </p:sp>
          <p:sp>
            <p:nvSpPr>
              <p:cNvPr id="20" name="TextBox 20"/>
              <p:cNvSpPr txBox="1"/>
              <p:nvPr/>
            </p:nvSpPr>
            <p:spPr>
              <a:xfrm>
                <a:off x="4520302" y="2925128"/>
                <a:ext cx="636796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105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Selector</a:t>
                </a:r>
                <a:endParaRPr lang="zh-CN" sz="10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21" name="Line 21"/>
              <p:cNvSpPr/>
              <p:nvPr/>
            </p:nvSpPr>
            <p:spPr>
              <a:xfrm>
                <a:off x="1905000" y="29813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2" name="Line 22"/>
              <p:cNvSpPr/>
              <p:nvPr/>
            </p:nvSpPr>
            <p:spPr>
              <a:xfrm>
                <a:off x="3028950" y="29813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  <p:sp>
            <p:nvSpPr>
              <p:cNvPr id="23" name="Line 23"/>
              <p:cNvSpPr/>
              <p:nvPr/>
            </p:nvSpPr>
            <p:spPr>
              <a:xfrm>
                <a:off x="4152900" y="2981325"/>
                <a:ext cx="24765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247650" h="9525">
                    <a:moveTo>
                      <a:pt x="0" y="0"/>
                    </a:moveTo>
                    <a:lnTo>
                      <a:pt x="247650" y="0"/>
                    </a:lnTo>
                  </a:path>
                </a:pathLst>
              </a:custGeom>
              <a:noFill/>
              <a:ln w="19050">
                <a:solidFill>
                  <a:srgbClr val="CBD5E1"/>
                </a:solidFill>
              </a:ln>
            </p:spPr>
          </p:sp>
        </p:grpSp>
        <p:grpSp>
          <p:nvGrpSpPr>
            <p:cNvPr id="57" name="Group 57"/>
            <p:cNvGrpSpPr/>
            <p:nvPr/>
          </p:nvGrpSpPr>
          <p:grpSpPr>
            <a:xfrm>
              <a:off x="1028700" y="3562350"/>
              <a:ext cx="4230281" cy="1600200"/>
              <a:chOff x="1028700" y="3562350"/>
              <a:chExt cx="4230281" cy="1600200"/>
            </a:xfrm>
          </p:grpSpPr>
          <p:sp>
            <p:nvSpPr>
              <p:cNvPr id="25" name="Rectangle 25"/>
              <p:cNvSpPr/>
              <p:nvPr/>
            </p:nvSpPr>
            <p:spPr>
              <a:xfrm>
                <a:off x="1028700" y="3562350"/>
                <a:ext cx="18669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30" name="Group 30"/>
              <p:cNvGrpSpPr/>
              <p:nvPr/>
            </p:nvGrpSpPr>
            <p:grpSpPr>
              <a:xfrm>
                <a:off x="1252538" y="3795712"/>
                <a:ext cx="200025" cy="200025"/>
                <a:chOff x="1252538" y="3795712"/>
                <a:chExt cx="200025" cy="200025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1252538" y="3795712"/>
                  <a:ext cx="200025" cy="20002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0025" h="200025">
                      <a:moveTo>
                        <a:pt x="33338" y="200025"/>
                      </a:moveTo>
                      <a:lnTo>
                        <a:pt x="200025" y="33338"/>
                      </a:lnTo>
                      <a:lnTo>
                        <a:pt x="166688" y="0"/>
                      </a:lnTo>
                      <a:lnTo>
                        <a:pt x="0" y="166688"/>
                      </a:lnTo>
                      <a:lnTo>
                        <a:pt x="33338" y="200025"/>
                      </a:ln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7" name="Freeform 27"/>
                <p:cNvSpPr/>
                <p:nvPr/>
              </p:nvSpPr>
              <p:spPr>
                <a:xfrm>
                  <a:off x="1385888" y="3829050"/>
                  <a:ext cx="33338" cy="3333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338" h="33338">
                      <a:moveTo>
                        <a:pt x="0" y="0"/>
                      </a:moveTo>
                      <a:lnTo>
                        <a:pt x="33338" y="33338"/>
                      </a:ln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8" name="Freeform 28"/>
                <p:cNvSpPr/>
                <p:nvPr/>
              </p:nvSpPr>
              <p:spPr>
                <a:xfrm>
                  <a:off x="1296988" y="3795712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  <p:sp>
              <p:nvSpPr>
                <p:cNvPr id="29" name="Freeform 29"/>
                <p:cNvSpPr/>
                <p:nvPr/>
              </p:nvSpPr>
              <p:spPr>
                <a:xfrm>
                  <a:off x="1408112" y="3906838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22225" y="0"/>
                      </a:moveTo>
                      <a:cubicBezTo>
                        <a:pt x="22225" y="12275"/>
                        <a:pt x="32175" y="22225"/>
                        <a:pt x="44450" y="22225"/>
                      </a:cubicBezTo>
                      <a:cubicBezTo>
                        <a:pt x="32175" y="22225"/>
                        <a:pt x="22225" y="32175"/>
                        <a:pt x="22225" y="44450"/>
                      </a:cubicBezTo>
                      <a:cubicBezTo>
                        <a:pt x="22225" y="32175"/>
                        <a:pt x="12275" y="22225"/>
                        <a:pt x="0" y="22225"/>
                      </a:cubicBezTo>
                      <a:cubicBezTo>
                        <a:pt x="12275" y="22225"/>
                        <a:pt x="22225" y="12275"/>
                        <a:pt x="22225" y="0"/>
                      </a:cubicBezTo>
                    </a:path>
                  </a:pathLst>
                </a:custGeom>
                <a:noFill/>
                <a:ln w="19050">
                  <a:solidFill>
                    <a:srgbClr val="1D4ED8"/>
                  </a:solidFill>
                </a:ln>
              </p:spPr>
            </p:sp>
          </p:grpSp>
          <p:sp>
            <p:nvSpPr>
              <p:cNvPr id="31" name="TextBox 31"/>
              <p:cNvSpPr txBox="1"/>
              <p:nvPr/>
            </p:nvSpPr>
            <p:spPr>
              <a:xfrm>
                <a:off x="1584960" y="3718560"/>
                <a:ext cx="130744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Prompt Rewrite</a:t>
                </a:r>
                <a:endPara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2" name="TextBox 32"/>
              <p:cNvSpPr txBox="1"/>
              <p:nvPr/>
            </p:nvSpPr>
            <p:spPr>
              <a:xfrm>
                <a:off x="1587818" y="3971449"/>
                <a:ext cx="1454944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原始输入和改写结果可见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3" name="Rectangle 33"/>
              <p:cNvSpPr/>
              <p:nvPr/>
            </p:nvSpPr>
            <p:spPr>
              <a:xfrm>
                <a:off x="3143250" y="3562350"/>
                <a:ext cx="18669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37" name="Group 37"/>
              <p:cNvGrpSpPr/>
              <p:nvPr/>
            </p:nvGrpSpPr>
            <p:grpSpPr>
              <a:xfrm>
                <a:off x="3378200" y="3795712"/>
                <a:ext cx="177800" cy="200025"/>
                <a:chOff x="3378200" y="3795712"/>
                <a:chExt cx="177800" cy="200025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3378200" y="3795712"/>
                  <a:ext cx="177800" cy="666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66675">
                      <a:moveTo>
                        <a:pt x="0" y="33338"/>
                      </a:moveTo>
                      <a:cubicBezTo>
                        <a:pt x="0" y="51749"/>
                        <a:pt x="39802" y="66675"/>
                        <a:pt x="88900" y="66675"/>
                      </a:cubicBezTo>
                      <a:cubicBezTo>
                        <a:pt x="137998" y="66675"/>
                        <a:pt x="177800" y="51749"/>
                        <a:pt x="177800" y="33338"/>
                      </a:cubicBezTo>
                      <a:cubicBezTo>
                        <a:pt x="177800" y="14926"/>
                        <a:pt x="137998" y="0"/>
                        <a:pt x="88900" y="0"/>
                      </a:cubicBezTo>
                      <a:cubicBezTo>
                        <a:pt x="39802" y="0"/>
                        <a:pt x="0" y="14926"/>
                        <a:pt x="0" y="33338"/>
                      </a:cubicBez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5" name="Freeform 35"/>
                <p:cNvSpPr/>
                <p:nvPr/>
              </p:nvSpPr>
              <p:spPr>
                <a:xfrm>
                  <a:off x="3378200" y="3829050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7"/>
                        <a:pt x="39802" y="100012"/>
                        <a:pt x="88900" y="100012"/>
                      </a:cubicBezTo>
                      <a:cubicBezTo>
                        <a:pt x="137998" y="100012"/>
                        <a:pt x="177800" y="85087"/>
                        <a:pt x="177800" y="66675"/>
                      </a:cubicBez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  <p:sp>
              <p:nvSpPr>
                <p:cNvPr id="36" name="Freeform 36"/>
                <p:cNvSpPr/>
                <p:nvPr/>
              </p:nvSpPr>
              <p:spPr>
                <a:xfrm>
                  <a:off x="3378200" y="3895725"/>
                  <a:ext cx="177800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77800" h="100012">
                      <a:moveTo>
                        <a:pt x="0" y="0"/>
                      </a:moveTo>
                      <a:lnTo>
                        <a:pt x="0" y="66675"/>
                      </a:lnTo>
                      <a:cubicBezTo>
                        <a:pt x="0" y="85087"/>
                        <a:pt x="39802" y="100012"/>
                        <a:pt x="88900" y="100012"/>
                      </a:cubicBezTo>
                      <a:cubicBezTo>
                        <a:pt x="137998" y="100012"/>
                        <a:pt x="177800" y="85087"/>
                        <a:pt x="177800" y="66675"/>
                      </a:cubicBezTo>
                      <a:lnTo>
                        <a:pt x="177800" y="0"/>
                      </a:lnTo>
                    </a:path>
                  </a:pathLst>
                </a:custGeom>
                <a:noFill/>
                <a:ln w="19050">
                  <a:solidFill>
                    <a:srgbClr val="0F766E"/>
                  </a:solidFill>
                </a:ln>
              </p:spPr>
            </p:sp>
          </p:grpSp>
          <p:sp>
            <p:nvSpPr>
              <p:cNvPr id="38" name="TextBox 38"/>
              <p:cNvSpPr txBox="1"/>
              <p:nvPr/>
            </p:nvSpPr>
            <p:spPr>
              <a:xfrm>
                <a:off x="3699510" y="3718560"/>
                <a:ext cx="1349445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Memory Context</a:t>
                </a:r>
                <a:endPara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3702368" y="3971449"/>
                <a:ext cx="119491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检索到的经验可复查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40" name="Rectangle 40"/>
              <p:cNvSpPr/>
              <p:nvPr/>
            </p:nvSpPr>
            <p:spPr>
              <a:xfrm>
                <a:off x="1028700" y="4476750"/>
                <a:ext cx="18669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44" name="Group 44"/>
              <p:cNvGrpSpPr/>
              <p:nvPr/>
            </p:nvGrpSpPr>
            <p:grpSpPr>
              <a:xfrm>
                <a:off x="1263650" y="4721225"/>
                <a:ext cx="177800" cy="177801"/>
                <a:chOff x="1263650" y="4721225"/>
                <a:chExt cx="177800" cy="177801"/>
              </a:xfrm>
            </p:grpSpPr>
            <p:sp>
              <p:nvSpPr>
                <p:cNvPr id="41" name="Freeform 41"/>
                <p:cNvSpPr/>
                <p:nvPr/>
              </p:nvSpPr>
              <p:spPr>
                <a:xfrm>
                  <a:off x="1263650" y="4721225"/>
                  <a:ext cx="66675" cy="5556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55562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  <a:cubicBezTo>
                        <a:pt x="56725" y="0"/>
                        <a:pt x="66675" y="9950"/>
                        <a:pt x="66675" y="22225"/>
                      </a:cubicBezTo>
                      <a:lnTo>
                        <a:pt x="66675" y="33338"/>
                      </a:lnTo>
                      <a:cubicBezTo>
                        <a:pt x="66675" y="45612"/>
                        <a:pt x="56725" y="55562"/>
                        <a:pt x="44450" y="55562"/>
                      </a:cubicBezTo>
                      <a:lnTo>
                        <a:pt x="22225" y="55562"/>
                      </a:lnTo>
                      <a:cubicBezTo>
                        <a:pt x="9950" y="55562"/>
                        <a:pt x="0" y="45612"/>
                        <a:pt x="0" y="33338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2" name="Freeform 42"/>
                <p:cNvSpPr/>
                <p:nvPr/>
              </p:nvSpPr>
              <p:spPr>
                <a:xfrm>
                  <a:off x="1263650" y="4821238"/>
                  <a:ext cx="66675" cy="777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77788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  <a:cubicBezTo>
                        <a:pt x="56725" y="0"/>
                        <a:pt x="66675" y="9950"/>
                        <a:pt x="66675" y="22225"/>
                      </a:cubicBezTo>
                      <a:lnTo>
                        <a:pt x="66675" y="55562"/>
                      </a:lnTo>
                      <a:cubicBezTo>
                        <a:pt x="66675" y="67837"/>
                        <a:pt x="56725" y="77788"/>
                        <a:pt x="44450" y="77788"/>
                      </a:cubicBezTo>
                      <a:lnTo>
                        <a:pt x="22225" y="77788"/>
                      </a:lnTo>
                      <a:cubicBezTo>
                        <a:pt x="9950" y="77788"/>
                        <a:pt x="0" y="67837"/>
                        <a:pt x="0" y="55562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  <p:sp>
              <p:nvSpPr>
                <p:cNvPr id="43" name="Freeform 43"/>
                <p:cNvSpPr/>
                <p:nvPr/>
              </p:nvSpPr>
              <p:spPr>
                <a:xfrm>
                  <a:off x="1374775" y="4721225"/>
                  <a:ext cx="66675" cy="1778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6675" h="177800">
                      <a:moveTo>
                        <a:pt x="0" y="22225"/>
                      </a:moveTo>
                      <a:cubicBezTo>
                        <a:pt x="0" y="9950"/>
                        <a:pt x="9950" y="0"/>
                        <a:pt x="22225" y="0"/>
                      </a:cubicBezTo>
                      <a:lnTo>
                        <a:pt x="44450" y="0"/>
                      </a:lnTo>
                      <a:cubicBezTo>
                        <a:pt x="56725" y="0"/>
                        <a:pt x="66675" y="9950"/>
                        <a:pt x="66675" y="22225"/>
                      </a:cubicBezTo>
                      <a:lnTo>
                        <a:pt x="66675" y="155575"/>
                      </a:lnTo>
                      <a:cubicBezTo>
                        <a:pt x="66675" y="167850"/>
                        <a:pt x="56725" y="177800"/>
                        <a:pt x="44450" y="177800"/>
                      </a:cubicBezTo>
                      <a:lnTo>
                        <a:pt x="22225" y="177800"/>
                      </a:lnTo>
                      <a:cubicBezTo>
                        <a:pt x="9950" y="177800"/>
                        <a:pt x="0" y="167850"/>
                        <a:pt x="0" y="155575"/>
                      </a:cubicBezTo>
                      <a:lnTo>
                        <a:pt x="0" y="22225"/>
                      </a:lnTo>
                    </a:path>
                  </a:pathLst>
                </a:custGeom>
                <a:noFill/>
                <a:ln w="19050">
                  <a:solidFill>
                    <a:srgbClr val="F59E0B"/>
                  </a:solidFill>
                </a:ln>
              </p:spPr>
            </p:sp>
          </p:grpSp>
          <p:sp>
            <p:nvSpPr>
              <p:cNvPr id="45" name="TextBox 45"/>
              <p:cNvSpPr txBox="1"/>
              <p:nvPr/>
            </p:nvSpPr>
            <p:spPr>
              <a:xfrm>
                <a:off x="1584960" y="4632960"/>
                <a:ext cx="912590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Candidates</a:t>
                </a:r>
                <a:endPara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46" name="TextBox 46"/>
              <p:cNvSpPr txBox="1"/>
              <p:nvPr/>
            </p:nvSpPr>
            <p:spPr>
              <a:xfrm>
                <a:off x="1587818" y="4885849"/>
                <a:ext cx="161096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候选、选中、baseline 对比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47" name="Rectangle 47"/>
              <p:cNvSpPr/>
              <p:nvPr/>
            </p:nvSpPr>
            <p:spPr>
              <a:xfrm>
                <a:off x="3143250" y="4476750"/>
                <a:ext cx="1866900" cy="685800"/>
              </a:xfrm>
              <a:prstGeom prst="roundRect">
                <a:avLst>
                  <a:gd name="adj" fmla="val 1388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grpSp>
            <p:nvGrpSpPr>
              <p:cNvPr id="54" name="Group 54"/>
              <p:cNvGrpSpPr/>
              <p:nvPr/>
            </p:nvGrpSpPr>
            <p:grpSpPr>
              <a:xfrm>
                <a:off x="3367088" y="4708950"/>
                <a:ext cx="201187" cy="201187"/>
                <a:chOff x="3367088" y="4708950"/>
                <a:chExt cx="201187" cy="201187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3367088" y="4708950"/>
                  <a:ext cx="201187" cy="20118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187" h="201187">
                      <a:moveTo>
                        <a:pt x="0" y="201187"/>
                      </a:moveTo>
                      <a:lnTo>
                        <a:pt x="44450" y="201187"/>
                      </a:lnTo>
                      <a:lnTo>
                        <a:pt x="188912" y="56725"/>
                      </a:lnTo>
                      <a:cubicBezTo>
                        <a:pt x="201187" y="44450"/>
                        <a:pt x="201187" y="24549"/>
                        <a:pt x="188912" y="12275"/>
                      </a:cubicBezTo>
                      <a:cubicBezTo>
                        <a:pt x="176638" y="0"/>
                        <a:pt x="156737" y="0"/>
                        <a:pt x="144463" y="12275"/>
                      </a:cubicBezTo>
                      <a:lnTo>
                        <a:pt x="0" y="156737"/>
                      </a:lnTo>
                      <a:lnTo>
                        <a:pt x="0" y="201187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49" name="Freeform 49"/>
                <p:cNvSpPr/>
                <p:nvPr/>
              </p:nvSpPr>
              <p:spPr>
                <a:xfrm>
                  <a:off x="3494881" y="4737894"/>
                  <a:ext cx="44450" cy="44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4450" h="44450">
                      <a:moveTo>
                        <a:pt x="0" y="0"/>
                      </a:moveTo>
                      <a:lnTo>
                        <a:pt x="44450" y="4445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0" name="Freeform 50"/>
                <p:cNvSpPr/>
                <p:nvPr/>
              </p:nvSpPr>
              <p:spPr>
                <a:xfrm>
                  <a:off x="3367088" y="4710112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100012" y="55562"/>
                      </a:moveTo>
                      <a:lnTo>
                        <a:pt x="44450" y="0"/>
                      </a:lnTo>
                      <a:lnTo>
                        <a:pt x="0" y="44450"/>
                      </a:lnTo>
                      <a:lnTo>
                        <a:pt x="55562" y="100012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1" name="Freeform 51"/>
                <p:cNvSpPr/>
                <p:nvPr/>
              </p:nvSpPr>
              <p:spPr>
                <a:xfrm>
                  <a:off x="3394869" y="4765675"/>
                  <a:ext cx="16669" cy="16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9" h="16669">
                      <a:moveTo>
                        <a:pt x="16669" y="0"/>
                      </a:moveTo>
                      <a:lnTo>
                        <a:pt x="0" y="16669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2" name="Freeform 52"/>
                <p:cNvSpPr/>
                <p:nvPr/>
              </p:nvSpPr>
              <p:spPr>
                <a:xfrm>
                  <a:off x="3467100" y="4810125"/>
                  <a:ext cx="100012" cy="1000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00012" h="100012">
                      <a:moveTo>
                        <a:pt x="44450" y="0"/>
                      </a:moveTo>
                      <a:lnTo>
                        <a:pt x="100012" y="55562"/>
                      </a:lnTo>
                      <a:lnTo>
                        <a:pt x="55562" y="100012"/>
                      </a:lnTo>
                      <a:lnTo>
                        <a:pt x="0" y="44450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  <p:sp>
              <p:nvSpPr>
                <p:cNvPr id="53" name="Freeform 53"/>
                <p:cNvSpPr/>
                <p:nvPr/>
              </p:nvSpPr>
              <p:spPr>
                <a:xfrm>
                  <a:off x="3494881" y="4865688"/>
                  <a:ext cx="16669" cy="1666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669" h="16669">
                      <a:moveTo>
                        <a:pt x="16669" y="0"/>
                      </a:moveTo>
                      <a:lnTo>
                        <a:pt x="0" y="16669"/>
                      </a:lnTo>
                    </a:path>
                  </a:pathLst>
                </a:custGeom>
                <a:noFill/>
                <a:ln w="19050">
                  <a:solidFill>
                    <a:srgbClr val="DC2626"/>
                  </a:solidFill>
                </a:ln>
              </p:spPr>
            </p:sp>
          </p:grpSp>
          <p:sp>
            <p:nvSpPr>
              <p:cNvPr id="55" name="TextBox 55"/>
              <p:cNvSpPr txBox="1"/>
              <p:nvPr/>
            </p:nvSpPr>
            <p:spPr>
              <a:xfrm>
                <a:off x="3699510" y="4632960"/>
                <a:ext cx="1559471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11827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Post-run feedback</a:t>
                </a:r>
                <a:endPara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56" name="TextBox 56"/>
              <p:cNvSpPr txBox="1"/>
              <p:nvPr/>
            </p:nvSpPr>
            <p:spPr>
              <a:xfrm>
                <a:off x="3702368" y="4885849"/>
                <a:ext cx="1324928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人工建议触发二次优化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</p:grpSp>
      <p:grpSp>
        <p:nvGrpSpPr>
          <p:cNvPr id="88" name="Group 88"/>
          <p:cNvGrpSpPr/>
          <p:nvPr/>
        </p:nvGrpSpPr>
        <p:grpSpPr>
          <a:xfrm>
            <a:off x="6057900" y="1733550"/>
            <a:ext cx="5410200" cy="4095750"/>
            <a:chOff x="6057900" y="1733550"/>
            <a:chExt cx="5410200" cy="4095750"/>
          </a:xfrm>
        </p:grpSpPr>
        <p:sp>
          <p:nvSpPr>
            <p:cNvPr id="59" name="Rectangle 59"/>
            <p:cNvSpPr/>
            <p:nvPr/>
          </p:nvSpPr>
          <p:spPr>
            <a:xfrm>
              <a:off x="6057900" y="1733550"/>
              <a:ext cx="5410200" cy="4095750"/>
            </a:xfrm>
            <a:prstGeom prst="roundRect">
              <a:avLst>
                <a:gd name="adj" fmla="val 2791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6339840" y="1939290"/>
              <a:ext cx="1557909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精选生成结果</a:t>
              </a:r>
              <a:endParaRPr lang="zh-CN" sz="18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6348412" y="2278856"/>
              <a:ext cx="39440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选择标准：轮廓清楚、放大不乱、覆盖不同 prompt 类型。</a:t>
              </a:r>
              <a:endParaRPr lang="zh-CN" sz="112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grpSp>
          <p:nvGrpSpPr>
            <p:cNvPr id="74" name="Group 74"/>
            <p:cNvGrpSpPr/>
            <p:nvPr/>
          </p:nvGrpSpPr>
          <p:grpSpPr>
            <a:xfrm>
              <a:off x="6362700" y="2686050"/>
              <a:ext cx="4838700" cy="1200150"/>
              <a:chOff x="6362700" y="2686050"/>
              <a:chExt cx="4838700" cy="1200150"/>
            </a:xfrm>
          </p:grpSpPr>
          <p:sp>
            <p:nvSpPr>
              <p:cNvPr id="62" name="Rectangle 62"/>
              <p:cNvSpPr/>
              <p:nvPr/>
            </p:nvSpPr>
            <p:spPr>
              <a:xfrm>
                <a:off x="6362700" y="268605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63" name="Image 63"/>
              <p:cNvPicPr>
                <a:picLocks noChangeAspect="1"/>
              </p:cNvPicPr>
              <p:nvPr/>
            </p:nvPicPr>
            <p:blipFill>
              <a:blip r:embed="rId1"/>
              <a:stretch>
                <a:fillRect/>
              </a:stretch>
            </p:blipFill>
            <p:spPr>
              <a:xfrm>
                <a:off x="6534150" y="2781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64" name="TextBox 64"/>
              <p:cNvSpPr txBox="1"/>
              <p:nvPr/>
            </p:nvSpPr>
            <p:spPr>
              <a:xfrm>
                <a:off x="6669191" y="3628549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rocket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65" name="Rectangle 65"/>
              <p:cNvSpPr/>
              <p:nvPr/>
            </p:nvSpPr>
            <p:spPr>
              <a:xfrm>
                <a:off x="7620000" y="268605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66" name="Image 66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7791450" y="2781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67" name="TextBox 67"/>
              <p:cNvSpPr txBox="1"/>
              <p:nvPr/>
            </p:nvSpPr>
            <p:spPr>
              <a:xfrm>
                <a:off x="7926491" y="3628549"/>
                <a:ext cx="45381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coffee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68" name="Rectangle 68"/>
              <p:cNvSpPr/>
              <p:nvPr/>
            </p:nvSpPr>
            <p:spPr>
              <a:xfrm>
                <a:off x="8877300" y="268605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69" name="Image 69"/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048750" y="2781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70" name="TextBox 70"/>
              <p:cNvSpPr txBox="1"/>
              <p:nvPr/>
            </p:nvSpPr>
            <p:spPr>
              <a:xfrm>
                <a:off x="9291054" y="3628549"/>
                <a:ext cx="2392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dog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71" name="Rectangle 71"/>
              <p:cNvSpPr/>
              <p:nvPr/>
            </p:nvSpPr>
            <p:spPr>
              <a:xfrm>
                <a:off x="10134600" y="268605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72" name="Image 72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0306050" y="278130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73" name="TextBox 73"/>
              <p:cNvSpPr txBox="1"/>
              <p:nvPr/>
            </p:nvSpPr>
            <p:spPr>
              <a:xfrm>
                <a:off x="10512600" y="3628549"/>
                <a:ext cx="31080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book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  <p:grpSp>
          <p:nvGrpSpPr>
            <p:cNvPr id="87" name="Group 87"/>
            <p:cNvGrpSpPr/>
            <p:nvPr/>
          </p:nvGrpSpPr>
          <p:grpSpPr>
            <a:xfrm>
              <a:off x="6362700" y="4114800"/>
              <a:ext cx="4838700" cy="1200150"/>
              <a:chOff x="6362700" y="4114800"/>
              <a:chExt cx="4838700" cy="1200150"/>
            </a:xfrm>
          </p:grpSpPr>
          <p:sp>
            <p:nvSpPr>
              <p:cNvPr id="75" name="Rectangle 75"/>
              <p:cNvSpPr/>
              <p:nvPr/>
            </p:nvSpPr>
            <p:spPr>
              <a:xfrm>
                <a:off x="6362700" y="411480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76" name="Image 76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6534150" y="421005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77" name="TextBox 77"/>
              <p:cNvSpPr txBox="1"/>
              <p:nvPr/>
            </p:nvSpPr>
            <p:spPr>
              <a:xfrm>
                <a:off x="6578179" y="5057299"/>
                <a:ext cx="635841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landscape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78" name="Rectangle 78"/>
              <p:cNvSpPr/>
              <p:nvPr/>
            </p:nvSpPr>
            <p:spPr>
              <a:xfrm>
                <a:off x="7620000" y="411480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79" name="Image 79"/>
              <p:cNvPicPr>
                <a:picLocks noChangeAspect="1"/>
              </p:cNvPicPr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791450" y="421005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80" name="TextBox 80"/>
              <p:cNvSpPr txBox="1"/>
              <p:nvPr/>
            </p:nvSpPr>
            <p:spPr>
              <a:xfrm>
                <a:off x="7978497" y="5057299"/>
                <a:ext cx="349806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cloud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81" name="Rectangle 81"/>
              <p:cNvSpPr/>
              <p:nvPr/>
            </p:nvSpPr>
            <p:spPr>
              <a:xfrm>
                <a:off x="8877300" y="411480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82" name="Image 82"/>
              <p:cNvPicPr>
                <a:picLocks noChangeAspect="1"/>
              </p:cNvPicPr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048750" y="421005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83" name="TextBox 83"/>
              <p:cNvSpPr txBox="1"/>
              <p:nvPr/>
            </p:nvSpPr>
            <p:spPr>
              <a:xfrm>
                <a:off x="9216295" y="5057299"/>
                <a:ext cx="38881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shield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  <p:sp>
            <p:nvSpPr>
              <p:cNvPr id="84" name="Rectangle 84"/>
              <p:cNvSpPr/>
              <p:nvPr/>
            </p:nvSpPr>
            <p:spPr>
              <a:xfrm>
                <a:off x="10134600" y="4114800"/>
                <a:ext cx="1066800" cy="1200150"/>
              </a:xfrm>
              <a:prstGeom prst="roundRect">
                <a:avLst>
                  <a:gd name="adj" fmla="val 8929"/>
                </a:avLst>
              </a:prstGeom>
              <a:solidFill>
                <a:srgbClr val="F8FAFC"/>
              </a:solidFill>
              <a:ln w="9525">
                <a:solidFill>
                  <a:srgbClr val="CBD5E1"/>
                </a:solidFill>
              </a:ln>
            </p:spPr>
          </p:sp>
          <p:pic>
            <p:nvPicPr>
              <p:cNvPr id="85" name="Image 85"/>
              <p:cNvPicPr>
                <a:picLocks noChangeAspect="1"/>
              </p:cNvPicPr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10306050" y="4210050"/>
                <a:ext cx="723900" cy="723900"/>
              </a:xfrm>
              <a:prstGeom prst="rect">
                <a:avLst/>
              </a:prstGeom>
            </p:spPr>
          </p:pic>
          <p:sp>
            <p:nvSpPr>
              <p:cNvPr id="86" name="TextBox 86"/>
              <p:cNvSpPr txBox="1"/>
              <p:nvPr/>
            </p:nvSpPr>
            <p:spPr>
              <a:xfrm>
                <a:off x="10385834" y="5057299"/>
                <a:ext cx="56433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dirty="0">
                    <a:solidFill>
                      <a:srgbClr val="64748B"/>
                    </a:solidFill>
                    <a:latin typeface="Arial" panose="020B0604020202090204"/>
                    <a:ea typeface="微软雅黑"/>
                    <a:cs typeface="Arial" panose="020B0604020202090204"/>
                  </a:rPr>
                  <a:t>calendar</a:t>
                </a:r>
                <a:endPara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endParaRPr>
              </a:p>
            </p:txBody>
          </p:sp>
        </p:grpSp>
      </p:grpSp>
      <p:sp>
        <p:nvSpPr>
          <p:cNvPr id="89" name="TextBox 89"/>
          <p:cNvSpPr txBox="1"/>
          <p:nvPr/>
        </p:nvSpPr>
        <p:spPr>
          <a:xfrm>
            <a:off x="521970" y="6322695"/>
            <a:ext cx="404336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Source: svg_icon_agent/web_app.py, outputs/web/*/refined/*.svg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90" name="TextBox 90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08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" grpId="0"/>
      <p:bldP spid="8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TextBox 3"/>
          <p:cNvSpPr txBox="1"/>
          <p:nvPr/>
        </p:nvSpPr>
        <p:spPr>
          <a:xfrm>
            <a:off x="499110" y="394335"/>
            <a:ext cx="7478306" cy="54864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27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当前结果：15 个 Web 样本，修复后全部有效</a:t>
            </a:r>
            <a:endParaRPr lang="zh-CN" sz="2700" b="1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4" name="Rectangle 4"/>
          <p:cNvSpPr/>
          <p:nvPr/>
        </p:nvSpPr>
        <p:spPr>
          <a:xfrm>
            <a:off x="533400" y="914400"/>
            <a:ext cx="11125200" cy="495300"/>
          </a:xfrm>
          <a:prstGeom prst="roundRect">
            <a:avLst>
              <a:gd name="adj" fmla="val 15385"/>
            </a:avLst>
          </a:prstGeom>
          <a:solidFill>
            <a:srgbClr val="DBEAF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725805" y="1082992"/>
            <a:ext cx="9314450" cy="2743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现有运行结果说明修复闭环能提高通过率和平均分，但样本来自多次 Web 单 prompt 运行，不等同于完整批量基准。</a:t>
            </a:r>
            <a:endParaRPr lang="zh-CN" sz="1350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28" name="Group 28"/>
          <p:cNvGrpSpPr/>
          <p:nvPr/>
        </p:nvGrpSpPr>
        <p:grpSpPr>
          <a:xfrm>
            <a:off x="723900" y="1752600"/>
            <a:ext cx="9239250" cy="1371600"/>
            <a:chOff x="723900" y="1752600"/>
            <a:chExt cx="9239250" cy="1371600"/>
          </a:xfrm>
        </p:grpSpPr>
        <p:sp>
          <p:nvSpPr>
            <p:cNvPr id="6" name="Rectangle 6"/>
            <p:cNvSpPr/>
            <p:nvPr/>
          </p:nvSpPr>
          <p:spPr>
            <a:xfrm>
              <a:off x="723900" y="1752600"/>
              <a:ext cx="2095500" cy="13716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1028700" y="2051050"/>
              <a:ext cx="228600" cy="212725"/>
              <a:chOff x="1028700" y="2051050"/>
              <a:chExt cx="228600" cy="212725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1028700" y="2152650"/>
                <a:ext cx="76200" cy="1016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016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88900"/>
                    </a:lnTo>
                    <a:cubicBezTo>
                      <a:pt x="76200" y="95914"/>
                      <a:pt x="70514" y="101600"/>
                      <a:pt x="63500" y="101600"/>
                    </a:cubicBezTo>
                    <a:lnTo>
                      <a:pt x="12700" y="101600"/>
                    </a:lnTo>
                    <a:cubicBezTo>
                      <a:pt x="5686" y="101600"/>
                      <a:pt x="0" y="95914"/>
                      <a:pt x="0" y="889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8" name="Freeform 8"/>
              <p:cNvSpPr/>
              <p:nvPr/>
            </p:nvSpPr>
            <p:spPr>
              <a:xfrm>
                <a:off x="1181100" y="2101850"/>
                <a:ext cx="76200" cy="1524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1524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39700"/>
                    </a:lnTo>
                    <a:cubicBezTo>
                      <a:pt x="76200" y="146714"/>
                      <a:pt x="70514" y="152400"/>
                      <a:pt x="63500" y="152400"/>
                    </a:cubicBezTo>
                    <a:lnTo>
                      <a:pt x="12700" y="152400"/>
                    </a:lnTo>
                    <a:cubicBezTo>
                      <a:pt x="5686" y="152400"/>
                      <a:pt x="0" y="146714"/>
                      <a:pt x="0" y="1397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9" name="Freeform 9"/>
              <p:cNvSpPr/>
              <p:nvPr/>
            </p:nvSpPr>
            <p:spPr>
              <a:xfrm>
                <a:off x="1104900" y="2051050"/>
                <a:ext cx="76200" cy="203200"/>
              </a:xfrm>
              <a:custGeom>
                <a:avLst/>
                <a:gdLst/>
                <a:ahLst/>
                <a:cxnLst/>
                <a:rect l="l" t="t" r="r" b="b"/>
                <a:pathLst>
                  <a:path w="76200" h="203200">
                    <a:moveTo>
                      <a:pt x="0" y="12700"/>
                    </a:moveTo>
                    <a:cubicBezTo>
                      <a:pt x="0" y="5686"/>
                      <a:pt x="5686" y="0"/>
                      <a:pt x="12700" y="0"/>
                    </a:cubicBezTo>
                    <a:lnTo>
                      <a:pt x="63500" y="0"/>
                    </a:lnTo>
                    <a:cubicBezTo>
                      <a:pt x="70514" y="0"/>
                      <a:pt x="76200" y="5686"/>
                      <a:pt x="76200" y="12700"/>
                    </a:cubicBezTo>
                    <a:lnTo>
                      <a:pt x="76200" y="190500"/>
                    </a:lnTo>
                    <a:cubicBezTo>
                      <a:pt x="76200" y="197514"/>
                      <a:pt x="70514" y="203200"/>
                      <a:pt x="63500" y="203200"/>
                    </a:cubicBezTo>
                    <a:lnTo>
                      <a:pt x="12700" y="203200"/>
                    </a:lnTo>
                    <a:cubicBezTo>
                      <a:pt x="5686" y="203200"/>
                      <a:pt x="0" y="197514"/>
                      <a:pt x="0" y="190500"/>
                    </a:cubicBezTo>
                    <a:lnTo>
                      <a:pt x="0" y="1270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041400" y="2254250"/>
                <a:ext cx="1778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77800" h="9525">
                    <a:moveTo>
                      <a:pt x="0" y="0"/>
                    </a:moveTo>
                    <a:lnTo>
                      <a:pt x="17780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948690" y="2215515"/>
              <a:ext cx="476569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15</a:t>
              </a:r>
              <a:endParaRPr lang="zh-CN" sz="33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75360" y="2747010"/>
              <a:ext cx="129463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Web run samples</a:t>
              </a:r>
              <a:endParaRPr lang="zh-CN" sz="120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105150" y="1752600"/>
              <a:ext cx="2095500" cy="13716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15" name="Freeform 15"/>
            <p:cNvSpPr/>
            <p:nvPr/>
          </p:nvSpPr>
          <p:spPr>
            <a:xfrm>
              <a:off x="3404661" y="2038350"/>
              <a:ext cx="239178" cy="228600"/>
            </a:xfrm>
            <a:custGeom>
              <a:avLst/>
              <a:gdLst/>
              <a:ahLst/>
              <a:cxnLst/>
              <a:rect l="l" t="t" r="r" b="b"/>
              <a:pathLst>
                <a:path w="239178" h="228600">
                  <a:moveTo>
                    <a:pt x="119589" y="0"/>
                  </a:moveTo>
                  <a:cubicBezTo>
                    <a:pt x="149254" y="26246"/>
                    <a:pt x="187972" y="39911"/>
                    <a:pt x="227539" y="38100"/>
                  </a:cubicBezTo>
                  <a:cubicBezTo>
                    <a:pt x="239178" y="77693"/>
                    <a:pt x="234262" y="120313"/>
                    <a:pt x="213917" y="156217"/>
                  </a:cubicBezTo>
                  <a:cubicBezTo>
                    <a:pt x="193571" y="192121"/>
                    <a:pt x="159535" y="218239"/>
                    <a:pt x="119589" y="228600"/>
                  </a:cubicBezTo>
                  <a:cubicBezTo>
                    <a:pt x="79643" y="218239"/>
                    <a:pt x="45606" y="192121"/>
                    <a:pt x="25261" y="156217"/>
                  </a:cubicBezTo>
                  <a:cubicBezTo>
                    <a:pt x="4915" y="120313"/>
                    <a:pt x="0" y="77693"/>
                    <a:pt x="11639" y="38100"/>
                  </a:cubicBezTo>
                  <a:cubicBezTo>
                    <a:pt x="51206" y="39911"/>
                    <a:pt x="89924" y="26246"/>
                    <a:pt x="119589" y="0"/>
                  </a:cubicBezTo>
                </a:path>
              </a:pathLst>
            </a:custGeom>
            <a:noFill/>
            <a:ln w="19050">
              <a:solidFill>
                <a:srgbClr val="0F766E"/>
              </a:solidFill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3329940" y="2215515"/>
              <a:ext cx="112345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0F766E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13/15</a:t>
              </a:r>
              <a:endParaRPr lang="zh-CN" sz="3300" b="1" dirty="0">
                <a:solidFill>
                  <a:srgbClr val="0F766E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56610" y="2747010"/>
              <a:ext cx="106260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baseline valid</a:t>
              </a:r>
              <a:endParaRPr lang="zh-CN" sz="120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5486400" y="1752600"/>
              <a:ext cx="2095500" cy="13716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19" name="Freeform 19"/>
            <p:cNvSpPr/>
            <p:nvPr/>
          </p:nvSpPr>
          <p:spPr>
            <a:xfrm>
              <a:off x="5816600" y="2089150"/>
              <a:ext cx="190500" cy="127000"/>
            </a:xfrm>
            <a:custGeom>
              <a:avLst/>
              <a:gdLst/>
              <a:ahLst/>
              <a:cxnLst/>
              <a:rect l="l" t="t" r="r" b="b"/>
              <a:pathLst>
                <a:path w="190500" h="127000">
                  <a:moveTo>
                    <a:pt x="0" y="63500"/>
                  </a:moveTo>
                  <a:lnTo>
                    <a:pt x="63500" y="127000"/>
                  </a:lnTo>
                  <a:lnTo>
                    <a:pt x="190500" y="0"/>
                  </a:lnTo>
                </a:path>
              </a:pathLst>
            </a:custGeom>
            <a:noFill/>
            <a:ln w="19050">
              <a:solidFill>
                <a:srgbClr val="16A34A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5711190" y="2215515"/>
              <a:ext cx="1123450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6A34A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15/15</a:t>
              </a:r>
              <a:endParaRPr lang="zh-CN" sz="3300" b="1" dirty="0">
                <a:solidFill>
                  <a:srgbClr val="16A34A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737860" y="2747010"/>
              <a:ext cx="10146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refined valid</a:t>
              </a:r>
              <a:endParaRPr lang="zh-CN" sz="120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2" name="Rectangle 22"/>
            <p:cNvSpPr/>
            <p:nvPr/>
          </p:nvSpPr>
          <p:spPr>
            <a:xfrm>
              <a:off x="7867650" y="1752600"/>
              <a:ext cx="2095500" cy="1371600"/>
            </a:xfrm>
            <a:prstGeom prst="roundRect">
              <a:avLst>
                <a:gd name="adj" fmla="val 6944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grpSp>
          <p:nvGrpSpPr>
            <p:cNvPr id="25" name="Group 25"/>
            <p:cNvGrpSpPr/>
            <p:nvPr/>
          </p:nvGrpSpPr>
          <p:grpSpPr>
            <a:xfrm>
              <a:off x="8185150" y="2046150"/>
              <a:ext cx="203200" cy="213000"/>
              <a:chOff x="8185150" y="2046150"/>
              <a:chExt cx="203200" cy="21300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8185150" y="204615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203200" y="93800"/>
                    </a:moveTo>
                    <a:cubicBezTo>
                      <a:pt x="196815" y="47858"/>
                      <a:pt x="160476" y="11871"/>
                      <a:pt x="114474" y="5936"/>
                    </a:cubicBezTo>
                    <a:cubicBezTo>
                      <a:pt x="68472" y="0"/>
                      <a:pt x="24187" y="25584"/>
                      <a:pt x="6350" y="68400"/>
                    </a:cubicBezTo>
                    <a:moveTo>
                      <a:pt x="0" y="17600"/>
                    </a:moveTo>
                    <a:lnTo>
                      <a:pt x="0" y="68400"/>
                    </a:lnTo>
                    <a:lnTo>
                      <a:pt x="50800" y="684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8185150" y="2165350"/>
                <a:ext cx="203200" cy="93800"/>
              </a:xfrm>
              <a:custGeom>
                <a:avLst/>
                <a:gdLst/>
                <a:ahLst/>
                <a:cxnLst/>
                <a:rect l="l" t="t" r="r" b="b"/>
                <a:pathLst>
                  <a:path w="203200" h="93800">
                    <a:moveTo>
                      <a:pt x="0" y="0"/>
                    </a:moveTo>
                    <a:cubicBezTo>
                      <a:pt x="6385" y="45942"/>
                      <a:pt x="42724" y="81929"/>
                      <a:pt x="88726" y="87864"/>
                    </a:cubicBezTo>
                    <a:cubicBezTo>
                      <a:pt x="134728" y="93800"/>
                      <a:pt x="179013" y="68216"/>
                      <a:pt x="196850" y="25400"/>
                    </a:cubicBezTo>
                    <a:moveTo>
                      <a:pt x="203200" y="76200"/>
                    </a:moveTo>
                    <a:lnTo>
                      <a:pt x="203200" y="25400"/>
                    </a:lnTo>
                    <a:lnTo>
                      <a:pt x="152400" y="25400"/>
                    </a:lnTo>
                  </a:path>
                </a:pathLst>
              </a:custGeom>
              <a:noFill/>
              <a:ln w="19050">
                <a:solidFill>
                  <a:srgbClr val="F59E0B"/>
                </a:solidFill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8092440" y="2215515"/>
              <a:ext cx="337952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F59E0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3</a:t>
              </a:r>
              <a:endParaRPr lang="zh-CN" sz="3300" b="1" dirty="0">
                <a:solidFill>
                  <a:srgbClr val="F59E0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119110" y="2747010"/>
              <a:ext cx="14386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max repair rounds</a:t>
              </a:r>
              <a:endParaRPr lang="zh-CN" sz="120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2324100" y="3581400"/>
            <a:ext cx="6477000" cy="1959769"/>
            <a:chOff x="723900" y="3581400"/>
            <a:chExt cx="6477000" cy="1959769"/>
          </a:xfrm>
        </p:grpSpPr>
        <p:sp>
          <p:nvSpPr>
            <p:cNvPr id="29" name="Rectangle 29"/>
            <p:cNvSpPr/>
            <p:nvPr/>
          </p:nvSpPr>
          <p:spPr>
            <a:xfrm>
              <a:off x="723900" y="3581400"/>
              <a:ext cx="6477000" cy="1943100"/>
            </a:xfrm>
            <a:prstGeom prst="roundRect">
              <a:avLst>
                <a:gd name="adj" fmla="val 5882"/>
              </a:avLst>
            </a:prstGeom>
            <a:solidFill>
              <a:srgbClr val="FFFFFF"/>
            </a:solidFill>
            <a:ln w="11430">
              <a:solidFill>
                <a:srgbClr val="CBD5E1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07745" y="3784282"/>
              <a:ext cx="2121170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有效率和平均分变化</a:t>
              </a:r>
              <a:endParaRPr lang="zh-CN" sz="165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Line 31"/>
            <p:cNvSpPr/>
            <p:nvPr/>
          </p:nvSpPr>
          <p:spPr>
            <a:xfrm>
              <a:off x="1143000" y="5010150"/>
              <a:ext cx="5600700" cy="9525"/>
            </a:xfrm>
            <a:custGeom>
              <a:avLst/>
              <a:gdLst/>
              <a:ahLst/>
              <a:cxnLst/>
              <a:rect l="l" t="t" r="r" b="b"/>
              <a:pathLst>
                <a:path w="5600700" h="9525">
                  <a:moveTo>
                    <a:pt x="0" y="0"/>
                  </a:moveTo>
                  <a:lnTo>
                    <a:pt x="5600700" y="0"/>
                  </a:lnTo>
                </a:path>
              </a:pathLst>
            </a:custGeom>
            <a:noFill/>
            <a:ln w="11430">
              <a:solidFill>
                <a:srgbClr val="CBD5E1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1128712" y="5174456"/>
              <a:ext cx="74116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valid rate</a:t>
              </a:r>
              <a:endParaRPr lang="zh-CN" sz="112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2400300" y="4524375"/>
              <a:ext cx="17526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2400300" y="4524375"/>
              <a:ext cx="1514475" cy="304800"/>
            </a:xfrm>
            <a:prstGeom prst="roundRect">
              <a:avLst>
                <a:gd name="adj" fmla="val 1875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271010" y="4613910"/>
              <a:ext cx="11982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baseline 86.7%</a:t>
              </a:r>
              <a:endParaRPr lang="zh-CN" sz="12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2400300" y="4953000"/>
              <a:ext cx="1752600" cy="304800"/>
            </a:xfrm>
            <a:prstGeom prst="roundRect">
              <a:avLst>
                <a:gd name="adj" fmla="val 18750"/>
              </a:avLst>
            </a:prstGeom>
            <a:solidFill>
              <a:srgbClr val="CCFBF1"/>
            </a:solidFill>
            <a:ln>
              <a:noFill/>
            </a:ln>
          </p:spPr>
        </p:sp>
        <p:sp>
          <p:nvSpPr>
            <p:cNvPr id="37" name="Rectangle 37"/>
            <p:cNvSpPr/>
            <p:nvPr/>
          </p:nvSpPr>
          <p:spPr>
            <a:xfrm>
              <a:off x="2400300" y="4953000"/>
              <a:ext cx="1752600" cy="304800"/>
            </a:xfrm>
            <a:prstGeom prst="roundRect">
              <a:avLst>
                <a:gd name="adj" fmla="val 18750"/>
              </a:avLst>
            </a:prstGeom>
            <a:solidFill>
              <a:srgbClr val="16A34A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4271010" y="5042535"/>
              <a:ext cx="10134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refined 100%</a:t>
              </a:r>
              <a:endParaRPr lang="zh-CN" sz="12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28712" y="4260056"/>
              <a:ext cx="73366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avg score</a:t>
              </a:r>
              <a:endParaRPr lang="zh-CN" sz="112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2400300" y="4038600"/>
              <a:ext cx="1752600" cy="304800"/>
            </a:xfrm>
            <a:prstGeom prst="roundRect">
              <a:avLst>
                <a:gd name="adj" fmla="val 18750"/>
              </a:avLst>
            </a:prstGeom>
            <a:solidFill>
              <a:srgbClr val="DBEAFE"/>
            </a:solidFill>
            <a:ln>
              <a:noFill/>
            </a:ln>
          </p:spPr>
        </p:sp>
        <p:sp>
          <p:nvSpPr>
            <p:cNvPr id="41" name="Rectangle 41"/>
            <p:cNvSpPr/>
            <p:nvPr/>
          </p:nvSpPr>
          <p:spPr>
            <a:xfrm>
              <a:off x="2400300" y="4038600"/>
              <a:ext cx="1562100" cy="304800"/>
            </a:xfrm>
            <a:prstGeom prst="roundRect">
              <a:avLst>
                <a:gd name="adj" fmla="val 18750"/>
              </a:avLst>
            </a:prstGeom>
            <a:solidFill>
              <a:srgbClr val="1D4ED8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4271010" y="4128135"/>
              <a:ext cx="11478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89.33 → 93.20</a:t>
              </a:r>
              <a:endParaRPr lang="zh-CN" sz="12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43" name="Line 43"/>
            <p:cNvSpPr/>
            <p:nvPr/>
          </p:nvSpPr>
          <p:spPr>
            <a:xfrm>
              <a:off x="5829300" y="4038600"/>
              <a:ext cx="9525" cy="1219200"/>
            </a:xfrm>
            <a:custGeom>
              <a:avLst/>
              <a:gdLst/>
              <a:ahLst/>
              <a:cxnLst/>
              <a:rect l="l" t="t" r="r" b="b"/>
              <a:pathLst>
                <a:path w="9525" h="1219200">
                  <a:moveTo>
                    <a:pt x="0" y="0"/>
                  </a:moveTo>
                  <a:lnTo>
                    <a:pt x="0" y="1219200"/>
                  </a:lnTo>
                </a:path>
              </a:pathLst>
            </a:custGeom>
            <a:noFill/>
            <a:ln w="9525">
              <a:solidFill>
                <a:srgbClr val="94A3B8"/>
              </a:solidFill>
              <a:custDash>
                <a:ds d="400000" sp="500000"/>
              </a:custDash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5690152" y="5343049"/>
              <a:ext cx="2782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64748B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100%</a:t>
              </a:r>
              <a:endParaRPr lang="zh-CN" sz="975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58" name="TextBox 58"/>
          <p:cNvSpPr txBox="1"/>
          <p:nvPr/>
        </p:nvSpPr>
        <p:spPr>
          <a:xfrm>
            <a:off x="11515154" y="6322695"/>
            <a:ext cx="154877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09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4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4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</p:sp>
      <p:sp>
        <p:nvSpPr>
          <p:cNvPr id="3" name="Rectangle 3"/>
          <p:cNvSpPr/>
          <p:nvPr/>
        </p:nvSpPr>
        <p:spPr>
          <a:xfrm>
            <a:off x="533400" y="514350"/>
            <a:ext cx="11125200" cy="5829300"/>
          </a:xfrm>
          <a:prstGeom prst="roundRect">
            <a:avLst>
              <a:gd name="adj" fmla="val 2941"/>
            </a:avLst>
          </a:prstGeom>
          <a:solidFill>
            <a:srgbClr val="FFFFFF"/>
          </a:solidFill>
          <a:ln w="13335">
            <a:solidFill>
              <a:srgbClr val="CBD5E1"/>
            </a:solidFill>
          </a:ln>
        </p:spPr>
      </p:sp>
      <p:sp>
        <p:nvSpPr>
          <p:cNvPr id="4" name="Rectangle 4"/>
          <p:cNvSpPr/>
          <p:nvPr/>
        </p:nvSpPr>
        <p:spPr>
          <a:xfrm>
            <a:off x="533400" y="514350"/>
            <a:ext cx="133350" cy="582930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>
            <a:noFill/>
          </a:ln>
        </p:spPr>
      </p:sp>
      <p:sp>
        <p:nvSpPr>
          <p:cNvPr id="5" name="TextBox 5"/>
          <p:cNvSpPr txBox="1"/>
          <p:nvPr/>
        </p:nvSpPr>
        <p:spPr>
          <a:xfrm>
            <a:off x="1024890" y="843915"/>
            <a:ext cx="7037789" cy="67056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330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rPr>
              <a:t>结论：Agent 架构的价值在可控性</a:t>
            </a:r>
            <a:endParaRPr lang="zh-CN" sz="3300" b="1" dirty="0">
              <a:solidFill>
                <a:srgbClr val="111827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83945" y="1460182"/>
            <a:ext cx="6477714" cy="3352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650" dirty="0">
                <a:solidFill>
                  <a:srgbClr val="64748B"/>
                </a:solidFill>
                <a:latin typeface="Arial" panose="020B0604020202090204"/>
                <a:ea typeface="微软雅黑"/>
                <a:cs typeface="Arial" panose="020B0604020202090204"/>
              </a:rPr>
              <a:t>项目把 SVG 生成从黑箱输出变成可追踪、可验证、可修复的流程。</a:t>
            </a:r>
            <a:endParaRPr lang="zh-CN" sz="1650" dirty="0">
              <a:solidFill>
                <a:srgbClr val="64748B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  <p:grpSp>
        <p:nvGrpSpPr>
          <p:cNvPr id="29" name="Group 29"/>
          <p:cNvGrpSpPr/>
          <p:nvPr/>
        </p:nvGrpSpPr>
        <p:grpSpPr>
          <a:xfrm>
            <a:off x="1080135" y="2094548"/>
            <a:ext cx="5469659" cy="2706052"/>
            <a:chOff x="1080135" y="2094548"/>
            <a:chExt cx="5469659" cy="2706052"/>
          </a:xfrm>
        </p:grpSpPr>
        <p:sp>
          <p:nvSpPr>
            <p:cNvPr id="7" name="TextBox 7"/>
            <p:cNvSpPr txBox="1"/>
            <p:nvPr/>
          </p:nvSpPr>
          <p:spPr>
            <a:xfrm>
              <a:off x="1080135" y="209454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D4ED8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有效点</a:t>
              </a:r>
              <a:endParaRPr lang="zh-CN" sz="1950" b="1" dirty="0">
                <a:solidFill>
                  <a:srgbClr val="1D4ED8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8" name="Rectangle 8"/>
            <p:cNvSpPr/>
            <p:nvPr/>
          </p:nvSpPr>
          <p:spPr>
            <a:xfrm>
              <a:off x="1104900" y="2590800"/>
              <a:ext cx="4762500" cy="609600"/>
            </a:xfrm>
            <a:prstGeom prst="roundRect">
              <a:avLst>
                <a:gd name="adj" fmla="val 15625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12" name="Group 12"/>
            <p:cNvGrpSpPr/>
            <p:nvPr/>
          </p:nvGrpSpPr>
          <p:grpSpPr>
            <a:xfrm>
              <a:off x="1381125" y="2788444"/>
              <a:ext cx="190500" cy="214312"/>
              <a:chOff x="1381125" y="2788444"/>
              <a:chExt cx="190500" cy="214312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1381125" y="2788444"/>
                <a:ext cx="190500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71438">
                    <a:moveTo>
                      <a:pt x="0" y="35719"/>
                    </a:moveTo>
                    <a:cubicBezTo>
                      <a:pt x="0" y="55446"/>
                      <a:pt x="42645" y="71438"/>
                      <a:pt x="95250" y="71438"/>
                    </a:cubicBezTo>
                    <a:cubicBezTo>
                      <a:pt x="147855" y="71438"/>
                      <a:pt x="190500" y="55446"/>
                      <a:pt x="190500" y="35719"/>
                    </a:cubicBezTo>
                    <a:cubicBezTo>
                      <a:pt x="190500" y="15992"/>
                      <a:pt x="147855" y="0"/>
                      <a:pt x="95250" y="0"/>
                    </a:cubicBezTo>
                    <a:cubicBezTo>
                      <a:pt x="42645" y="0"/>
                      <a:pt x="0" y="15992"/>
                      <a:pt x="0" y="35719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1381125" y="2824162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1381125" y="2895600"/>
                <a:ext cx="190500" cy="107156"/>
              </a:xfrm>
              <a:custGeom>
                <a:avLst/>
                <a:gdLst/>
                <a:ahLst/>
                <a:cxnLst/>
                <a:rect l="l" t="t" r="r" b="b"/>
                <a:pathLst>
                  <a:path w="190500" h="107156">
                    <a:moveTo>
                      <a:pt x="0" y="0"/>
                    </a:moveTo>
                    <a:lnTo>
                      <a:pt x="0" y="71438"/>
                    </a:lnTo>
                    <a:cubicBezTo>
                      <a:pt x="0" y="91164"/>
                      <a:pt x="42645" y="107156"/>
                      <a:pt x="95250" y="107156"/>
                    </a:cubicBezTo>
                    <a:cubicBezTo>
                      <a:pt x="147855" y="107156"/>
                      <a:pt x="190500" y="91164"/>
                      <a:pt x="190500" y="71438"/>
                    </a:cubicBezTo>
                    <a:lnTo>
                      <a:pt x="19050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1734502" y="2808446"/>
              <a:ext cx="4207216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RAG 记忆让历史成功和失败进入下一次目标设定。</a:t>
              </a:r>
              <a:endParaRPr lang="zh-CN" sz="142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1104900" y="3390900"/>
              <a:ext cx="4762500" cy="609600"/>
            </a:xfrm>
            <a:prstGeom prst="roundRect">
              <a:avLst>
                <a:gd name="adj" fmla="val 15625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1393031" y="3600450"/>
              <a:ext cx="178595" cy="190500"/>
              <a:chOff x="1393031" y="3600450"/>
              <a:chExt cx="178595" cy="190500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393031" y="3743325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393031" y="36004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512094" y="3600450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8" name="Freeform 18"/>
              <p:cNvSpPr/>
              <p:nvPr/>
            </p:nvSpPr>
            <p:spPr>
              <a:xfrm>
                <a:off x="1416844" y="3648075"/>
                <a:ext cx="9525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9525" h="95250">
                    <a:moveTo>
                      <a:pt x="0" y="0"/>
                    </a:moveTo>
                    <a:lnTo>
                      <a:pt x="0" y="9525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1440656" y="3683794"/>
                <a:ext cx="95250" cy="83344"/>
              </a:xfrm>
              <a:custGeom>
                <a:avLst/>
                <a:gdLst/>
                <a:ahLst/>
                <a:cxnLst/>
                <a:rect l="l" t="t" r="r" b="b"/>
                <a:pathLst>
                  <a:path w="95250" h="83344">
                    <a:moveTo>
                      <a:pt x="0" y="83344"/>
                    </a:moveTo>
                    <a:lnTo>
                      <a:pt x="71438" y="83344"/>
                    </a:lnTo>
                    <a:cubicBezTo>
                      <a:pt x="84589" y="83344"/>
                      <a:pt x="95250" y="72683"/>
                      <a:pt x="95250" y="59531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1500188" y="3683794"/>
                <a:ext cx="71438" cy="35719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35719">
                    <a:moveTo>
                      <a:pt x="0" y="35719"/>
                    </a:moveTo>
                    <a:lnTo>
                      <a:pt x="35719" y="0"/>
                    </a:lnTo>
                    <a:lnTo>
                      <a:pt x="71438" y="35719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1734502" y="3608546"/>
              <a:ext cx="4815292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候选竞争、双 Critic 和 Selector 降低单次输出偶然性。</a:t>
              </a:r>
              <a:endParaRPr lang="zh-CN" sz="142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23" name="Rectangle 23"/>
            <p:cNvSpPr/>
            <p:nvPr/>
          </p:nvSpPr>
          <p:spPr>
            <a:xfrm>
              <a:off x="1104900" y="4191000"/>
              <a:ext cx="4762500" cy="609600"/>
            </a:xfrm>
            <a:prstGeom prst="roundRect">
              <a:avLst>
                <a:gd name="adj" fmla="val 15625"/>
              </a:avLst>
            </a:prstGeom>
            <a:solidFill>
              <a:srgbClr val="DBEAFE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1369219" y="4388644"/>
              <a:ext cx="214312" cy="214312"/>
              <a:chOff x="1369219" y="4388644"/>
              <a:chExt cx="214312" cy="214312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1369219" y="4555331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0" y="23812"/>
                    </a:moveTo>
                    <a:cubicBezTo>
                      <a:pt x="0" y="36964"/>
                      <a:pt x="10661" y="47625"/>
                      <a:pt x="23812" y="47625"/>
                    </a:cubicBez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1535906" y="4388644"/>
                <a:ext cx="47625" cy="47625"/>
              </a:xfrm>
              <a:custGeom>
                <a:avLst/>
                <a:gdLst/>
                <a:ahLst/>
                <a:cxnLst/>
                <a:rect l="l" t="t" r="r" b="b"/>
                <a:pathLst>
                  <a:path w="47625" h="47625">
                    <a:moveTo>
                      <a:pt x="23812" y="47625"/>
                    </a:moveTo>
                    <a:cubicBezTo>
                      <a:pt x="36964" y="47625"/>
                      <a:pt x="47625" y="36964"/>
                      <a:pt x="47625" y="23812"/>
                    </a:cubicBezTo>
                    <a:cubicBezTo>
                      <a:pt x="47625" y="10661"/>
                      <a:pt x="36964" y="0"/>
                      <a:pt x="23812" y="0"/>
                    </a:cubicBezTo>
                    <a:cubicBezTo>
                      <a:pt x="10661" y="0"/>
                      <a:pt x="0" y="10661"/>
                      <a:pt x="0" y="23812"/>
                    </a:cubicBezTo>
                    <a:cubicBezTo>
                      <a:pt x="0" y="36964"/>
                      <a:pt x="10661" y="47625"/>
                      <a:pt x="23812" y="47625"/>
                    </a:cubicBez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1393031" y="4412456"/>
                <a:ext cx="178594" cy="166688"/>
              </a:xfrm>
              <a:custGeom>
                <a:avLst/>
                <a:gdLst/>
                <a:ahLst/>
                <a:cxnLst/>
                <a:rect l="l" t="t" r="r" b="b"/>
                <a:pathLst>
                  <a:path w="178594" h="166688">
                    <a:moveTo>
                      <a:pt x="71438" y="166688"/>
                    </a:moveTo>
                    <a:lnTo>
                      <a:pt x="136922" y="166688"/>
                    </a:lnTo>
                    <a:cubicBezTo>
                      <a:pt x="159937" y="166688"/>
                      <a:pt x="178594" y="148030"/>
                      <a:pt x="178594" y="125016"/>
                    </a:cubicBezTo>
                    <a:cubicBezTo>
                      <a:pt x="178594" y="102001"/>
                      <a:pt x="159937" y="83344"/>
                      <a:pt x="136922" y="83344"/>
                    </a:cubicBezTo>
                    <a:lnTo>
                      <a:pt x="41672" y="83344"/>
                    </a:lnTo>
                    <a:cubicBezTo>
                      <a:pt x="18657" y="83344"/>
                      <a:pt x="0" y="64687"/>
                      <a:pt x="0" y="41672"/>
                    </a:cubicBezTo>
                    <a:cubicBezTo>
                      <a:pt x="0" y="18657"/>
                      <a:pt x="18657" y="0"/>
                      <a:pt x="41672" y="0"/>
                    </a:cubicBezTo>
                    <a:lnTo>
                      <a:pt x="95250" y="0"/>
                    </a:lnTo>
                  </a:path>
                </a:pathLst>
              </a:custGeom>
              <a:noFill/>
              <a:ln w="19050">
                <a:solidFill>
                  <a:srgbClr val="1D4ED8"/>
                </a:solidFill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1734502" y="4408646"/>
              <a:ext cx="4577763" cy="289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失败先归因再路由，Refiner 获得更具体的修复任务。</a:t>
              </a:r>
              <a:endParaRPr lang="zh-CN" sz="142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452235" y="2094548"/>
            <a:ext cx="5133022" cy="2706052"/>
            <a:chOff x="6452235" y="2094548"/>
            <a:chExt cx="5133022" cy="2706052"/>
          </a:xfrm>
        </p:grpSpPr>
        <p:sp>
          <p:nvSpPr>
            <p:cNvPr id="30" name="TextBox 30"/>
            <p:cNvSpPr txBox="1"/>
            <p:nvPr/>
          </p:nvSpPr>
          <p:spPr>
            <a:xfrm>
              <a:off x="6452235" y="2094548"/>
              <a:ext cx="595598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DC2626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限制</a:t>
              </a:r>
              <a:endParaRPr lang="zh-CN" sz="1950" b="1" dirty="0">
                <a:solidFill>
                  <a:srgbClr val="DC2626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6477000" y="2590800"/>
              <a:ext cx="4610100" cy="609600"/>
            </a:xfrm>
            <a:prstGeom prst="roundRect">
              <a:avLst>
                <a:gd name="adj" fmla="val 15625"/>
              </a:avLst>
            </a:prstGeom>
            <a:solidFill>
              <a:srgbClr val="FEE2E2"/>
            </a:solidFill>
            <a:ln>
              <a:noFill/>
            </a:ln>
          </p:spPr>
        </p:sp>
        <p:sp>
          <p:nvSpPr>
            <p:cNvPr id="32" name="Freeform 32"/>
            <p:cNvSpPr/>
            <p:nvPr/>
          </p:nvSpPr>
          <p:spPr>
            <a:xfrm>
              <a:off x="6729412" y="2808565"/>
              <a:ext cx="238125" cy="158520"/>
            </a:xfrm>
            <a:custGeom>
              <a:avLst/>
              <a:gdLst/>
              <a:ahLst/>
              <a:cxnLst/>
              <a:rect l="l" t="t" r="r" b="b"/>
              <a:pathLst>
                <a:path w="238125" h="158520">
                  <a:moveTo>
                    <a:pt x="55447" y="158472"/>
                  </a:moveTo>
                  <a:cubicBezTo>
                    <a:pt x="24825" y="158472"/>
                    <a:pt x="0" y="134576"/>
                    <a:pt x="0" y="105096"/>
                  </a:cubicBezTo>
                  <a:cubicBezTo>
                    <a:pt x="0" y="75628"/>
                    <a:pt x="24825" y="51733"/>
                    <a:pt x="55447" y="51733"/>
                  </a:cubicBezTo>
                  <a:cubicBezTo>
                    <a:pt x="60127" y="30754"/>
                    <a:pt x="76807" y="13633"/>
                    <a:pt x="99203" y="6810"/>
                  </a:cubicBezTo>
                  <a:cubicBezTo>
                    <a:pt x="121587" y="0"/>
                    <a:pt x="146304" y="4512"/>
                    <a:pt x="164021" y="18717"/>
                  </a:cubicBezTo>
                  <a:cubicBezTo>
                    <a:pt x="181737" y="32885"/>
                    <a:pt x="189762" y="54519"/>
                    <a:pt x="185095" y="75498"/>
                  </a:cubicBezTo>
                  <a:lnTo>
                    <a:pt x="196882" y="75498"/>
                  </a:lnTo>
                  <a:cubicBezTo>
                    <a:pt x="219658" y="75498"/>
                    <a:pt x="238125" y="94071"/>
                    <a:pt x="238125" y="117003"/>
                  </a:cubicBezTo>
                  <a:cubicBezTo>
                    <a:pt x="238125" y="139946"/>
                    <a:pt x="219658" y="158520"/>
                    <a:pt x="196870" y="158520"/>
                  </a:cubicBezTo>
                  <a:lnTo>
                    <a:pt x="55447" y="158520"/>
                  </a:lnTo>
                </a:path>
              </a:pathLst>
            </a:custGeom>
            <a:noFill/>
            <a:ln w="19050">
              <a:solidFill>
                <a:srgbClr val="DC2626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106602" y="2808446"/>
              <a:ext cx="1543050" cy="219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依赖 LLM 服务质量</a:t>
              </a:r>
              <a:endParaRPr lang="zh-CN" sz="142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6477000" y="3390900"/>
              <a:ext cx="4610100" cy="609600"/>
            </a:xfrm>
            <a:prstGeom prst="roundRect">
              <a:avLst>
                <a:gd name="adj" fmla="val 15625"/>
              </a:avLst>
            </a:prstGeom>
            <a:solidFill>
              <a:srgbClr val="FEE2E2"/>
            </a:solidFill>
            <a:ln>
              <a:noFill/>
            </a:ln>
          </p:spPr>
        </p:sp>
        <p:grpSp>
          <p:nvGrpSpPr>
            <p:cNvPr id="37" name="Group 37"/>
            <p:cNvGrpSpPr/>
            <p:nvPr/>
          </p:nvGrpSpPr>
          <p:grpSpPr>
            <a:xfrm>
              <a:off x="6765131" y="3636169"/>
              <a:ext cx="166688" cy="152400"/>
              <a:chOff x="6765131" y="3636169"/>
              <a:chExt cx="166688" cy="152400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765131" y="3636169"/>
                <a:ext cx="59531" cy="119062"/>
              </a:xfrm>
              <a:custGeom>
                <a:avLst/>
                <a:gdLst/>
                <a:ahLst/>
                <a:cxnLst/>
                <a:rect l="l" t="t" r="r" b="b"/>
                <a:pathLst>
                  <a:path w="59531" h="119062">
                    <a:moveTo>
                      <a:pt x="0" y="0"/>
                    </a:moveTo>
                    <a:lnTo>
                      <a:pt x="59531" y="59531"/>
                    </a:lnTo>
                    <a:lnTo>
                      <a:pt x="0" y="119062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848475" y="3779044"/>
                <a:ext cx="83344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83344" h="9525">
                    <a:moveTo>
                      <a:pt x="0" y="0"/>
                    </a:moveTo>
                    <a:lnTo>
                      <a:pt x="83344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106602" y="3608546"/>
              <a:ext cx="4116070" cy="219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渲染和检查覆盖的是实用 SVG 子集，不是完整规范</a:t>
              </a:r>
              <a:endParaRPr lang="zh-CN" sz="142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6477000" y="4191000"/>
              <a:ext cx="4610100" cy="609600"/>
            </a:xfrm>
            <a:prstGeom prst="roundRect">
              <a:avLst>
                <a:gd name="adj" fmla="val 15625"/>
              </a:avLst>
            </a:prstGeom>
            <a:solidFill>
              <a:srgbClr val="FEE2E2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741319" y="4400550"/>
              <a:ext cx="214313" cy="200025"/>
              <a:chOff x="6741319" y="4400550"/>
              <a:chExt cx="214313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6741319" y="4495800"/>
                <a:ext cx="71438" cy="9525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9525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83344"/>
                    </a:lnTo>
                    <a:cubicBezTo>
                      <a:pt x="71438" y="89919"/>
                      <a:pt x="66107" y="95250"/>
                      <a:pt x="59531" y="95250"/>
                    </a:cubicBezTo>
                    <a:lnTo>
                      <a:pt x="11906" y="95250"/>
                    </a:lnTo>
                    <a:cubicBezTo>
                      <a:pt x="5331" y="95250"/>
                      <a:pt x="0" y="89919"/>
                      <a:pt x="0" y="8334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6884194" y="4448175"/>
                <a:ext cx="71438" cy="142875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42875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30969"/>
                    </a:lnTo>
                    <a:cubicBezTo>
                      <a:pt x="71438" y="137544"/>
                      <a:pt x="66107" y="142875"/>
                      <a:pt x="59531" y="142875"/>
                    </a:cubicBezTo>
                    <a:lnTo>
                      <a:pt x="11906" y="142875"/>
                    </a:lnTo>
                    <a:cubicBezTo>
                      <a:pt x="5331" y="142875"/>
                      <a:pt x="0" y="137544"/>
                      <a:pt x="0" y="130969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2" name="Freeform 42"/>
              <p:cNvSpPr/>
              <p:nvPr/>
            </p:nvSpPr>
            <p:spPr>
              <a:xfrm>
                <a:off x="6812756" y="4400550"/>
                <a:ext cx="71438" cy="190500"/>
              </a:xfrm>
              <a:custGeom>
                <a:avLst/>
                <a:gdLst/>
                <a:ahLst/>
                <a:cxnLst/>
                <a:rect l="l" t="t" r="r" b="b"/>
                <a:pathLst>
                  <a:path w="71438" h="190500">
                    <a:moveTo>
                      <a:pt x="0" y="11906"/>
                    </a:moveTo>
                    <a:cubicBezTo>
                      <a:pt x="0" y="5331"/>
                      <a:pt x="5331" y="0"/>
                      <a:pt x="11906" y="0"/>
                    </a:cubicBezTo>
                    <a:lnTo>
                      <a:pt x="59531" y="0"/>
                    </a:lnTo>
                    <a:cubicBezTo>
                      <a:pt x="66107" y="0"/>
                      <a:pt x="71438" y="5331"/>
                      <a:pt x="71438" y="11906"/>
                    </a:cubicBezTo>
                    <a:lnTo>
                      <a:pt x="71438" y="178594"/>
                    </a:lnTo>
                    <a:cubicBezTo>
                      <a:pt x="71438" y="185169"/>
                      <a:pt x="66107" y="190500"/>
                      <a:pt x="59531" y="190500"/>
                    </a:cubicBezTo>
                    <a:lnTo>
                      <a:pt x="11906" y="190500"/>
                    </a:lnTo>
                    <a:cubicBezTo>
                      <a:pt x="5331" y="190500"/>
                      <a:pt x="0" y="185169"/>
                      <a:pt x="0" y="178594"/>
                    </a:cubicBezTo>
                    <a:lnTo>
                      <a:pt x="0" y="11906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53225" y="4591050"/>
                <a:ext cx="16668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9525">
                    <a:moveTo>
                      <a:pt x="0" y="0"/>
                    </a:moveTo>
                    <a:lnTo>
                      <a:pt x="166688" y="0"/>
                    </a:lnTo>
                  </a:path>
                </a:pathLst>
              </a:custGeom>
              <a:noFill/>
              <a:ln w="19050">
                <a:solidFill>
                  <a:srgbClr val="DC2626"/>
                </a:solidFill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106602" y="4408646"/>
              <a:ext cx="4478655" cy="21971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5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当前实验样本规模有限，需要固定 prompt 集合批量评测</a:t>
              </a:r>
              <a:endParaRPr lang="zh-CN" sz="1425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04900" y="5219700"/>
            <a:ext cx="9982200" cy="533400"/>
            <a:chOff x="1104900" y="5219700"/>
            <a:chExt cx="9982200" cy="533400"/>
          </a:xfrm>
        </p:grpSpPr>
        <p:sp>
          <p:nvSpPr>
            <p:cNvPr id="47" name="Rectangle 47"/>
            <p:cNvSpPr/>
            <p:nvPr/>
          </p:nvSpPr>
          <p:spPr>
            <a:xfrm>
              <a:off x="1104900" y="5219700"/>
              <a:ext cx="9982200" cy="533400"/>
            </a:xfrm>
            <a:prstGeom prst="roundRect">
              <a:avLst>
                <a:gd name="adj" fmla="val 17857"/>
              </a:avLst>
            </a:prstGeom>
            <a:solidFill>
              <a:srgbClr val="CCFBF1"/>
            </a:solidFill>
            <a:ln>
              <a:noFill/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1366838" y="5386388"/>
              <a:ext cx="200025" cy="200025"/>
              <a:chOff x="1366838" y="5386388"/>
              <a:chExt cx="200025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1366838" y="5386388"/>
                <a:ext cx="200025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0012">
                    <a:moveTo>
                      <a:pt x="0" y="100012"/>
                    </a:moveTo>
                    <a:lnTo>
                      <a:pt x="11112" y="100012"/>
                    </a:lnTo>
                    <a:moveTo>
                      <a:pt x="100012" y="0"/>
                    </a:moveTo>
                    <a:lnTo>
                      <a:pt x="100012" y="11112"/>
                    </a:lnTo>
                    <a:moveTo>
                      <a:pt x="188913" y="100012"/>
                    </a:moveTo>
                    <a:lnTo>
                      <a:pt x="200025" y="100012"/>
                    </a:lnTo>
                    <a:moveTo>
                      <a:pt x="28892" y="28892"/>
                    </a:moveTo>
                    <a:lnTo>
                      <a:pt x="36671" y="36671"/>
                    </a:lnTo>
                    <a:moveTo>
                      <a:pt x="171133" y="28892"/>
                    </a:moveTo>
                    <a:lnTo>
                      <a:pt x="163354" y="36671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1406576" y="5430838"/>
                <a:ext cx="120548" cy="155575"/>
              </a:xfrm>
              <a:custGeom>
                <a:avLst/>
                <a:gdLst/>
                <a:ahLst/>
                <a:cxnLst/>
                <a:rect l="l" t="t" r="r" b="b"/>
                <a:pathLst>
                  <a:path w="120548" h="155575">
                    <a:moveTo>
                      <a:pt x="26937" y="100012"/>
                    </a:moveTo>
                    <a:cubicBezTo>
                      <a:pt x="7804" y="85663"/>
                      <a:pt x="0" y="60681"/>
                      <a:pt x="7563" y="37992"/>
                    </a:cubicBezTo>
                    <a:cubicBezTo>
                      <a:pt x="15126" y="15304"/>
                      <a:pt x="36358" y="0"/>
                      <a:pt x="60274" y="0"/>
                    </a:cubicBezTo>
                    <a:cubicBezTo>
                      <a:pt x="84190" y="0"/>
                      <a:pt x="105422" y="15304"/>
                      <a:pt x="112985" y="37992"/>
                    </a:cubicBezTo>
                    <a:cubicBezTo>
                      <a:pt x="120548" y="60681"/>
                      <a:pt x="112744" y="85663"/>
                      <a:pt x="93612" y="100012"/>
                    </a:cubicBezTo>
                    <a:cubicBezTo>
                      <a:pt x="84812" y="108723"/>
                      <a:pt x="80686" y="121102"/>
                      <a:pt x="82499" y="133350"/>
                    </a:cubicBezTo>
                    <a:cubicBezTo>
                      <a:pt x="82499" y="145625"/>
                      <a:pt x="72549" y="155575"/>
                      <a:pt x="60274" y="155575"/>
                    </a:cubicBezTo>
                    <a:cubicBezTo>
                      <a:pt x="48000" y="155575"/>
                      <a:pt x="38049" y="145625"/>
                      <a:pt x="38049" y="133350"/>
                    </a:cubicBezTo>
                    <a:cubicBezTo>
                      <a:pt x="39862" y="121102"/>
                      <a:pt x="35736" y="108723"/>
                      <a:pt x="26937" y="100012"/>
                    </a:cubicBez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1441291" y="5541962"/>
                <a:ext cx="51118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1118" h="9525">
                    <a:moveTo>
                      <a:pt x="0" y="0"/>
                    </a:moveTo>
                    <a:lnTo>
                      <a:pt x="51118" y="0"/>
                    </a:lnTo>
                  </a:path>
                </a:pathLst>
              </a:custGeom>
              <a:noFill/>
              <a:ln w="19050">
                <a:solidFill>
                  <a:srgbClr val="0F766E"/>
                </a:solidFill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735455" y="5416868"/>
              <a:ext cx="700926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11827"/>
                  </a:solidFill>
                  <a:latin typeface="Arial" panose="020B0604020202090204"/>
                  <a:ea typeface="微软雅黑"/>
                  <a:cs typeface="Arial" panose="020B0604020202090204"/>
                </a:rPr>
                <a:t>下一步：完整批量评测、人类偏好对比、扩展 SVG grammar、细化 repair route。</a:t>
              </a:r>
              <a:endParaRPr lang="zh-CN" sz="1350" b="1" dirty="0">
                <a:solidFill>
                  <a:srgbClr val="111827"/>
                </a:solidFill>
                <a:latin typeface="Arial" panose="020B0604020202090204"/>
                <a:ea typeface="微软雅黑"/>
                <a:cs typeface="Arial" panose="020B0604020202090204"/>
              </a:endParaRP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202257" y="5884545"/>
            <a:ext cx="124873" cy="18288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r"/>
            <a:r>
              <a:rPr lang="zh-CN" sz="900" dirty="0">
                <a:solidFill>
                  <a:srgbClr val="94A3B8"/>
                </a:solidFill>
                <a:latin typeface="Arial" panose="020B0604020202090204"/>
                <a:ea typeface="微软雅黑"/>
                <a:cs typeface="Arial" panose="020B0604020202090204"/>
              </a:rPr>
              <a:t>10</a:t>
            </a:r>
            <a:endParaRPr lang="zh-CN" sz="900" dirty="0">
              <a:solidFill>
                <a:srgbClr val="94A3B8"/>
              </a:solidFill>
              <a:latin typeface="Arial" panose="020B0604020202090204"/>
              <a:ea typeface="微软雅黑"/>
              <a:cs typeface="Arial" panose="020B0604020202090204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1" dur="4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image">
                                      <p:cBhvr>
                                        <p:cTn id="15" dur="4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/>
      <p:bldP spid="46" grpId="0"/>
      <p:bldP spid="53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3205</Words>
  <Application>WPS 演示</Application>
  <PresentationFormat>On-screen Show (4:3)</PresentationFormat>
  <Paragraphs>435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8" baseType="lpstr">
      <vt:lpstr>Arial</vt:lpstr>
      <vt:lpstr>宋体</vt:lpstr>
      <vt:lpstr>Wingdings</vt:lpstr>
      <vt:lpstr>Arial</vt:lpstr>
      <vt:lpstr>微软雅黑</vt:lpstr>
      <vt:lpstr>汉仪旗黑</vt:lpstr>
      <vt:lpstr>Consolas</vt:lpstr>
      <vt:lpstr>Thonburi</vt:lpstr>
      <vt:lpstr>微软雅黑</vt:lpstr>
      <vt:lpstr>宋体</vt:lpstr>
      <vt:lpstr>Arial Unicode MS</vt:lpstr>
      <vt:lpstr>Calibri</vt:lpstr>
      <vt:lpstr>Helvetica Neue</vt:lpstr>
      <vt:lpstr>汉仪书宋二KW</vt:lpstr>
      <vt:lpstr>Consolas</vt:lpstr>
      <vt:lpstr>微软雅黑</vt:lpstr>
      <vt:lpstr>苹方-简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赵冠杰</cp:lastModifiedBy>
  <cp:revision>5</cp:revision>
  <dcterms:created xsi:type="dcterms:W3CDTF">2026-06-07T04:10:01Z</dcterms:created>
  <dcterms:modified xsi:type="dcterms:W3CDTF">2026-06-07T04:10:01Z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86BFFDBDEEC4B3E965ED246AD8C47B0C_42</vt:lpwstr>
  </property>
  <property fmtid="{D5CDD505-2E9C-101B-9397-08002B2CF9AE}" pid="3" name="KSOProductBuildVer">
    <vt:lpwstr>2052-12.1.25895.25895</vt:lpwstr>
  </property>
</Properties>
</file>
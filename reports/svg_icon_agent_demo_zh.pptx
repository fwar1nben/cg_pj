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大家好，我汇报的项目是 SVG Icon Agent。它不是普通的文生图项目，而是把短文本描述转成可编辑的 SVG 图标。项目重点放在生成式 AI 和多 Agent 协作：每个命名为 Agent 的组件都调用大模型，本地代码只负责检查、渲染、导出和日志。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这个项目的动机是：图标生成不只是生成一张好看的图片。对于计算机图形来说，我更希望输出本身是结构化的、可编辑的、可检查的。SVG 正好符合这个目标。相比直接让模型画图，这里把生成拆成多个 Agent：有人负责目标，有人负责规划，有人生成多个候选，有人评价，有人修复。这样可以展示一个完整的生成式 AI 工作流。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系统目标是输入一句英文描述，输出一套完整的图标生成产物。除了 SVG 本身，还会导出 PNG 预览、HTML gallery、metrics、trace 和 raw response。这样答辩时不只是展示最后图片，也可以展示模型到底做了什么、哪个 Agent 参与了、失败是怎么被修复的。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这是系统最核心的一页。这里不是完全线性的流程，而是一个 DAG。前半部分从 memory、goal、rewrite、plan 到 candidate generation。生成多个候选之后，Semantic Critic 和 SVG Quality Critic 从两个角度并行评价，再由 Consensus Selector 汇总。右侧的 Validator 如果发现问题，会触发 Failure Taxonomy、Repair Router 和 Refiner，再回到 Validator。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这一页解释为什么叫多 Agent。每个 Agent 的职责都很窄，比如 Goal Manager 只负责把目标和验收标准写清楚，Critic 只负责评价，Router 只负责把问题转成修复策略。这里我特别区分 Agent 和 Tool：Agent 必须调用大模型；本地 XML 检查和 PNG 导出只是工具。这样项目主体仍然是生成式 AI，而不是本地规则模板。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协同生成这一页用 rocket run 举例。模型先生成三个候选，三个候选都通过了本地工具检查。这里我放了脱敏日志里的两段摘录：Prompt Rewriter 把原始 prompt 扩写成 256x256、居中火箭、分层动态火焰；Selector 的原始输出说明 candidate 2 同时有最高语义分和 SVG 质量分。这个过程让选择有证据，而不是随机取第一张。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自我修复机制用 coffee 案例说明。优化后的 baseline 因为颜色不符合计划，被 Validator 判为 invalid，分数 70。PPT 中放了日志摘录：Failure Taxonomy 把问题归类为 semantic mismatch 和 constraint violation；Repair Router 选择 semantic_recompose，并给出替换颜色、移除 opacity 的 ordered actions。Refiner 根据这个 brief 返回完整 SVG，然后 re-validate，最后分数提升到 95。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这一页是目标管理和记忆。Goal Manager 把 prompt 变成显式目标和验收标准，避免模型只凭一句话自由发挥。Memory Retrieval 从本地历史运行中找相似案例，比如 rocket prompt 会检索到以前的成功经验：火箭要居中，火焰要分层扫掠，窗口最好简化成单个圆。Memory Curator 在每次运行结束后再把经验写回 memory index。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实验结果按报告快照统计。四个主要 Web run 一共生成十二个候选 SVG，选出四个 winner。优化后的 baseline 中三分之四有效，经过修复后的 refined 四分之四有效，平均分从 91.25 提升到 97.50。其中 coffee 是主要修复案例，后续 dog 和 cloud 运行也显示修复循环能继续发挥作用。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最后总结一下。这个项目的核心创新是把 SVG 图标生成拆成一个可解释的多 Agent 系统：有目标管理，有候选竞争，有双 Critic，有修复路线，也有本地记忆。局限是目前模型速度、稳定性和实验规模还有限，视觉评价也还有提升空间。后续可以做更完整的 ablation 和人类偏好评价。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658368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SVG Icon Agent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13232" y="1444752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 Agent 协同的可编辑 SVG 图标生成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901952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生成式 AI 实践 · Computer Graphics Project 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2395728"/>
            <a:ext cx="1508760" cy="292608"/>
          </a:xfrm>
          <a:prstGeom prst="roundRect">
            <a:avLst>
              <a:gd name="adj" fmla="val 15625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464308"/>
            <a:ext cx="13624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LLM Agents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395728" y="2395728"/>
            <a:ext cx="1508760" cy="292608"/>
          </a:xfrm>
          <a:prstGeom prst="roundRect">
            <a:avLst>
              <a:gd name="adj" fmla="val 156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2464308"/>
            <a:ext cx="13624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Editable SVG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059936" y="2395728"/>
            <a:ext cx="1508760" cy="292608"/>
          </a:xfrm>
          <a:prstGeom prst="roundRect">
            <a:avLst>
              <a:gd name="adj" fmla="val 15625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33088" y="2464308"/>
            <a:ext cx="13624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RAG Memory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724144" y="2395728"/>
            <a:ext cx="1508760" cy="292608"/>
          </a:xfrm>
          <a:prstGeom prst="roundRect">
            <a:avLst>
              <a:gd name="adj" fmla="val 15625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97296" y="2464308"/>
            <a:ext cx="13624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Self-Repair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31520" y="5376672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Zhao Guanjie 23307130127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568756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Code: https://github.com/fwar1nben/CG_PJ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7406640" y="914400"/>
            <a:ext cx="1600200" cy="169164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17" name="Image 0" descr="/Users/jasonzhao/Documents/Code/CG_Agent/CG_PJ/outputs/web/1780456947-99997024/png/refined/a-minimal-rocket-launch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2944" y="1024128"/>
            <a:ext cx="1307592" cy="125272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7534656" y="2350008"/>
            <a:ext cx="1344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Rocket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9235440" y="914400"/>
            <a:ext cx="1600200" cy="169164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20" name="Image 1" descr="/Users/jasonzhao/Documents/Code/CG_Agent/CG_PJ/outputs/web/1780457342-7e0b912c/png/refined/a-cute-gray-cat-smil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744" y="1024128"/>
            <a:ext cx="1307592" cy="125272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9363456" y="2350008"/>
            <a:ext cx="1344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Cat</a:t>
            </a:r>
            <a:endParaRPr lang="en-US" sz="720" dirty="0"/>
          </a:p>
        </p:txBody>
      </p:sp>
      <p:sp>
        <p:nvSpPr>
          <p:cNvPr id="22" name="Shape 18"/>
          <p:cNvSpPr/>
          <p:nvPr/>
        </p:nvSpPr>
        <p:spPr>
          <a:xfrm>
            <a:off x="7406640" y="2971800"/>
            <a:ext cx="1600200" cy="169164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23" name="Image 2" descr="/Users/jasonzhao/Documents/Code/CG_Agent/CG_PJ/outputs/web/1780459805-0420b72d/png/refined/a-steaming-cup-of-coffe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3081528"/>
            <a:ext cx="1307592" cy="125272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534656" y="4407408"/>
            <a:ext cx="1344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Coffee</a:t>
            </a:r>
            <a:endParaRPr lang="en-US" sz="720" dirty="0"/>
          </a:p>
        </p:txBody>
      </p:sp>
      <p:sp>
        <p:nvSpPr>
          <p:cNvPr id="25" name="Shape 20"/>
          <p:cNvSpPr/>
          <p:nvPr/>
        </p:nvSpPr>
        <p:spPr>
          <a:xfrm>
            <a:off x="9235440" y="2971800"/>
            <a:ext cx="1600200" cy="169164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26" name="Image 3" descr="/Users/jasonzhao/Documents/Code/CG_Agent/CG_PJ/outputs/web/1780719731-76e64787/png/refined/a-clean-line-icon-o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744" y="3081528"/>
            <a:ext cx="1307592" cy="125272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363456" y="4407408"/>
            <a:ext cx="1344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Cloud</a:t>
            </a:r>
            <a:endParaRPr lang="en-US" sz="720" dirty="0"/>
          </a:p>
        </p:txBody>
      </p:sp>
      <p:sp>
        <p:nvSpPr>
          <p:cNvPr id="28" name="Text 22"/>
          <p:cNvSpPr/>
          <p:nvPr/>
        </p:nvSpPr>
        <p:spPr>
          <a:xfrm>
            <a:off x="502920" y="6537960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8A2B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Icon Agent | 生成式 AI 与多 Agent SVG 图标生成</a:t>
            </a:r>
            <a:endParaRPr lang="en-US" sz="650" dirty="0"/>
          </a:p>
        </p:txBody>
      </p:sp>
      <p:sp>
        <p:nvSpPr>
          <p:cNvPr id="29" name="Text 23"/>
          <p:cNvSpPr/>
          <p:nvPr/>
        </p:nvSpPr>
        <p:spPr>
          <a:xfrm>
            <a:off x="1129284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问题与动机：图标不是只要“好看”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普通文生图给的是像素图，课程项目更适合展示可检查、可编辑、可修复的图形生成流程。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85800" y="1170432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170432"/>
            <a:ext cx="73152" cy="34290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335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普通文生图的限制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86968" y="1645920"/>
            <a:ext cx="2926080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输出通常是 raster image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结构不可编辑，难以复用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无法直接检查 XML / viewBox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失败后只能重新采样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难展示 Agent 之间的决策证据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4434840" y="1170432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170432"/>
            <a:ext cx="73152" cy="3429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1335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选择 SVG 的原因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36008" y="1645920"/>
            <a:ext cx="2926080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XML + 矢量 primitives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可缩放、可编辑、可 diff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可检查标签、属性和安全性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可转 PNG 预览，保留源 SVG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适合 UI icon 和课程图形约束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8183880" y="1170432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1170432"/>
            <a:ext cx="73152" cy="3429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5048" y="1335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 化的价值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385048" y="1645920"/>
            <a:ext cx="2926080" cy="2862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将创意任务拆为明确职责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多候选 + 多角度 critique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Selector 给出选择理由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Taxonomy / Router 给出修复路线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Web DAG 让过程可展示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914400" y="4828032"/>
            <a:ext cx="10424160" cy="713232"/>
          </a:xfrm>
          <a:prstGeom prst="roundRect">
            <a:avLst>
              <a:gd name="adj" fmla="val 7692"/>
            </a:avLst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4937760"/>
            <a:ext cx="10168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本项目定位</a:t>
            </a:r>
            <a:endParaRPr lang="en-US" sz="770" dirty="0"/>
          </a:p>
        </p:txBody>
      </p:sp>
      <p:sp>
        <p:nvSpPr>
          <p:cNvPr id="19" name="Text 17"/>
          <p:cNvSpPr/>
          <p:nvPr/>
        </p:nvSpPr>
        <p:spPr>
          <a:xfrm>
            <a:off x="1042416" y="5157216"/>
            <a:ext cx="10168128" cy="3291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不是训练大图像模型，而是实践“LLM Agent 协作 + SVG 规则工具 + 可编辑图形产物”。评分重点可落在生成式 AI workflow、Agent 组织方式、可解释修复和 demo 可复现性。</a:t>
            </a:r>
            <a:endParaRPr lang="en-US" sz="710" dirty="0"/>
          </a:p>
        </p:txBody>
      </p:sp>
      <p:sp>
        <p:nvSpPr>
          <p:cNvPr id="20" name="Text 18"/>
          <p:cNvSpPr/>
          <p:nvPr/>
        </p:nvSpPr>
        <p:spPr>
          <a:xfrm>
            <a:off x="502920" y="6537960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8A2B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Icon Agent | 生成式 AI 与多 Agent SVG 图标生成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29284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项目目标：从一句描述到一套可追踪产物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输入英文 prompt，输出 SVG、PNG、gallery、metrics 和完整 LLM trace。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731520" y="1325880"/>
            <a:ext cx="4206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55448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Input: "A steaming cup of coffee"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40680" y="1389888"/>
            <a:ext cx="1371600" cy="502920"/>
          </a:xfrm>
          <a:prstGeom prst="roundRect">
            <a:avLst>
              <a:gd name="adj" fmla="val 10909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1472184"/>
            <a:ext cx="12801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LLM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Pipeline</a:t>
            </a:r>
            <a:endParaRPr lang="en-US" sz="710" dirty="0"/>
          </a:p>
        </p:txBody>
      </p:sp>
      <p:sp>
        <p:nvSpPr>
          <p:cNvPr id="9" name="Shape 7"/>
          <p:cNvSpPr/>
          <p:nvPr/>
        </p:nvSpPr>
        <p:spPr>
          <a:xfrm>
            <a:off x="4937760" y="1664208"/>
            <a:ext cx="475488" cy="0"/>
          </a:xfrm>
          <a:prstGeom prst="line">
            <a:avLst/>
          </a:prstGeom>
          <a:noFill/>
          <a:ln w="16510">
            <a:solidFill>
              <a:srgbClr val="D0D5DD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839712" y="1664208"/>
            <a:ext cx="566928" cy="0"/>
          </a:xfrm>
          <a:prstGeom prst="line">
            <a:avLst/>
          </a:prstGeom>
          <a:noFill/>
          <a:ln w="16510">
            <a:solidFill>
              <a:srgbClr val="D0D5D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479792" y="109728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79792" y="1097280"/>
            <a:ext cx="73152" cy="11430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0" y="126187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Outputs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680960" y="1572768"/>
            <a:ext cx="3246120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selected SVG / baseline SVG / refined SVG / PNG previews / gallery / metrics / trace / raw responses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914400" y="2743200"/>
            <a:ext cx="1463040" cy="1600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16" name="Image 0" descr="/Users/jasonzhao/Documents/Code/CG_Agent/CG_PJ/outputs/web/1780459805-0420b72d/png/baseline/a-steaming-cup-of-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852928"/>
            <a:ext cx="1170432" cy="116128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42416" y="4087368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Baseline: 70 invalid</a:t>
            </a:r>
            <a:endParaRPr lang="en-US" sz="720" dirty="0"/>
          </a:p>
        </p:txBody>
      </p:sp>
      <p:sp>
        <p:nvSpPr>
          <p:cNvPr id="18" name="Shape 15"/>
          <p:cNvSpPr/>
          <p:nvPr/>
        </p:nvSpPr>
        <p:spPr>
          <a:xfrm>
            <a:off x="2743200" y="2743200"/>
            <a:ext cx="1463040" cy="1600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19" name="Image 1" descr="/Users/jasonzhao/Documents/Code/CG_Agent/CG_PJ/outputs/web/1780459805-0420b72d/png/refined/a-steaming-cup-of-coff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9504" y="2852928"/>
            <a:ext cx="1170432" cy="116128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871216" y="4087368"/>
            <a:ext cx="1207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Refined: 95 valid</a:t>
            </a:r>
            <a:endParaRPr lang="en-US" sz="720" dirty="0"/>
          </a:p>
        </p:txBody>
      </p:sp>
      <p:sp>
        <p:nvSpPr>
          <p:cNvPr id="21" name="Shape 17"/>
          <p:cNvSpPr/>
          <p:nvPr/>
        </p:nvSpPr>
        <p:spPr>
          <a:xfrm>
            <a:off x="4800600" y="274320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800600" y="2743200"/>
            <a:ext cx="73152" cy="1600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001768" y="29077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Web UI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5001768" y="3218688"/>
            <a:ext cx="2423160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 prompt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预览 SVG / PNG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查看 DAG 当前节点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展开 raw LLM response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完成后可手动反馈再优化</a:t>
            </a:r>
            <a:endParaRPr lang="en-US" sz="820" dirty="0"/>
          </a:p>
        </p:txBody>
      </p:sp>
      <p:sp>
        <p:nvSpPr>
          <p:cNvPr id="25" name="Shape 21"/>
          <p:cNvSpPr/>
          <p:nvPr/>
        </p:nvSpPr>
        <p:spPr>
          <a:xfrm>
            <a:off x="7955280" y="274320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7955280" y="2743200"/>
            <a:ext cx="73152" cy="1600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156448" y="29077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CLI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8156448" y="3218688"/>
            <a:ext cx="2423160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批量 prompts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手动 --text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case-id 筛选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可调模型、tokens、repair rounds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支持 single/collaborative ablation</a:t>
            </a:r>
            <a:endParaRPr lang="en-US" sz="820" dirty="0"/>
          </a:p>
        </p:txBody>
      </p:sp>
      <p:sp>
        <p:nvSpPr>
          <p:cNvPr id="29" name="Shape 25"/>
          <p:cNvSpPr/>
          <p:nvPr/>
        </p:nvSpPr>
        <p:spPr>
          <a:xfrm>
            <a:off x="960120" y="4736592"/>
            <a:ext cx="4754880" cy="896112"/>
          </a:xfrm>
          <a:prstGeom prst="roundRect">
            <a:avLst>
              <a:gd name="adj" fmla="val 5102"/>
            </a:avLst>
          </a:prstGeom>
          <a:solidFill>
            <a:srgbClr val="111827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1069848" y="4837176"/>
            <a:ext cx="4535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93C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输出日志文件</a:t>
            </a:r>
            <a:endParaRPr lang="en-US" sz="680" dirty="0"/>
          </a:p>
        </p:txBody>
      </p:sp>
      <p:sp>
        <p:nvSpPr>
          <p:cNvPr id="31" name="Text 27"/>
          <p:cNvSpPr/>
          <p:nvPr/>
        </p:nvSpPr>
        <p:spPr>
          <a:xfrm>
            <a:off x="1069848" y="5056632"/>
            <a:ext cx="4535424" cy="5120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generation_goal.json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llm_trace.json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llm_raw_responses.jsonl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failure_taxonomy.json / repair_routes.json</a:t>
            </a:r>
            <a:endParaRPr lang="en-US" sz="610" dirty="0"/>
          </a:p>
        </p:txBody>
      </p:sp>
      <p:sp>
        <p:nvSpPr>
          <p:cNvPr id="32" name="Shape 28"/>
          <p:cNvSpPr/>
          <p:nvPr/>
        </p:nvSpPr>
        <p:spPr>
          <a:xfrm>
            <a:off x="5989320" y="4736592"/>
            <a:ext cx="5074920" cy="896112"/>
          </a:xfrm>
          <a:prstGeom prst="roundRect">
            <a:avLst>
              <a:gd name="adj" fmla="val 6122"/>
            </a:avLst>
          </a:prstGeom>
          <a:solidFill>
            <a:srgbClr val="F8FAFC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117336" y="4846320"/>
            <a:ext cx="48188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可追踪性</a:t>
            </a:r>
            <a:endParaRPr lang="en-US" sz="770" dirty="0"/>
          </a:p>
        </p:txBody>
      </p:sp>
      <p:sp>
        <p:nvSpPr>
          <p:cNvPr id="34" name="Text 30"/>
          <p:cNvSpPr/>
          <p:nvPr/>
        </p:nvSpPr>
        <p:spPr>
          <a:xfrm>
            <a:off x="6117336" y="5065776"/>
            <a:ext cx="4818888" cy="5120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PPT 中只展示脱敏后的代表性摘录；完整模型返回保存在 llm_raw_responses.jsonl，便于定位 malformed JSON、空回复、repair 失败等问题。</a:t>
            </a:r>
            <a:endParaRPr lang="en-US" sz="710" dirty="0"/>
          </a:p>
        </p:txBody>
      </p:sp>
      <p:sp>
        <p:nvSpPr>
          <p:cNvPr id="35" name="Text 31"/>
          <p:cNvSpPr/>
          <p:nvPr/>
        </p:nvSpPr>
        <p:spPr>
          <a:xfrm>
            <a:off x="502920" y="6537960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8A2B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Icon Agent | 生成式 AI 与多 Agent SVG 图标生成</a:t>
            </a:r>
            <a:endParaRPr lang="en-US" sz="650" dirty="0"/>
          </a:p>
        </p:txBody>
      </p:sp>
      <p:sp>
        <p:nvSpPr>
          <p:cNvPr id="36" name="Text 32"/>
          <p:cNvSpPr/>
          <p:nvPr/>
        </p:nvSpPr>
        <p:spPr>
          <a:xfrm>
            <a:off x="1129284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总体架构：不是线性流水线，而是 Agent DAG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候选生成和双 Critic 存在并行关系；Repair 分支是条件触发。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320040" y="2606040"/>
            <a:ext cx="960120" cy="493776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6883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Memory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Tool</a:t>
            </a:r>
            <a:endParaRPr lang="en-US" sz="710" dirty="0"/>
          </a:p>
        </p:txBody>
      </p:sp>
      <p:sp>
        <p:nvSpPr>
          <p:cNvPr id="7" name="Shape 5"/>
          <p:cNvSpPr/>
          <p:nvPr/>
        </p:nvSpPr>
        <p:spPr>
          <a:xfrm>
            <a:off x="1481328" y="2606040"/>
            <a:ext cx="960120" cy="493776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27048" y="26883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Goal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Manager</a:t>
            </a:r>
            <a:endParaRPr lang="en-US" sz="710" dirty="0"/>
          </a:p>
        </p:txBody>
      </p:sp>
      <p:sp>
        <p:nvSpPr>
          <p:cNvPr id="9" name="Shape 7"/>
          <p:cNvSpPr/>
          <p:nvPr/>
        </p:nvSpPr>
        <p:spPr>
          <a:xfrm>
            <a:off x="2651760" y="2606040"/>
            <a:ext cx="1005840" cy="493776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97480" y="26883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Prompt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Rewriter</a:t>
            </a:r>
            <a:endParaRPr lang="en-US" sz="710" dirty="0"/>
          </a:p>
        </p:txBody>
      </p:sp>
      <p:sp>
        <p:nvSpPr>
          <p:cNvPr id="11" name="Shape 9"/>
          <p:cNvSpPr/>
          <p:nvPr/>
        </p:nvSpPr>
        <p:spPr>
          <a:xfrm>
            <a:off x="3858768" y="2606040"/>
            <a:ext cx="877824" cy="493776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04488" y="2688336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Planner</a:t>
            </a:r>
            <a:endParaRPr lang="en-US" sz="710" dirty="0"/>
          </a:p>
        </p:txBody>
      </p:sp>
      <p:sp>
        <p:nvSpPr>
          <p:cNvPr id="13" name="Shape 11"/>
          <p:cNvSpPr/>
          <p:nvPr/>
        </p:nvSpPr>
        <p:spPr>
          <a:xfrm>
            <a:off x="4956048" y="2606040"/>
            <a:ext cx="1143000" cy="493776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01768" y="268833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Candidate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Generators</a:t>
            </a:r>
            <a:endParaRPr lang="en-US" sz="710" dirty="0"/>
          </a:p>
        </p:txBody>
      </p:sp>
      <p:sp>
        <p:nvSpPr>
          <p:cNvPr id="15" name="Shape 13"/>
          <p:cNvSpPr/>
          <p:nvPr/>
        </p:nvSpPr>
        <p:spPr>
          <a:xfrm>
            <a:off x="6492240" y="1572768"/>
            <a:ext cx="1097280" cy="493776"/>
          </a:xfrm>
          <a:prstGeom prst="roundRect">
            <a:avLst>
              <a:gd name="adj" fmla="val 11111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165506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Semantic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Critic</a:t>
            </a:r>
            <a:endParaRPr lang="en-US" sz="710" dirty="0"/>
          </a:p>
        </p:txBody>
      </p:sp>
      <p:sp>
        <p:nvSpPr>
          <p:cNvPr id="17" name="Shape 15"/>
          <p:cNvSpPr/>
          <p:nvPr/>
        </p:nvSpPr>
        <p:spPr>
          <a:xfrm>
            <a:off x="6492240" y="3611880"/>
            <a:ext cx="1097280" cy="493776"/>
          </a:xfrm>
          <a:prstGeom prst="roundRect">
            <a:avLst>
              <a:gd name="adj" fmla="val 11111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369417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Quality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Critic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8065008" y="2606040"/>
            <a:ext cx="1024128" cy="493776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10728" y="2688336"/>
            <a:ext cx="932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Consensus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Selector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9308592" y="2606040"/>
            <a:ext cx="960120" cy="493776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54312" y="268833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Optimizer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10469880" y="2606040"/>
            <a:ext cx="868680" cy="493776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0" y="2688336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Validator</a:t>
            </a:r>
            <a:endParaRPr lang="en-US" sz="710" dirty="0"/>
          </a:p>
        </p:txBody>
      </p:sp>
      <p:sp>
        <p:nvSpPr>
          <p:cNvPr id="25" name="Shape 23"/>
          <p:cNvSpPr/>
          <p:nvPr/>
        </p:nvSpPr>
        <p:spPr>
          <a:xfrm>
            <a:off x="11475720" y="2606040"/>
            <a:ext cx="868680" cy="493776"/>
          </a:xfrm>
          <a:prstGeom prst="roundRect">
            <a:avLst>
              <a:gd name="adj" fmla="val 1111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521440" y="2688336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Exporter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6446520" y="4773168"/>
            <a:ext cx="1124712" cy="493776"/>
          </a:xfrm>
          <a:prstGeom prst="roundRect">
            <a:avLst>
              <a:gd name="adj" fmla="val 11111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855464"/>
            <a:ext cx="1033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Failure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Taxonomy</a:t>
            </a:r>
            <a:endParaRPr lang="en-US" sz="710" dirty="0"/>
          </a:p>
        </p:txBody>
      </p:sp>
      <p:sp>
        <p:nvSpPr>
          <p:cNvPr id="29" name="Shape 27"/>
          <p:cNvSpPr/>
          <p:nvPr/>
        </p:nvSpPr>
        <p:spPr>
          <a:xfrm>
            <a:off x="8001000" y="4773168"/>
            <a:ext cx="1078992" cy="493776"/>
          </a:xfrm>
          <a:prstGeom prst="roundRect">
            <a:avLst>
              <a:gd name="adj" fmla="val 11111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0" y="4855464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Repair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Router</a:t>
            </a:r>
            <a:endParaRPr lang="en-US" sz="710" dirty="0"/>
          </a:p>
        </p:txBody>
      </p:sp>
      <p:sp>
        <p:nvSpPr>
          <p:cNvPr id="31" name="Shape 29"/>
          <p:cNvSpPr/>
          <p:nvPr/>
        </p:nvSpPr>
        <p:spPr>
          <a:xfrm>
            <a:off x="9464040" y="4773168"/>
            <a:ext cx="914400" cy="493776"/>
          </a:xfrm>
          <a:prstGeom prst="roundRect">
            <a:avLst>
              <a:gd name="adj" fmla="val 11111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509760" y="485546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Refiner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11475720" y="4187952"/>
            <a:ext cx="868680" cy="493776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521440" y="42702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Memory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Curator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1280160" y="2852928"/>
            <a:ext cx="201168" cy="0"/>
          </a:xfrm>
          <a:prstGeom prst="line">
            <a:avLst/>
          </a:prstGeom>
          <a:noFill/>
          <a:ln w="16510">
            <a:solidFill>
              <a:srgbClr val="D0D5DD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441448" y="2852928"/>
            <a:ext cx="210312" cy="0"/>
          </a:xfrm>
          <a:prstGeom prst="line">
            <a:avLst/>
          </a:prstGeom>
          <a:noFill/>
          <a:ln w="16510">
            <a:solidFill>
              <a:srgbClr val="D0D5DD"/>
            </a:solidFill>
            <a:prstDash val="solid"/>
            <a:headEnd type="none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657600" y="2852928"/>
            <a:ext cx="201168" cy="0"/>
          </a:xfrm>
          <a:prstGeom prst="line">
            <a:avLst/>
          </a:prstGeom>
          <a:noFill/>
          <a:ln w="16510">
            <a:solidFill>
              <a:srgbClr val="D0D5DD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736592" y="2852928"/>
            <a:ext cx="219456" cy="0"/>
          </a:xfrm>
          <a:prstGeom prst="line">
            <a:avLst/>
          </a:prstGeom>
          <a:noFill/>
          <a:ln w="16510">
            <a:solidFill>
              <a:srgbClr val="D0D5DD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099048" y="2852928"/>
            <a:ext cx="192024" cy="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291072" y="2852928"/>
            <a:ext cx="0" cy="-1033272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291072" y="1819656"/>
            <a:ext cx="201168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099048" y="2852928"/>
            <a:ext cx="192024" cy="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6291072" y="2852928"/>
            <a:ext cx="0" cy="100584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6291072" y="3858768"/>
            <a:ext cx="201168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589520" y="1819656"/>
            <a:ext cx="228600" cy="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7818120" y="1819656"/>
            <a:ext cx="0" cy="1033272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7818120" y="2852928"/>
            <a:ext cx="246888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7589520" y="3858768"/>
            <a:ext cx="228600" cy="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7818120" y="3858768"/>
            <a:ext cx="0" cy="-100584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7818120" y="2852928"/>
            <a:ext cx="246888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9089136" y="2852928"/>
            <a:ext cx="219456" cy="0"/>
          </a:xfrm>
          <a:prstGeom prst="line">
            <a:avLst/>
          </a:prstGeom>
          <a:noFill/>
          <a:ln w="16510">
            <a:solidFill>
              <a:srgbClr val="D0D5DD"/>
            </a:solidFill>
            <a:prstDash val="solid"/>
            <a:headEnd type="none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68712" y="2852928"/>
            <a:ext cx="201168" cy="0"/>
          </a:xfrm>
          <a:prstGeom prst="line">
            <a:avLst/>
          </a:prstGeom>
          <a:noFill/>
          <a:ln w="16510">
            <a:solidFill>
              <a:srgbClr val="D0D5DD"/>
            </a:solidFill>
            <a:prstDash val="solid"/>
            <a:headEnd type="none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338560" y="2852928"/>
            <a:ext cx="137160" cy="0"/>
          </a:xfrm>
          <a:prstGeom prst="line">
            <a:avLst/>
          </a:prstGeom>
          <a:noFill/>
          <a:ln w="16510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0899648" y="3099816"/>
            <a:ext cx="0" cy="877824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10899648" y="3977640"/>
            <a:ext cx="-4773168" cy="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6126480" y="3977640"/>
            <a:ext cx="0" cy="1042416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6126480" y="5020056"/>
            <a:ext cx="32004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7571232" y="5020056"/>
            <a:ext cx="429768" cy="0"/>
          </a:xfrm>
          <a:prstGeom prst="line">
            <a:avLst/>
          </a:prstGeom>
          <a:noFill/>
          <a:ln w="16510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079992" y="5020056"/>
            <a:ext cx="384048" cy="0"/>
          </a:xfrm>
          <a:prstGeom prst="line">
            <a:avLst/>
          </a:prstGeom>
          <a:noFill/>
          <a:ln w="16510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10378440" y="5020056"/>
            <a:ext cx="640080" cy="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11018520" y="5020056"/>
            <a:ext cx="0" cy="-192024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11905488" y="3099816"/>
            <a:ext cx="0" cy="1088136"/>
          </a:xfrm>
          <a:prstGeom prst="line">
            <a:avLst/>
          </a:prstGeom>
          <a:noFill/>
          <a:ln w="15875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77240" y="1170432"/>
            <a:ext cx="1508760" cy="292608"/>
          </a:xfrm>
          <a:prstGeom prst="roundRect">
            <a:avLst>
              <a:gd name="adj" fmla="val 15625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50392" y="1239012"/>
            <a:ext cx="13624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蓝色 = LLM Agent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514600" y="1170432"/>
            <a:ext cx="1508760" cy="292608"/>
          </a:xfrm>
          <a:prstGeom prst="roundRect">
            <a:avLst>
              <a:gd name="adj" fmla="val 15625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7752" y="1239012"/>
            <a:ext cx="13624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绿色 = 本地工具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4251960" y="1170432"/>
            <a:ext cx="1508760" cy="292608"/>
          </a:xfrm>
          <a:prstGeom prst="roundRect">
            <a:avLst>
              <a:gd name="adj" fmla="val 15625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325112" y="1239012"/>
            <a:ext cx="136245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橙色 = 修复/评价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6080760" y="960120"/>
            <a:ext cx="5349240" cy="530352"/>
          </a:xfrm>
          <a:prstGeom prst="roundRect">
            <a:avLst>
              <a:gd name="adj" fmla="val 10345"/>
            </a:avLst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208776" y="1069848"/>
            <a:ext cx="5093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依赖关系说明</a:t>
            </a:r>
            <a:endParaRPr lang="en-US" sz="770" dirty="0"/>
          </a:p>
        </p:txBody>
      </p:sp>
      <p:sp>
        <p:nvSpPr>
          <p:cNvPr id="71" name="Text 69"/>
          <p:cNvSpPr/>
          <p:nvPr/>
        </p:nvSpPr>
        <p:spPr>
          <a:xfrm>
            <a:off x="6208776" y="1289304"/>
            <a:ext cx="5093208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Generator 扇出到两个 Critic；Selector 汇总后进入 Optimizer。只有 Validator 判定有阻塞问题时，下方 repair branch 才执行。</a:t>
            </a:r>
            <a:endParaRPr lang="en-US" sz="710" dirty="0"/>
          </a:p>
        </p:txBody>
      </p:sp>
      <p:sp>
        <p:nvSpPr>
          <p:cNvPr id="72" name="Text 70"/>
          <p:cNvSpPr/>
          <p:nvPr/>
        </p:nvSpPr>
        <p:spPr>
          <a:xfrm>
            <a:off x="777240" y="5806440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Web 前端会把同一张 DAG 按 waiting / active / done / skipped / error 高亮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02920" y="6537960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8A2B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Icon Agent | 生成式 AI 与多 Agent SVG 图标生成</a:t>
            </a:r>
            <a:endParaRPr lang="en-US" sz="650" dirty="0"/>
          </a:p>
        </p:txBody>
      </p:sp>
      <p:sp>
        <p:nvSpPr>
          <p:cNvPr id="74" name="Text 72"/>
          <p:cNvSpPr/>
          <p:nvPr/>
        </p:nvSpPr>
        <p:spPr>
          <a:xfrm>
            <a:off x="1129284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 Agent 职责：把大任务拆成可解释的小任务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 Agent 负责一个语义明确的判断或生成动作。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85800" y="1234440"/>
            <a:ext cx="2423160" cy="420624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234440"/>
            <a:ext cx="73152" cy="4206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3990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目标与上下文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86968" y="1709928"/>
            <a:ext cx="2103120" cy="3639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Goal Manager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Prompt Rewriter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Memory Curator</a:t>
            </a:r>
            <a:endParaRPr lang="en-US" sz="820" dirty="0"/>
          </a:p>
          <a:p>
            <a:pPr indent="0" marL="0">
              <a:buNone/>
            </a:pP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输入：prompt + goal + memory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输出：GenerationGoal、rewritten prompt、可复用经验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3520440" y="1234440"/>
            <a:ext cx="2423160" cy="420624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20440" y="1234440"/>
            <a:ext cx="73152" cy="4206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21608" y="13990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图标生成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21608" y="1709928"/>
            <a:ext cx="2103120" cy="3639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Planner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Multi-Candidate Generator</a:t>
            </a:r>
            <a:endParaRPr lang="en-US" sz="820" dirty="0"/>
          </a:p>
          <a:p>
            <a:pPr indent="0" marL="0">
              <a:buNone/>
            </a:pP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输入：rewritten prompt + plan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输出：3 个不同 SVG draft，全部走 SvgCheckTool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6355080" y="1234440"/>
            <a:ext cx="2423160" cy="420624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234440"/>
            <a:ext cx="73152" cy="42062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6248" y="13990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评价与选择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56248" y="1709928"/>
            <a:ext cx="2103120" cy="3639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Semantic Critic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Quality Critic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Consensus Selector</a:t>
            </a:r>
            <a:endParaRPr lang="en-US" sz="820" dirty="0"/>
          </a:p>
          <a:p>
            <a:pPr indent="0" marL="0">
              <a:buNone/>
            </a:pP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输入：候选 SVG + tool report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输出：语义分、质量分、winner 与 repair brief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9189720" y="1234440"/>
            <a:ext cx="2423160" cy="420624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89720" y="1234440"/>
            <a:ext cx="73152" cy="42062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90888" y="13990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优化与修复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90888" y="1709928"/>
            <a:ext cx="2103120" cy="3639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Optimizer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Validator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Failure Taxonomy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Repair Router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Refiner</a:t>
            </a:r>
            <a:endParaRPr lang="en-US" sz="820" dirty="0"/>
          </a:p>
          <a:p>
            <a:pPr indent="0" marL="0">
              <a:buNone/>
            </a:pP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输入：反馈和失败证据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输出：optimized baseline、taxonomy、route、refined SVG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960120" y="5358384"/>
            <a:ext cx="10241280" cy="50292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9848" y="5458968"/>
            <a:ext cx="10021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93C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边界原则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1069848" y="5678424"/>
            <a:ext cx="10021824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Agent = LLM call with explicit role; Tool = deterministic SVG parse / safety check / render / export. No local SVG template fallback.</a:t>
            </a:r>
            <a:endParaRPr lang="en-US" sz="610" dirty="0"/>
          </a:p>
        </p:txBody>
      </p:sp>
      <p:sp>
        <p:nvSpPr>
          <p:cNvPr id="24" name="Text 22"/>
          <p:cNvSpPr/>
          <p:nvPr/>
        </p:nvSpPr>
        <p:spPr>
          <a:xfrm>
            <a:off x="960120" y="592531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关键边界：Agent = 调用 LLM；Tool = 本地确定性检查/渲染/导出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02920" y="6537960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8A2B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Icon Agent | 生成式 AI 与多 Agent SVG 图标生成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29284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协同生成：多候选 + 双 Critic + 共识选择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同一个 prompt 不只生成一个 SVG，而是让模型团队先竞争再优化。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1170432"/>
            <a:ext cx="1188720" cy="1371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6" name="Image 0" descr="/Users/jasonzhao/Documents/Code/CG_Agent/CG_PJ/outputs/web/1780456947-99997024/png/refined/a-minimal-rocket-launch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280160"/>
            <a:ext cx="896112" cy="9326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86384" y="2286000"/>
            <a:ext cx="932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Final rocket</a:t>
            </a:r>
            <a:endParaRPr lang="en-US" sz="720" dirty="0"/>
          </a:p>
        </p:txBody>
      </p:sp>
      <p:sp>
        <p:nvSpPr>
          <p:cNvPr id="8" name="Shape 5"/>
          <p:cNvSpPr/>
          <p:nvPr/>
        </p:nvSpPr>
        <p:spPr>
          <a:xfrm>
            <a:off x="530352" y="2834640"/>
            <a:ext cx="2103120" cy="960120"/>
          </a:xfrm>
          <a:prstGeom prst="roundRect">
            <a:avLst>
              <a:gd name="adj" fmla="val 4762"/>
            </a:avLst>
          </a:prstGeom>
          <a:solidFill>
            <a:srgbClr val="111827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935224"/>
            <a:ext cx="188366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93C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Prompt Rewriter 原始摘录</a:t>
            </a:r>
            <a:endParaRPr lang="en-US" sz="680" dirty="0"/>
          </a:p>
        </p:txBody>
      </p:sp>
      <p:sp>
        <p:nvSpPr>
          <p:cNvPr id="10" name="Text 7"/>
          <p:cNvSpPr/>
          <p:nvPr/>
        </p:nvSpPr>
        <p:spPr>
          <a:xfrm>
            <a:off x="640080" y="3154680"/>
            <a:ext cx="1883664" cy="5760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 minimal, upright rocket icon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centered on a 256x256 canvas...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dynamic, layered flame...</a:t>
            </a:r>
            <a:endParaRPr lang="en-US" sz="610" dirty="0"/>
          </a:p>
        </p:txBody>
      </p:sp>
      <p:sp>
        <p:nvSpPr>
          <p:cNvPr id="11" name="Shape 8"/>
          <p:cNvSpPr/>
          <p:nvPr/>
        </p:nvSpPr>
        <p:spPr>
          <a:xfrm>
            <a:off x="3063240" y="1143000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108960" y="122529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Candidate 1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Tool 100</a:t>
            </a:r>
            <a:endParaRPr lang="en-US" sz="710" dirty="0"/>
          </a:p>
        </p:txBody>
      </p:sp>
      <p:sp>
        <p:nvSpPr>
          <p:cNvPr id="13" name="Shape 10"/>
          <p:cNvSpPr/>
          <p:nvPr/>
        </p:nvSpPr>
        <p:spPr>
          <a:xfrm>
            <a:off x="3063240" y="2057400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108960" y="213969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Candidate 2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Tool 100</a:t>
            </a:r>
            <a:endParaRPr lang="en-US" sz="710" dirty="0"/>
          </a:p>
        </p:txBody>
      </p:sp>
      <p:sp>
        <p:nvSpPr>
          <p:cNvPr id="15" name="Shape 12"/>
          <p:cNvSpPr/>
          <p:nvPr/>
        </p:nvSpPr>
        <p:spPr>
          <a:xfrm>
            <a:off x="3063240" y="2971800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108960" y="3054096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Candidate 3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Tool 100</a:t>
            </a:r>
            <a:endParaRPr lang="en-US" sz="710" dirty="0"/>
          </a:p>
        </p:txBody>
      </p:sp>
      <p:sp>
        <p:nvSpPr>
          <p:cNvPr id="17" name="Shape 14"/>
          <p:cNvSpPr/>
          <p:nvPr/>
        </p:nvSpPr>
        <p:spPr>
          <a:xfrm>
            <a:off x="4892040" y="2057400"/>
            <a:ext cx="685800" cy="475488"/>
          </a:xfrm>
          <a:prstGeom prst="roundRect">
            <a:avLst>
              <a:gd name="adj" fmla="val 11538"/>
            </a:avLst>
          </a:prstGeom>
          <a:solidFill>
            <a:srgbClr val="F8FAFC"/>
          </a:solidFill>
          <a:ln w="12700">
            <a:solidFill>
              <a:srgbClr val="D0D5D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37760" y="2139696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score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fan-out</a:t>
            </a:r>
            <a:endParaRPr lang="en-US" sz="710" dirty="0"/>
          </a:p>
        </p:txBody>
      </p:sp>
      <p:sp>
        <p:nvSpPr>
          <p:cNvPr id="19" name="Shape 16"/>
          <p:cNvSpPr/>
          <p:nvPr/>
        </p:nvSpPr>
        <p:spPr>
          <a:xfrm>
            <a:off x="6172200" y="1417320"/>
            <a:ext cx="1600200" cy="585216"/>
          </a:xfrm>
          <a:prstGeom prst="roundRect">
            <a:avLst>
              <a:gd name="adj" fmla="val 9375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0" y="1499616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Semantic Critic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85 / 95 / 90</a:t>
            </a:r>
            <a:endParaRPr lang="en-US" sz="710" dirty="0"/>
          </a:p>
        </p:txBody>
      </p:sp>
      <p:sp>
        <p:nvSpPr>
          <p:cNvPr id="21" name="Shape 18"/>
          <p:cNvSpPr/>
          <p:nvPr/>
        </p:nvSpPr>
        <p:spPr>
          <a:xfrm>
            <a:off x="6172200" y="2743200"/>
            <a:ext cx="1600200" cy="585216"/>
          </a:xfrm>
          <a:prstGeom prst="roundRect">
            <a:avLst>
              <a:gd name="adj" fmla="val 9375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7920" y="2825496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Quality Critic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85 / 95 / 90</a:t>
            </a:r>
            <a:endParaRPr lang="en-US" sz="710" dirty="0"/>
          </a:p>
        </p:txBody>
      </p:sp>
      <p:sp>
        <p:nvSpPr>
          <p:cNvPr id="23" name="Shape 20"/>
          <p:cNvSpPr/>
          <p:nvPr/>
        </p:nvSpPr>
        <p:spPr>
          <a:xfrm>
            <a:off x="8412480" y="2057400"/>
            <a:ext cx="1645920" cy="621792"/>
          </a:xfrm>
          <a:prstGeom prst="roundRect">
            <a:avLst>
              <a:gd name="adj" fmla="val 8824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58200" y="213969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Consensus Selector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Winner: Candidate 2</a:t>
            </a:r>
            <a:endParaRPr lang="en-US" sz="710" dirty="0"/>
          </a:p>
        </p:txBody>
      </p:sp>
      <p:sp>
        <p:nvSpPr>
          <p:cNvPr id="25" name="Shape 22"/>
          <p:cNvSpPr/>
          <p:nvPr/>
        </p:nvSpPr>
        <p:spPr>
          <a:xfrm>
            <a:off x="10561320" y="2057400"/>
            <a:ext cx="1188720" cy="621792"/>
          </a:xfrm>
          <a:prstGeom prst="roundRect">
            <a:avLst>
              <a:gd name="adj" fmla="val 8824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0" y="2139696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Optimizer</a:t>
            </a:r>
            <a:endParaRPr lang="en-US" sz="710" dirty="0"/>
          </a:p>
        </p:txBody>
      </p:sp>
      <p:sp>
        <p:nvSpPr>
          <p:cNvPr id="27" name="Shape 24"/>
          <p:cNvSpPr/>
          <p:nvPr/>
        </p:nvSpPr>
        <p:spPr>
          <a:xfrm>
            <a:off x="4361688" y="1380744"/>
            <a:ext cx="256032" cy="0"/>
          </a:xfrm>
          <a:prstGeom prst="line">
            <a:avLst/>
          </a:prstGeom>
          <a:noFill/>
          <a:ln w="14605">
            <a:solidFill>
              <a:srgbClr val="D0D5DD"/>
            </a:solidFill>
            <a:prstDash val="solid"/>
            <a:headEnd type="none"/>
            <a:tailEnd type="none"/>
          </a:ln>
        </p:spPr>
      </p:sp>
      <p:sp>
        <p:nvSpPr>
          <p:cNvPr id="28" name="Shape 25"/>
          <p:cNvSpPr/>
          <p:nvPr/>
        </p:nvSpPr>
        <p:spPr>
          <a:xfrm>
            <a:off x="4617720" y="1380744"/>
            <a:ext cx="0" cy="914400"/>
          </a:xfrm>
          <a:prstGeom prst="line">
            <a:avLst/>
          </a:prstGeom>
          <a:noFill/>
          <a:ln w="14605">
            <a:solidFill>
              <a:srgbClr val="D0D5DD"/>
            </a:solidFill>
            <a:prstDash val="solid"/>
            <a:headEnd type="none"/>
            <a:tailEnd type="none"/>
          </a:ln>
        </p:spPr>
      </p:sp>
      <p:sp>
        <p:nvSpPr>
          <p:cNvPr id="29" name="Shape 26"/>
          <p:cNvSpPr/>
          <p:nvPr/>
        </p:nvSpPr>
        <p:spPr>
          <a:xfrm>
            <a:off x="4617720" y="2295144"/>
            <a:ext cx="274320" cy="0"/>
          </a:xfrm>
          <a:prstGeom prst="line">
            <a:avLst/>
          </a:prstGeom>
          <a:noFill/>
          <a:ln w="15875">
            <a:solidFill>
              <a:srgbClr val="D0D5DD"/>
            </a:solidFill>
            <a:prstDash val="solid"/>
            <a:headEnd type="none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4361688" y="2295144"/>
            <a:ext cx="256032" cy="0"/>
          </a:xfrm>
          <a:prstGeom prst="line">
            <a:avLst/>
          </a:prstGeom>
          <a:noFill/>
          <a:ln w="14605">
            <a:solidFill>
              <a:srgbClr val="D0D5DD"/>
            </a:solidFill>
            <a:prstDash val="solid"/>
            <a:headEnd type="none"/>
            <a:tailEnd type="none"/>
          </a:ln>
        </p:spPr>
      </p:sp>
      <p:sp>
        <p:nvSpPr>
          <p:cNvPr id="31" name="Shape 28"/>
          <p:cNvSpPr/>
          <p:nvPr/>
        </p:nvSpPr>
        <p:spPr>
          <a:xfrm>
            <a:off x="4617720" y="2295144"/>
            <a:ext cx="0" cy="0"/>
          </a:xfrm>
          <a:prstGeom prst="line">
            <a:avLst/>
          </a:prstGeom>
          <a:noFill/>
          <a:ln w="14605">
            <a:solidFill>
              <a:srgbClr val="D0D5DD"/>
            </a:solidFill>
            <a:prstDash val="solid"/>
            <a:headEnd type="none"/>
            <a:tailEnd type="none"/>
          </a:ln>
        </p:spPr>
      </p:sp>
      <p:sp>
        <p:nvSpPr>
          <p:cNvPr id="32" name="Shape 29"/>
          <p:cNvSpPr/>
          <p:nvPr/>
        </p:nvSpPr>
        <p:spPr>
          <a:xfrm>
            <a:off x="4617720" y="2295144"/>
            <a:ext cx="274320" cy="0"/>
          </a:xfrm>
          <a:prstGeom prst="line">
            <a:avLst/>
          </a:prstGeom>
          <a:noFill/>
          <a:ln w="15875">
            <a:solidFill>
              <a:srgbClr val="D0D5DD"/>
            </a:solidFill>
            <a:prstDash val="solid"/>
            <a:headEnd type="none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4361688" y="3209544"/>
            <a:ext cx="256032" cy="0"/>
          </a:xfrm>
          <a:prstGeom prst="line">
            <a:avLst/>
          </a:prstGeom>
          <a:noFill/>
          <a:ln w="14605">
            <a:solidFill>
              <a:srgbClr val="D0D5DD"/>
            </a:solidFill>
            <a:prstDash val="solid"/>
            <a:headEnd type="none"/>
            <a:tailEnd type="none"/>
          </a:ln>
        </p:spPr>
      </p:sp>
      <p:sp>
        <p:nvSpPr>
          <p:cNvPr id="34" name="Shape 31"/>
          <p:cNvSpPr/>
          <p:nvPr/>
        </p:nvSpPr>
        <p:spPr>
          <a:xfrm>
            <a:off x="4617720" y="3209544"/>
            <a:ext cx="0" cy="-914400"/>
          </a:xfrm>
          <a:prstGeom prst="line">
            <a:avLst/>
          </a:prstGeom>
          <a:noFill/>
          <a:ln w="14605">
            <a:solidFill>
              <a:srgbClr val="D0D5DD"/>
            </a:solidFill>
            <a:prstDash val="solid"/>
            <a:headEnd type="none"/>
            <a:tailEnd type="none"/>
          </a:ln>
        </p:spPr>
      </p:sp>
      <p:sp>
        <p:nvSpPr>
          <p:cNvPr id="35" name="Shape 32"/>
          <p:cNvSpPr/>
          <p:nvPr/>
        </p:nvSpPr>
        <p:spPr>
          <a:xfrm>
            <a:off x="4617720" y="2295144"/>
            <a:ext cx="274320" cy="0"/>
          </a:xfrm>
          <a:prstGeom prst="line">
            <a:avLst/>
          </a:prstGeom>
          <a:noFill/>
          <a:ln w="15875">
            <a:solidFill>
              <a:srgbClr val="D0D5DD"/>
            </a:solidFill>
            <a:prstDash val="solid"/>
            <a:headEnd type="none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77840" y="2295144"/>
            <a:ext cx="256032" cy="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37" name="Shape 34"/>
          <p:cNvSpPr/>
          <p:nvPr/>
        </p:nvSpPr>
        <p:spPr>
          <a:xfrm>
            <a:off x="5833872" y="2295144"/>
            <a:ext cx="0" cy="-585216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38" name="Shape 35"/>
          <p:cNvSpPr/>
          <p:nvPr/>
        </p:nvSpPr>
        <p:spPr>
          <a:xfrm>
            <a:off x="5833872" y="1709928"/>
            <a:ext cx="338328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5577840" y="2295144"/>
            <a:ext cx="256032" cy="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0" name="Shape 37"/>
          <p:cNvSpPr/>
          <p:nvPr/>
        </p:nvSpPr>
        <p:spPr>
          <a:xfrm>
            <a:off x="5833872" y="2295144"/>
            <a:ext cx="0" cy="740664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1" name="Shape 38"/>
          <p:cNvSpPr/>
          <p:nvPr/>
        </p:nvSpPr>
        <p:spPr>
          <a:xfrm>
            <a:off x="5833872" y="3035808"/>
            <a:ext cx="338328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7772400" y="1709928"/>
            <a:ext cx="292608" cy="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3" name="Shape 40"/>
          <p:cNvSpPr/>
          <p:nvPr/>
        </p:nvSpPr>
        <p:spPr>
          <a:xfrm>
            <a:off x="8065008" y="1709928"/>
            <a:ext cx="0" cy="658368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4" name="Shape 41"/>
          <p:cNvSpPr/>
          <p:nvPr/>
        </p:nvSpPr>
        <p:spPr>
          <a:xfrm>
            <a:off x="8065008" y="2368296"/>
            <a:ext cx="347472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7772400" y="3035808"/>
            <a:ext cx="292608" cy="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6" name="Shape 43"/>
          <p:cNvSpPr/>
          <p:nvPr/>
        </p:nvSpPr>
        <p:spPr>
          <a:xfrm>
            <a:off x="8065008" y="3035808"/>
            <a:ext cx="0" cy="-667512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47" name="Shape 44"/>
          <p:cNvSpPr/>
          <p:nvPr/>
        </p:nvSpPr>
        <p:spPr>
          <a:xfrm>
            <a:off x="8065008" y="2368296"/>
            <a:ext cx="347472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48" name="Shape 45"/>
          <p:cNvSpPr/>
          <p:nvPr/>
        </p:nvSpPr>
        <p:spPr>
          <a:xfrm>
            <a:off x="10058400" y="2368296"/>
            <a:ext cx="502920" cy="0"/>
          </a:xfrm>
          <a:prstGeom prst="line">
            <a:avLst/>
          </a:prstGeom>
          <a:noFill/>
          <a:ln w="16510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2944368" y="4206240"/>
            <a:ext cx="4297680" cy="868680"/>
          </a:xfrm>
          <a:prstGeom prst="roundRect">
            <a:avLst>
              <a:gd name="adj" fmla="val 5263"/>
            </a:avLst>
          </a:prstGeom>
          <a:solidFill>
            <a:srgbClr val="11182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3054096" y="4306824"/>
            <a:ext cx="4078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93C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Selector 原始摘录</a:t>
            </a:r>
            <a:endParaRPr lang="en-US" sz="680" dirty="0"/>
          </a:p>
        </p:txBody>
      </p:sp>
      <p:sp>
        <p:nvSpPr>
          <p:cNvPr id="51" name="Text 48"/>
          <p:cNvSpPr/>
          <p:nvPr/>
        </p:nvSpPr>
        <p:spPr>
          <a:xfrm>
            <a:off x="3054096" y="4526280"/>
            <a:ext cx="4078224" cy="484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Candidate-2 has the highest semantic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and SVG quality scores (95 each),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with a strong rocket shape...</a:t>
            </a:r>
            <a:endParaRPr lang="en-US" sz="610" dirty="0"/>
          </a:p>
        </p:txBody>
      </p:sp>
      <p:sp>
        <p:nvSpPr>
          <p:cNvPr id="52" name="Shape 49"/>
          <p:cNvSpPr/>
          <p:nvPr/>
        </p:nvSpPr>
        <p:spPr>
          <a:xfrm>
            <a:off x="7543800" y="4206240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7671816" y="4315968"/>
            <a:ext cx="3493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为什么这是协同？</a:t>
            </a:r>
            <a:endParaRPr lang="en-US" sz="770" dirty="0"/>
          </a:p>
        </p:txBody>
      </p:sp>
      <p:sp>
        <p:nvSpPr>
          <p:cNvPr id="54" name="Text 51"/>
          <p:cNvSpPr/>
          <p:nvPr/>
        </p:nvSpPr>
        <p:spPr>
          <a:xfrm>
            <a:off x="7671816" y="4535424"/>
            <a:ext cx="3493008" cy="4846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三个候选不是平均投票，而是由两个 Critic 给出可记录分数和理由，再由 Selector 写出 winner rationale 与 repair brief。</a:t>
            </a:r>
            <a:endParaRPr lang="en-US" sz="710" dirty="0"/>
          </a:p>
        </p:txBody>
      </p:sp>
      <p:sp>
        <p:nvSpPr>
          <p:cNvPr id="55" name="Text 52"/>
          <p:cNvSpPr/>
          <p:nvPr/>
        </p:nvSpPr>
        <p:spPr>
          <a:xfrm>
            <a:off x="502920" y="6537960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8A2B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Icon Agent | 生成式 AI 与多 Agent SVG 图标生成</a:t>
            </a:r>
            <a:endParaRPr lang="en-US" sz="650" dirty="0"/>
          </a:p>
        </p:txBody>
      </p:sp>
      <p:sp>
        <p:nvSpPr>
          <p:cNvPr id="56" name="Text 53"/>
          <p:cNvSpPr/>
          <p:nvPr/>
        </p:nvSpPr>
        <p:spPr>
          <a:xfrm>
            <a:off x="1129284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自我修复：把失败拆成 taxonomy 和 route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 coffee 案例：baseline 70 invalid，经一轮修复到 refined 95 valid。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94360" y="1143000"/>
            <a:ext cx="1325880" cy="1508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6" name="Image 0" descr="/Users/jasonzhao/Documents/Code/CG_Agent/CG_PJ/outputs/web/1780459805-0420b72d/png/baseline/a-steaming-cup-of-coff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252728"/>
            <a:ext cx="1033272" cy="10698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22376" y="2395728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Baseline: 70 invalid</a:t>
            </a:r>
            <a:endParaRPr lang="en-US" sz="720" dirty="0"/>
          </a:p>
        </p:txBody>
      </p:sp>
      <p:sp>
        <p:nvSpPr>
          <p:cNvPr id="8" name="Shape 5"/>
          <p:cNvSpPr/>
          <p:nvPr/>
        </p:nvSpPr>
        <p:spPr>
          <a:xfrm>
            <a:off x="10241280" y="1143000"/>
            <a:ext cx="1325880" cy="1508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9" name="Image 1" descr="/Users/jasonzhao/Documents/Code/CG_Agent/CG_PJ/outputs/web/1780459805-0420b72d/png/refined/a-steaming-cup-of-coff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7584" y="1252728"/>
            <a:ext cx="1033272" cy="10698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369296" y="2395728"/>
            <a:ext cx="10698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Refined: 95 valid</a:t>
            </a:r>
            <a:endParaRPr lang="en-US" sz="720" dirty="0"/>
          </a:p>
        </p:txBody>
      </p:sp>
      <p:sp>
        <p:nvSpPr>
          <p:cNvPr id="11" name="Shape 7"/>
          <p:cNvSpPr/>
          <p:nvPr/>
        </p:nvSpPr>
        <p:spPr>
          <a:xfrm>
            <a:off x="2331720" y="1298448"/>
            <a:ext cx="1234440" cy="54864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377440" y="1380744"/>
            <a:ext cx="1143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Validator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invalid</a:t>
            </a:r>
            <a:endParaRPr lang="en-US" sz="710" dirty="0"/>
          </a:p>
        </p:txBody>
      </p:sp>
      <p:sp>
        <p:nvSpPr>
          <p:cNvPr id="13" name="Shape 9"/>
          <p:cNvSpPr/>
          <p:nvPr/>
        </p:nvSpPr>
        <p:spPr>
          <a:xfrm>
            <a:off x="4069080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114800" y="1380744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Failure Taxonomy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分类根因</a:t>
            </a:r>
            <a:endParaRPr lang="en-US" sz="710" dirty="0"/>
          </a:p>
        </p:txBody>
      </p:sp>
      <p:sp>
        <p:nvSpPr>
          <p:cNvPr id="15" name="Shape 11"/>
          <p:cNvSpPr/>
          <p:nvPr/>
        </p:nvSpPr>
        <p:spPr>
          <a:xfrm>
            <a:off x="5989320" y="1298448"/>
            <a:ext cx="1325880" cy="54864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035040" y="138074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Repair Router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选择路线</a:t>
            </a:r>
            <a:endParaRPr lang="en-US" sz="710" dirty="0"/>
          </a:p>
        </p:txBody>
      </p:sp>
      <p:sp>
        <p:nvSpPr>
          <p:cNvPr id="17" name="Shape 13"/>
          <p:cNvSpPr/>
          <p:nvPr/>
        </p:nvSpPr>
        <p:spPr>
          <a:xfrm>
            <a:off x="7818120" y="1298448"/>
            <a:ext cx="1143000" cy="548640"/>
          </a:xfrm>
          <a:prstGeom prst="roundRect">
            <a:avLst>
              <a:gd name="adj" fmla="val 1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863840" y="1380744"/>
            <a:ext cx="1051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Refiner</a:t>
            </a:r>
            <a:endParaRPr lang="en-US" sz="710" dirty="0"/>
          </a:p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完整 SVG</a:t>
            </a:r>
            <a:endParaRPr lang="en-US" sz="710" dirty="0"/>
          </a:p>
        </p:txBody>
      </p:sp>
      <p:sp>
        <p:nvSpPr>
          <p:cNvPr id="19" name="Shape 15"/>
          <p:cNvSpPr/>
          <p:nvPr/>
        </p:nvSpPr>
        <p:spPr>
          <a:xfrm>
            <a:off x="9281160" y="1298448"/>
            <a:ext cx="713232" cy="548640"/>
          </a:xfrm>
          <a:prstGeom prst="roundRect">
            <a:avLst>
              <a:gd name="adj" fmla="val 1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326880" y="1380744"/>
            <a:ext cx="621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valid</a:t>
            </a:r>
            <a:endParaRPr lang="en-US" sz="710" dirty="0"/>
          </a:p>
        </p:txBody>
      </p:sp>
      <p:sp>
        <p:nvSpPr>
          <p:cNvPr id="21" name="Shape 17"/>
          <p:cNvSpPr/>
          <p:nvPr/>
        </p:nvSpPr>
        <p:spPr>
          <a:xfrm>
            <a:off x="3566160" y="1572768"/>
            <a:ext cx="502920" cy="0"/>
          </a:xfrm>
          <a:prstGeom prst="line">
            <a:avLst/>
          </a:prstGeom>
          <a:noFill/>
          <a:ln w="16510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5486400" y="1572768"/>
            <a:ext cx="502920" cy="0"/>
          </a:xfrm>
          <a:prstGeom prst="line">
            <a:avLst/>
          </a:prstGeom>
          <a:noFill/>
          <a:ln w="16510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315200" y="1572768"/>
            <a:ext cx="502920" cy="0"/>
          </a:xfrm>
          <a:prstGeom prst="line">
            <a:avLst/>
          </a:prstGeom>
          <a:noFill/>
          <a:ln w="16510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8961120" y="1572768"/>
            <a:ext cx="320040" cy="0"/>
          </a:xfrm>
          <a:prstGeom prst="line">
            <a:avLst/>
          </a:prstGeom>
          <a:noFill/>
          <a:ln w="16510">
            <a:solidFill>
              <a:srgbClr val="16A34A"/>
            </a:solidFill>
            <a:prstDash val="solid"/>
            <a:headEnd type="none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8394192" y="1847088"/>
            <a:ext cx="0" cy="82296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26" name="Shape 22"/>
          <p:cNvSpPr/>
          <p:nvPr/>
        </p:nvSpPr>
        <p:spPr>
          <a:xfrm>
            <a:off x="8394192" y="2670048"/>
            <a:ext cx="-5449824" cy="0"/>
          </a:xfrm>
          <a:prstGeom prst="line">
            <a:avLst/>
          </a:prstGeom>
          <a:noFill/>
          <a:ln w="14605">
            <a:solidFill>
              <a:srgbClr val="F97316"/>
            </a:solidFill>
            <a:prstDash val="solid"/>
            <a:headEnd type="none"/>
            <a:tailEnd type="none"/>
          </a:ln>
        </p:spPr>
      </p:sp>
      <p:sp>
        <p:nvSpPr>
          <p:cNvPr id="27" name="Shape 23"/>
          <p:cNvSpPr/>
          <p:nvPr/>
        </p:nvSpPr>
        <p:spPr>
          <a:xfrm>
            <a:off x="2944368" y="2670048"/>
            <a:ext cx="0" cy="-82296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headEnd type="none"/>
            <a:tailEnd type="triangle"/>
          </a:ln>
        </p:spPr>
      </p:sp>
      <p:sp>
        <p:nvSpPr>
          <p:cNvPr id="28" name="Text 24"/>
          <p:cNvSpPr/>
          <p:nvPr/>
        </p:nvSpPr>
        <p:spPr>
          <a:xfrm>
            <a:off x="5120640" y="248716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re-validate</a:t>
            </a:r>
            <a:endParaRPr lang="en-US" sz="700" dirty="0"/>
          </a:p>
        </p:txBody>
      </p:sp>
      <p:sp>
        <p:nvSpPr>
          <p:cNvPr id="29" name="Shape 25"/>
          <p:cNvSpPr/>
          <p:nvPr/>
        </p:nvSpPr>
        <p:spPr>
          <a:xfrm>
            <a:off x="868680" y="32461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111827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78408" y="3346704"/>
            <a:ext cx="3163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93C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failure_taxonomy.json 摘录</a:t>
            </a:r>
            <a:endParaRPr lang="en-US" sz="680" dirty="0"/>
          </a:p>
        </p:txBody>
      </p:sp>
      <p:sp>
        <p:nvSpPr>
          <p:cNvPr id="31" name="Text 27"/>
          <p:cNvSpPr/>
          <p:nvPr/>
        </p:nvSpPr>
        <p:spPr>
          <a:xfrm>
            <a:off x="978408" y="3566160"/>
            <a:ext cx="3163824" cy="8503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failure_types: [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"semantic_mismatch",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"constraint_violation"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root_cause: blue cup != coffee palette</a:t>
            </a:r>
            <a:endParaRPr lang="en-US" sz="610" dirty="0"/>
          </a:p>
        </p:txBody>
      </p:sp>
      <p:sp>
        <p:nvSpPr>
          <p:cNvPr id="32" name="Shape 28"/>
          <p:cNvSpPr/>
          <p:nvPr/>
        </p:nvSpPr>
        <p:spPr>
          <a:xfrm>
            <a:off x="4526280" y="3246120"/>
            <a:ext cx="3383280" cy="1234440"/>
          </a:xfrm>
          <a:prstGeom prst="roundRect">
            <a:avLst>
              <a:gd name="adj" fmla="val 3704"/>
            </a:avLst>
          </a:prstGeom>
          <a:solidFill>
            <a:srgbClr val="111827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636008" y="3346704"/>
            <a:ext cx="3163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93C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repair_routes.json 摘录</a:t>
            </a:r>
            <a:endParaRPr lang="en-US" sz="680" dirty="0"/>
          </a:p>
        </p:txBody>
      </p:sp>
      <p:sp>
        <p:nvSpPr>
          <p:cNvPr id="34" name="Text 30"/>
          <p:cNvSpPr/>
          <p:nvPr/>
        </p:nvSpPr>
        <p:spPr>
          <a:xfrm>
            <a:off x="4636008" y="3566160"/>
            <a:ext cx="3163824" cy="8503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route: "semantic_recompose"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ordered_actions: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replace #4a90d9 -&gt; #6F4E37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remove opacity from steam lines</a:t>
            </a:r>
            <a:endParaRPr lang="en-US" sz="610" dirty="0"/>
          </a:p>
        </p:txBody>
      </p:sp>
      <p:sp>
        <p:nvSpPr>
          <p:cNvPr id="35" name="Shape 31"/>
          <p:cNvSpPr/>
          <p:nvPr/>
        </p:nvSpPr>
        <p:spPr>
          <a:xfrm>
            <a:off x="8183880" y="3246120"/>
            <a:ext cx="2971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8183880" y="3246120"/>
            <a:ext cx="73152" cy="12344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385048" y="341071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Result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8385048" y="3721608"/>
            <a:ext cx="2651760" cy="6675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 repair round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baseline_valid 0 -&gt; refined_valid 1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score 70 -&gt; 95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完整 SVG 重新导出 PNG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914400" y="4983480"/>
            <a:ext cx="10241280" cy="502920"/>
          </a:xfrm>
          <a:prstGeom prst="roundRect">
            <a:avLst>
              <a:gd name="adj" fmla="val 10909"/>
            </a:avLst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1042416" y="5093208"/>
            <a:ext cx="9985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b="1" dirty="0">
                <a:solidFill>
                  <a:srgbClr val="2563E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日志证据说明</a:t>
            </a:r>
            <a:endParaRPr lang="en-US" sz="770" dirty="0"/>
          </a:p>
        </p:txBody>
      </p:sp>
      <p:sp>
        <p:nvSpPr>
          <p:cNvPr id="41" name="Text 37"/>
          <p:cNvSpPr/>
          <p:nvPr/>
        </p:nvSpPr>
        <p:spPr>
          <a:xfrm>
            <a:off x="1042416" y="5312664"/>
            <a:ext cx="9985248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710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这些片段来自脱敏后的 failure_taxonomy.json 与 repair_routes.json；完整模型调用、usage 和响应保存在 llm_raw_responses.jsonl / llm_trace.json。</a:t>
            </a:r>
            <a:endParaRPr lang="en-US" sz="710" dirty="0"/>
          </a:p>
        </p:txBody>
      </p:sp>
      <p:sp>
        <p:nvSpPr>
          <p:cNvPr id="42" name="Text 38"/>
          <p:cNvSpPr/>
          <p:nvPr/>
        </p:nvSpPr>
        <p:spPr>
          <a:xfrm>
            <a:off x="502920" y="6537960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8A2B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Icon Agent | 生成式 AI 与多 Agent SVG 图标生成</a:t>
            </a:r>
            <a:endParaRPr lang="en-US" sz="650" dirty="0"/>
          </a:p>
        </p:txBody>
      </p:sp>
      <p:sp>
        <p:nvSpPr>
          <p:cNvPr id="43" name="Text 39"/>
          <p:cNvSpPr/>
          <p:nvPr/>
        </p:nvSpPr>
        <p:spPr>
          <a:xfrm>
            <a:off x="1129284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目标管理与记忆：让系统从历史经验中生成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RAG 记忆来自本地历史 runs，不使用外部数据集，也不保存 API key。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22960" y="1143000"/>
            <a:ext cx="315468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143000"/>
            <a:ext cx="73152" cy="27889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3075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GenerationGoal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24128" y="1618488"/>
            <a:ext cx="2834640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objective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visual_requirements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constraints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acceptance_criteria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style_preferences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avoid_patterns</a:t>
            </a:r>
            <a:endParaRPr lang="en-US" sz="820" dirty="0"/>
          </a:p>
          <a:p>
            <a:pPr indent="0" marL="0">
              <a:buNone/>
            </a:pP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作用：把“好图标”变成可验证标准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4526280" y="1143000"/>
            <a:ext cx="315468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1143000"/>
            <a:ext cx="73152" cy="2788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13075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Memory Retrieval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27448" y="1618488"/>
            <a:ext cx="2834640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检索相似历史 runs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读取 success_patterns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读取 failure_patterns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读取 user_feedback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返回 top-k snippets</a:t>
            </a:r>
            <a:endParaRPr lang="en-US" sz="820" dirty="0"/>
          </a:p>
          <a:p>
            <a:pPr indent="0" marL="0">
              <a:buNone/>
            </a:pP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作用：让新 prompt 继承历史经验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8229600" y="1143000"/>
            <a:ext cx="315468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1143000"/>
            <a:ext cx="73152" cy="27889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30768" y="13075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Memory Curator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430768" y="1618488"/>
            <a:ext cx="2834640" cy="22219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run 结束后总结经验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保存可复用设计策略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保存失败模式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记录 score / tags</a:t>
            </a:r>
            <a:endParaRPr lang="en-US" sz="820" dirty="0"/>
          </a:p>
          <a:p>
            <a:pPr indent="0" marL="0">
              <a:buNone/>
            </a:pP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作用：形成轻量长期记忆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914400" y="4224528"/>
            <a:ext cx="4937760" cy="822960"/>
          </a:xfrm>
          <a:prstGeom prst="roundRect">
            <a:avLst>
              <a:gd name="adj" fmla="val 5556"/>
            </a:avLst>
          </a:prstGeom>
          <a:solidFill>
            <a:srgbClr val="111827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325112"/>
            <a:ext cx="4718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93C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GenerationGoal 摘录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1024128" y="4544568"/>
            <a:ext cx="4718304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objective: 256x256 rocket launch icon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acceptance: centered rocket, layered flame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avoid: static-uniform flame shapes</a:t>
            </a:r>
            <a:endParaRPr lang="en-US" sz="610" dirty="0"/>
          </a:p>
        </p:txBody>
      </p:sp>
      <p:sp>
        <p:nvSpPr>
          <p:cNvPr id="20" name="Shape 18"/>
          <p:cNvSpPr/>
          <p:nvPr/>
        </p:nvSpPr>
        <p:spPr>
          <a:xfrm>
            <a:off x="6172200" y="4224528"/>
            <a:ext cx="4937760" cy="822960"/>
          </a:xfrm>
          <a:prstGeom prst="roundRect">
            <a:avLst>
              <a:gd name="adj" fmla="val 5556"/>
            </a:avLst>
          </a:prstGeom>
          <a:solidFill>
            <a:srgbClr val="111827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81928" y="4325112"/>
            <a:ext cx="4718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93C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Memory 摘录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281928" y="4544568"/>
            <a:ext cx="4718304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success_patterns: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centered-upright-rocket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layered-sweeping-flame-curves</a:t>
            </a:r>
            <a:endParaRPr lang="en-US" sz="610" dirty="0"/>
          </a:p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user_feedback: simplify-window</a:t>
            </a:r>
            <a:endParaRPr lang="en-US" sz="610" dirty="0"/>
          </a:p>
        </p:txBody>
      </p:sp>
      <p:sp>
        <p:nvSpPr>
          <p:cNvPr id="23" name="Text 21"/>
          <p:cNvSpPr/>
          <p:nvPr/>
        </p:nvSpPr>
        <p:spPr>
          <a:xfrm>
            <a:off x="1188720" y="5559552"/>
            <a:ext cx="9784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例：rocket 相关记忆会提醒“居中火箭 + 分层扫掠火焰 + 简化圆形窗口”。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6537960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8A2B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Icon Agent | 生成式 AI 与多 Agent SVG 图标生成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29284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实验结果：报告快照中的 Web UI 运行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 个主要 Web run：12 candidates，4 selected winners，final validity 100%。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85800" y="1143000"/>
            <a:ext cx="1234440" cy="138988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6" name="Image 0" descr="/Users/jasonzhao/Documents/Code/CG_Agent/CG_PJ/outputs/web/1780456947-99997024/png/refined/a-minimal-rocket-launch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" y="1252728"/>
            <a:ext cx="941832" cy="9509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" y="2276856"/>
            <a:ext cx="97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Rocket 95</a:t>
            </a:r>
            <a:endParaRPr lang="en-US" sz="720" dirty="0"/>
          </a:p>
        </p:txBody>
      </p:sp>
      <p:sp>
        <p:nvSpPr>
          <p:cNvPr id="8" name="Shape 5"/>
          <p:cNvSpPr/>
          <p:nvPr/>
        </p:nvSpPr>
        <p:spPr>
          <a:xfrm>
            <a:off x="2057400" y="1143000"/>
            <a:ext cx="1234440" cy="138988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9" name="Image 1" descr="/Users/jasonzhao/Documents/Code/CG_Agent/CG_PJ/outputs/web/1780457165-766f9cd2/png/refined/a-minimal-white-rocket-lau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52728"/>
            <a:ext cx="941832" cy="9509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185416" y="2276856"/>
            <a:ext cx="97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White rocket 100</a:t>
            </a:r>
            <a:endParaRPr lang="en-US" sz="720" dirty="0"/>
          </a:p>
        </p:txBody>
      </p:sp>
      <p:sp>
        <p:nvSpPr>
          <p:cNvPr id="11" name="Shape 7"/>
          <p:cNvSpPr/>
          <p:nvPr/>
        </p:nvSpPr>
        <p:spPr>
          <a:xfrm>
            <a:off x="3429000" y="1143000"/>
            <a:ext cx="1234440" cy="138988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12" name="Image 2" descr="/Users/jasonzhao/Documents/Code/CG_Agent/CG_PJ/outputs/web/1780457342-7e0b912c/png/refined/a-cute-gray-cat-smil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5304" y="1252728"/>
            <a:ext cx="941832" cy="95097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57016" y="2276856"/>
            <a:ext cx="97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Cat 100</a:t>
            </a:r>
            <a:endParaRPr lang="en-US" sz="720" dirty="0"/>
          </a:p>
        </p:txBody>
      </p:sp>
      <p:sp>
        <p:nvSpPr>
          <p:cNvPr id="14" name="Shape 9"/>
          <p:cNvSpPr/>
          <p:nvPr/>
        </p:nvSpPr>
        <p:spPr>
          <a:xfrm>
            <a:off x="4800600" y="1143000"/>
            <a:ext cx="1234440" cy="1389888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pic>
        <p:nvPicPr>
          <p:cNvPr id="15" name="Image 3" descr="/Users/jasonzhao/Documents/Code/CG_Agent/CG_PJ/outputs/web/1780459805-0420b72d/png/refined/a-steaming-cup-of-coffe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904" y="1252728"/>
            <a:ext cx="941832" cy="95097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28616" y="2276856"/>
            <a:ext cx="9784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Coffee 95</a:t>
            </a:r>
            <a:endParaRPr lang="en-US" sz="720" dirty="0"/>
          </a:p>
        </p:txBody>
      </p:sp>
      <p:sp>
        <p:nvSpPr>
          <p:cNvPr id="17" name="Shape 11"/>
          <p:cNvSpPr/>
          <p:nvPr/>
        </p:nvSpPr>
        <p:spPr>
          <a:xfrm>
            <a:off x="6537960" y="1078992"/>
            <a:ext cx="48006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537960" y="1078992"/>
            <a:ext cx="73152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739128" y="1243584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主结果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6739128" y="1554480"/>
            <a:ext cx="4480560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Baseline valid: 3 / 4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Refined valid: 4 / 4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Average score: 91.25 -&gt; 97.50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Max repair rounds: 1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Final validity: 100%</a:t>
            </a:r>
            <a:endParaRPr lang="en-US" sz="820" dirty="0"/>
          </a:p>
        </p:txBody>
      </p:sp>
      <p:sp>
        <p:nvSpPr>
          <p:cNvPr id="21" name="Shape 15"/>
          <p:cNvSpPr/>
          <p:nvPr/>
        </p:nvSpPr>
        <p:spPr>
          <a:xfrm>
            <a:off x="777240" y="3246120"/>
            <a:ext cx="31546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777240" y="3246120"/>
            <a:ext cx="73152" cy="15727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78408" y="3410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候选生成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978408" y="3721608"/>
            <a:ext cx="283464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 prompt 生成 3 个候选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共 12 个 candidate SVG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Selector 选出 4 个 winner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 winner 都有 rationale</a:t>
            </a:r>
            <a:endParaRPr lang="en-US" sz="820" dirty="0"/>
          </a:p>
        </p:txBody>
      </p:sp>
      <p:sp>
        <p:nvSpPr>
          <p:cNvPr id="25" name="Shape 19"/>
          <p:cNvSpPr/>
          <p:nvPr/>
        </p:nvSpPr>
        <p:spPr>
          <a:xfrm>
            <a:off x="4526280" y="3246120"/>
            <a:ext cx="31546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526280" y="3246120"/>
            <a:ext cx="73152" cy="157276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27448" y="3410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修复收益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4727448" y="3721608"/>
            <a:ext cx="283464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Coffee case: 70 -&gt; 95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后续 dog case: 65 -&gt; 100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Cloud 多轮 repair 提升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说明 repair loop 能处理真实失败</a:t>
            </a:r>
            <a:endParaRPr lang="en-US" sz="820" dirty="0"/>
          </a:p>
        </p:txBody>
      </p:sp>
      <p:sp>
        <p:nvSpPr>
          <p:cNvPr id="29" name="Shape 23"/>
          <p:cNvSpPr/>
          <p:nvPr/>
        </p:nvSpPr>
        <p:spPr>
          <a:xfrm>
            <a:off x="8275320" y="3246120"/>
            <a:ext cx="27432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275320" y="3246120"/>
            <a:ext cx="73152" cy="15727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8476488" y="341071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可展示性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8476488" y="3721608"/>
            <a:ext cx="242316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/ PNG / gallery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llm_trace.json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llm_raw_responses.jsonl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DAG runtime states</a:t>
            </a:r>
            <a:endParaRPr lang="en-US" sz="820" dirty="0"/>
          </a:p>
        </p:txBody>
      </p:sp>
      <p:sp>
        <p:nvSpPr>
          <p:cNvPr id="33" name="Shape 27"/>
          <p:cNvSpPr/>
          <p:nvPr/>
        </p:nvSpPr>
        <p:spPr>
          <a:xfrm>
            <a:off x="960120" y="5074920"/>
            <a:ext cx="10241280" cy="438912"/>
          </a:xfrm>
          <a:prstGeom prst="roundRect">
            <a:avLst>
              <a:gd name="adj" fmla="val 10417"/>
            </a:avLst>
          </a:prstGeom>
          <a:solidFill>
            <a:srgbClr val="111827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1069848" y="5175504"/>
            <a:ext cx="100218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93C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统计口径</a:t>
            </a:r>
            <a:endParaRPr lang="en-US" sz="680" dirty="0"/>
          </a:p>
        </p:txBody>
      </p:sp>
      <p:sp>
        <p:nvSpPr>
          <p:cNvPr id="35" name="Text 29"/>
          <p:cNvSpPr/>
          <p:nvPr/>
        </p:nvSpPr>
        <p:spPr>
          <a:xfrm>
            <a:off x="1069848" y="5394960"/>
            <a:ext cx="10021824" cy="548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indent="0" marL="0">
              <a:buNone/>
            </a:pPr>
            <a:r>
              <a:rPr lang="en-US" sz="610" dirty="0">
                <a:solidFill>
                  <a:srgbClr val="F9FA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Report snapshot = 4 main Web runs; later outputs/web runs are used only as demo evidence, not mixed into the formal aggregate.</a:t>
            </a:r>
            <a:endParaRPr lang="en-US" sz="610" dirty="0"/>
          </a:p>
        </p:txBody>
      </p:sp>
      <p:sp>
        <p:nvSpPr>
          <p:cNvPr id="36" name="Text 30"/>
          <p:cNvSpPr/>
          <p:nvPr/>
        </p:nvSpPr>
        <p:spPr>
          <a:xfrm>
            <a:off x="914400" y="5504688"/>
            <a:ext cx="10332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说明：正式统计采用报告中的 4-run 快照；后续 outputs/web 中还有更多运行，可作为 demo 素材。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502920" y="6537960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8A2B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Icon Agent | 生成式 AI 与多 Agent SVG 图标生成</a:t>
            </a:r>
            <a:endParaRPr lang="en-US" sz="650" dirty="0"/>
          </a:p>
        </p:txBody>
      </p:sp>
      <p:sp>
        <p:nvSpPr>
          <p:cNvPr id="38" name="Text 32"/>
          <p:cNvSpPr/>
          <p:nvPr/>
        </p:nvSpPr>
        <p:spPr>
          <a:xfrm>
            <a:off x="1129284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总结：可编辑图形 + 可解释 Agent 协作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21208" y="7498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项目价值不只是生成图标，而是把生成、评价、修复、记忆做成可追踪系统。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777240" y="1143000"/>
            <a:ext cx="3337560" cy="374904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143000"/>
            <a:ext cx="73152" cy="37490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130759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创新点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78408" y="1618488"/>
            <a:ext cx="3017520" cy="3182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LLM-backed Agent DAG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多候选竞争 + 双 Critic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Failure taxonomy + Repair router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本地历史 RAG memory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Web runtime 可视化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脱敏 raw response 支持 debug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4434840" y="1143000"/>
            <a:ext cx="3337560" cy="374904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143000"/>
            <a:ext cx="73152" cy="37490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130759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局限性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36008" y="1618488"/>
            <a:ext cx="3017520" cy="3182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免费模型速度和稳定性有限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SVG renderer 支持实用子集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视觉质量评价仍偏规则化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实验规模还可以扩大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raw LLM 输出偶尔 malformed，需要 retry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8092440" y="1143000"/>
            <a:ext cx="3337560" cy="374904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EAEC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1143000"/>
            <a:ext cx="73152" cy="3749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130759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93608" y="1618488"/>
            <a:ext cx="3017520" cy="3182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更大 prompt set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人类偏好评价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更强 perceptual critic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消融实验：single vs collaborative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更细的 SVG grammar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66708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• 对 failure route 做量化评估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1005840" y="548640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20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Takeaway: 这是一个面向 SVG 图标生成的“LLM Agent 协作 + 规则工具保底 + 记忆自改进”系统。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02920" y="6537960"/>
            <a:ext cx="5852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98A2B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SVG Icon Agent | 生成式 AI 与多 Agent SVG 图标生成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292840" y="64922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8A2B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Fudan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SVG Icon Agent: 多 Agent 协同的可编辑 SVG 图标生成</dc:title>
  <dc:subject>SVG Icon Agent Chinese demo deck</dc:subject>
  <dc:creator>Zhao Guanjie</dc:creator>
  <cp:lastModifiedBy>Zhao Guanjie</cp:lastModifiedBy>
  <cp:revision>1</cp:revision>
  <dcterms:created xsi:type="dcterms:W3CDTF">2026-06-06T07:09:26Z</dcterms:created>
  <dcterms:modified xsi:type="dcterms:W3CDTF">2026-06-06T07:09:26Z</dcterms:modified>
</cp:coreProperties>
</file>
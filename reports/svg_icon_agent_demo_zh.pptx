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大家好，我汇报的项目是 SVG Icon Agent。它不是普通的文生图项目，而是把短文本描述转成可编辑的 SVG 图标。项目重点放在生成式 AI 和多 Agent 协作：每个命名为 Agent 的组件都调用大模型，本地代码只负责检查、渲染、导出和日志。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这个项目的动机是：图标生成不只是生成一张好看的图片。对于计算机图形来说，我更希望输出本身是结构化的、可编辑的、可检查的。SVG 正好符合这个目标。相比直接让模型画图，这里把生成拆成多个 Agent：有人负责目标，有人负责规划，有人生成多个候选，有人评价，有人修复。这样可以展示一个完整的生成式 AI 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系统目标是输入一句英文描述，输出一套完整的图标生成产物。除了 SVG 本身，还会导出 PNG 预览、HTML gallery、metrics、trace 和 raw response。这样答辩时不只是展示最后图片，也可以展示模型到底做了什么、哪个 Agent 参与了、失败是怎么被修复的。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这是系统最核心的一页。这里不是完全线性的流程，而是一个 DAG。前半部分从 memory、goal、rewrite、plan 到 candidate generation。生成多个候选之后，Semantic Critic 和 SVG Quality Critic 从两个角度并行评价，再由 Consensus Selector 汇总。右侧的 Validator 如果发现问题，会触发 Failure Taxonomy、Repair Router 和 Refiner，再回到 Validator。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这一页解释为什么叫多 Agent。每个 Agent 的职责都很窄，比如 Goal Manager 只负责把目标和验收标准写清楚，Critic 只负责评价，Router 只负责把问题转成修复策略。这里我特别区分 Agent 和 Tool：Agent 必须调用大模型；本地 XML 检查和 PNG 导出只是工具。这样项目主体仍然是生成式 AI，而不是本地规则模板。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协同生成这一页用 rocket run 举例。模型先生成三个候选，三个候选都通过了本地工具检查，但语义和 SVG 质量分不同。Semantic Critic 更喜欢 candidate 2，SVG Quality Critic 更喜欢 candidate 3。Selector 最后选择 candidate 2，因为它在 prompt 对齐、动态火焰和小尺寸可读性上最平衡。这个过程让选择有理由，而不是随机取第一张。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自我修复机制用 coffee 案例说明。优化后的 baseline 因为颜色不符合计划，被 Validator 判为 invalid，分数 70。Failure Taxonomy 把问题归类为 semantic mismatch 和 constraint violation，Repair Router 选择 semantic recompose 路线，要求把蓝色杯体替换回咖啡色 palette，并去掉 opacity。Refiner 根据这个 brief 返回完整 SVG，最后验证分数提升到 95。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这一页是目标管理和记忆。Goal Manager 把 prompt 变成显式目标和验收标准，避免模型只凭一句话自由发挥。Memory Retrieval 从本地历史运行中找相似案例，比如 rocket prompt 会检索到以前的成功经验：火箭要居中，火焰要分层扫掠，窗口最好简化成单个圆。Memory Curator 在每次运行结束后再把经验写回 memory index。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实验结果按报告快照统计。四个主要 Web run 一共生成十二个候选 SVG，选出四个 winner。优化后的 baseline 中三分之四有效，经过修复后的 refined 四分之四有效，平均分从 91.25 提升到 97.50。其中 coffee 是主要修复案例，后续 dog 和 cloud 运行也显示修复循环能继续发挥作用。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最后总结一下。这个项目的核心创新是把 SVG 图标生成拆成一个可解释的多 Agent 系统：有目标管理，有候选竞争，有双 Critic，有修复路线，也有本地记忆。局限是目前模型速度、稳定性和实验规模还有限，视觉评价也还有提升空间。后续可以做更完整的 ablation 和人类偏好评价。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SVG Icon Agent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4447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 协同的可编辑 SVG 图标生成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019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生成式 AI 实践 · Computer Graphics Project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46430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Agents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95728" y="239572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46430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Editable SVG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059936" y="239572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246430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Memory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724144" y="239572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46430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Self-Repair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53766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Zhao Guanjie 23307130127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56875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Code: https://github.com/fwar1nben/CG_PJ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406640" y="91440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17" name="Image 0" descr="/Users/jasonzhao/Documents/Code/CG_Agent/CG_PJ/outputs/web/1780456947-99997024/png/refined/a-minimal-rocket-laun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1024128"/>
            <a:ext cx="1307592" cy="12527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34656" y="23500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Rocket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9235440" y="91440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20" name="Image 1" descr="/Users/jasonzhao/Documents/Code/CG_Agent/CG_PJ/outputs/web/1780457342-7e0b912c/png/refined/a-cute-gray-cat-smi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4" y="1024128"/>
            <a:ext cx="1307592" cy="12527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363456" y="23500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7406640" y="297180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23" name="Image 2" descr="/Users/jasonzhao/Documents/Code/CG_Agent/CG_PJ/outputs/web/1780459805-0420b72d/png/refined/a-steaming-cup-of-coff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3081528"/>
            <a:ext cx="1307592" cy="12527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534656" y="44074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Coffee</a:t>
            </a:r>
            <a:endParaRPr lang="en-US" sz="720" dirty="0"/>
          </a:p>
        </p:txBody>
      </p:sp>
      <p:sp>
        <p:nvSpPr>
          <p:cNvPr id="25" name="Shape 20"/>
          <p:cNvSpPr/>
          <p:nvPr/>
        </p:nvSpPr>
        <p:spPr>
          <a:xfrm>
            <a:off x="9235440" y="297180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26" name="Image 3" descr="/Users/jasonzhao/Documents/Code/CG_Agent/CG_PJ/outputs/web/1780719731-76e64787/png/refined/a-clean-line-icon-o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3081528"/>
            <a:ext cx="1307592" cy="12527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63456" y="44074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Cloud</a:t>
            </a:r>
            <a:endParaRPr lang="en-US" sz="720" dirty="0"/>
          </a:p>
        </p:txBody>
      </p:sp>
      <p:sp>
        <p:nvSpPr>
          <p:cNvPr id="28" name="Text 22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问题与动机：图标不是只要“好看”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普通文生图给的是像素图，课程项目更适合展示可检查、可编辑、可修复的图形生成流程。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73152" cy="4069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普通文生图的限制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" y="1773936"/>
            <a:ext cx="29260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输出通常是 raster image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结构不可编辑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很难做安全检查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失败原因不可追踪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不适合展示图形规则约束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434840" y="1298448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98448"/>
            <a:ext cx="73152" cy="4069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 SVG 的原因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36008" y="1773936"/>
            <a:ext cx="29260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XML + 矢量 primitives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可缩放、可编辑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可检查 viewBox / 标签 / 属性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可转 PNG 预览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适合 UI icon 场景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183880" y="1298448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298448"/>
            <a:ext cx="73152" cy="4069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化的价值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85048" y="1773936"/>
            <a:ext cx="29260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把创意生成拆成多个职责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多候选 + 多角度 critique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显式 diagnosis 和 repair route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运行过程可视化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结果与失败都可复盘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项目目标：从一句描述到一套可追踪产物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输入英文 prompt，输出 SVG、PNG、gallery、metrics 和完整 LLM trace。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"A steaming cup of coffee"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40680" y="138988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472184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4937760" y="1664208"/>
            <a:ext cx="475488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39712" y="1664208"/>
            <a:ext cx="566928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79792" y="1097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9792" y="109728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2618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Outputs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0" y="1572768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selected SVG / baseline SVG / refined SVG / PNG previews / gallery / metrics / trace / raw responses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1463040" cy="1600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16" name="Image 0" descr="/Users/jasonzhao/Documents/Code/CG_Agent/CG_PJ/outputs/web/1780459805-0420b72d/png/baseline/a-steaming-cup-of-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852928"/>
            <a:ext cx="1170432" cy="11612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42416" y="408736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Baseline: 70 invalid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2743200" y="2743200"/>
            <a:ext cx="1463040" cy="1600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19" name="Image 1" descr="/Users/jasonzhao/Documents/Code/CG_Agent/CG_PJ/outputs/web/1780459805-0420b72d/png/refined/a-steaming-cup-of-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2852928"/>
            <a:ext cx="1170432" cy="11612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71216" y="408736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Refined: 95 valid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800600" y="274320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00600" y="274320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01768" y="2907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UI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01768" y="3218688"/>
            <a:ext cx="24231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prompt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预览 SVG / PNG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 DAG 当前节点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展开 raw LLM response</a:t>
            </a:r>
            <a:endParaRPr lang="en-US" sz="820" dirty="0"/>
          </a:p>
        </p:txBody>
      </p:sp>
      <p:sp>
        <p:nvSpPr>
          <p:cNvPr id="25" name="Shape 21"/>
          <p:cNvSpPr/>
          <p:nvPr/>
        </p:nvSpPr>
        <p:spPr>
          <a:xfrm>
            <a:off x="7955280" y="274320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955280" y="2743200"/>
            <a:ext cx="73152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56448" y="2907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156448" y="3218688"/>
            <a:ext cx="24231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 prompts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手动 --text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case-id 筛选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可调模型、tokens、repair rounds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960120" y="4892040"/>
            <a:ext cx="10241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 Agent 使用 LLM，不再用本地模板冒充生成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本地工具只做机械检查、渲染和文件导出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失败时记录原因，不静默切回规则 fallback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总体架构：不是线性流水线，而是 Agent DAG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候选生成和双 Critic 存在并行关系；Repair 分支是条件触发。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169164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Goal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Manager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297180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Rewriter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425196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Planner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5532120" y="27432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25496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Candidate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Generators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7086600" y="201168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093976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Semantic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Critic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557016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Quality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Critic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854964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Consensus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Selector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982980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82549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Optimizer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11018520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2825496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Validator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8549640" y="4663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474573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Failure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Taxonomy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9829800" y="4663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474573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Repair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Router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11018520" y="46634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0" y="4745736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Refiner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10149840" y="10972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95560" y="1179576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Exporter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11475720" y="109728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521440" y="1179576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Curator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1463040" y="2994660"/>
            <a:ext cx="22860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43200" y="2994660"/>
            <a:ext cx="22860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23360" y="2994660"/>
            <a:ext cx="22860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03520" y="2994660"/>
            <a:ext cx="22860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720840" y="2994660"/>
            <a:ext cx="365760" cy="-73152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720840" y="2994660"/>
            <a:ext cx="365760" cy="73152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183880" y="2263140"/>
            <a:ext cx="365760" cy="73152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83880" y="3726180"/>
            <a:ext cx="365760" cy="-73152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01200" y="2994660"/>
            <a:ext cx="22860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881360" y="2994660"/>
            <a:ext cx="13716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1475720" y="2743200"/>
            <a:ext cx="-1874520" cy="192024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01200" y="4914900"/>
            <a:ext cx="22860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881360" y="4914900"/>
            <a:ext cx="13716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1448288" y="4663440"/>
            <a:ext cx="0" cy="-141732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1475720" y="2743200"/>
            <a:ext cx="-411480" cy="-114300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1155680" y="1348740"/>
            <a:ext cx="32004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77240" y="11704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" y="1239012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蓝色 = LLM Agent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514600" y="11704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87752" y="1239012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绿色 = 本地工具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251960" y="1170432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5112" y="1239012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橙色 = 修复/评价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77240" y="580644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前端会把同一张 DAG 按 waiting / active / done / skipped / error 高亮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 Agent 职责：把大任务拆成可解释的小任务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Agent 负责一个语义明确的判断或生成动作。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4206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目标与上下文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" y="1709928"/>
            <a:ext cx="210312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Goal Manager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Rewriter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Curator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把用户输入、历史记忆和验收标准显式化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234440"/>
            <a:ext cx="73152" cy="4206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图标生成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21608" y="1709928"/>
            <a:ext cx="210312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Planner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Multi-Candidate Generator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从意图到结构化 icon plan，再生成多个 SVG draft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234440"/>
            <a:ext cx="73152" cy="4206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评价与选择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56248" y="1709928"/>
            <a:ext cx="210312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Semantic Critic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Quality Critic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Consensus Selector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分别看语义、SVG 质量，再给出 winner 和 repair brief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89720" y="123444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234440"/>
            <a:ext cx="73152" cy="4206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优化与修复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90888" y="1709928"/>
            <a:ext cx="210312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Optimizer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Validator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Failure Taxonomy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Repair Router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Refiner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把反馈转化为完整 SVG 修改，并形成可审计修复路线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60120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关键边界：Agent = 调用 LLM；Tool = 本地确定性检查/渲染/导出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协同生成：多候选 + 双 Critic + 共识选择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 prompt 不只生成一个 SVG，而是让模型团队先竞争再优化。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1325880" cy="1463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6" name="Image 0" descr="/Users/jasonzhao/Documents/Code/CG_Agent/CG_PJ/outputs/web/1780456947-99997024/png/refined/a-minimal-rocket-laun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252728"/>
            <a:ext cx="1033272" cy="1024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2350008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9436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rocket launch icon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834640" y="11430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1225296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Candidate 1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100</a:t>
            </a:r>
            <a:endParaRPr lang="en-US" sz="710" dirty="0"/>
          </a:p>
        </p:txBody>
      </p:sp>
      <p:sp>
        <p:nvSpPr>
          <p:cNvPr id="11" name="Shape 8"/>
          <p:cNvSpPr/>
          <p:nvPr/>
        </p:nvSpPr>
        <p:spPr>
          <a:xfrm>
            <a:off x="2834640" y="214884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2231136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Candidate 2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100</a:t>
            </a:r>
            <a:endParaRPr lang="en-US" sz="710" dirty="0"/>
          </a:p>
        </p:txBody>
      </p:sp>
      <p:sp>
        <p:nvSpPr>
          <p:cNvPr id="13" name="Shape 10"/>
          <p:cNvSpPr/>
          <p:nvPr/>
        </p:nvSpPr>
        <p:spPr>
          <a:xfrm>
            <a:off x="283464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80360" y="3236976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Candidate 3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100</a:t>
            </a:r>
            <a:endParaRPr lang="en-US" sz="710" dirty="0"/>
          </a:p>
        </p:txBody>
      </p:sp>
      <p:sp>
        <p:nvSpPr>
          <p:cNvPr id="15" name="Shape 12"/>
          <p:cNvSpPr/>
          <p:nvPr/>
        </p:nvSpPr>
        <p:spPr>
          <a:xfrm>
            <a:off x="5212080" y="1508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1591056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Semantic Critic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 / 92 / 70</a:t>
            </a:r>
            <a:endParaRPr lang="en-US" sz="710" dirty="0"/>
          </a:p>
        </p:txBody>
      </p:sp>
      <p:sp>
        <p:nvSpPr>
          <p:cNvPr id="17" name="Shape 14"/>
          <p:cNvSpPr/>
          <p:nvPr/>
        </p:nvSpPr>
        <p:spPr>
          <a:xfrm>
            <a:off x="5212080" y="278892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2871216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Quality Critic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 / 88 / 95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635240" y="214884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223113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Consensus Selector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Winner: Candidate 2</a:t>
            </a:r>
            <a:endParaRPr lang="en-US" sz="710" dirty="0"/>
          </a:p>
        </p:txBody>
      </p:sp>
      <p:sp>
        <p:nvSpPr>
          <p:cNvPr id="21" name="Shape 18"/>
          <p:cNvSpPr/>
          <p:nvPr/>
        </p:nvSpPr>
        <p:spPr>
          <a:xfrm>
            <a:off x="9966960" y="21488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12680" y="22311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Optimizer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修正细节</a:t>
            </a:r>
            <a:endParaRPr lang="en-US" sz="710" dirty="0"/>
          </a:p>
        </p:txBody>
      </p:sp>
      <p:sp>
        <p:nvSpPr>
          <p:cNvPr id="23" name="Shape 20"/>
          <p:cNvSpPr/>
          <p:nvPr/>
        </p:nvSpPr>
        <p:spPr>
          <a:xfrm>
            <a:off x="4251960" y="1394460"/>
            <a:ext cx="960120" cy="43434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251960" y="1394460"/>
            <a:ext cx="960120" cy="171450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251960" y="2400300"/>
            <a:ext cx="960120" cy="-57150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251960" y="2400300"/>
            <a:ext cx="960120" cy="70866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251960" y="3406140"/>
            <a:ext cx="960120" cy="-157734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251960" y="3406140"/>
            <a:ext cx="960120" cy="-29718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812280" y="1828800"/>
            <a:ext cx="822960" cy="649224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812280" y="3108960"/>
            <a:ext cx="822960" cy="-630936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281160" y="2478024"/>
            <a:ext cx="68580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2651760" y="48920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Selector rationale：Candidate 2 在语义清晰度、动态火焰和小尺寸可读性之间最平衡。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11680" y="541324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这里的创新点不是“多调用几次模型”，而是让不同 Agent 给出可比较、可记录的理由。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自我修复：把失败拆成 taxonomy 和 route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coffee 案例：baseline 70 invalid，经一轮修复到 refined 95 valid。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554480" cy="17830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6" name="Image 0" descr="/Users/jasonzhao/Documents/Code/CG_Agent/CG_PJ/outputs/web/1780459805-0420b72d/png/baseline/a-steaming-cup-of-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344168"/>
            <a:ext cx="1261872" cy="1344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" y="276148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Baseline: 70 / invalid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9829800" y="1234440"/>
            <a:ext cx="1554480" cy="17830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9" name="Image 1" descr="/Users/jasonzhao/Documents/Code/CG_Agent/CG_PJ/outputs/web/1780459805-0420b72d/png/refined/a-steaming-cup-of-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4" y="1344168"/>
            <a:ext cx="1261872" cy="1344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57816" y="276148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Refined: 95 / valid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2834640" y="1389888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80360" y="14721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Validator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发现问题</a:t>
            </a:r>
            <a:endParaRPr lang="en-US" sz="710" dirty="0"/>
          </a:p>
        </p:txBody>
      </p:sp>
      <p:sp>
        <p:nvSpPr>
          <p:cNvPr id="13" name="Shape 9"/>
          <p:cNvSpPr/>
          <p:nvPr/>
        </p:nvSpPr>
        <p:spPr>
          <a:xfrm>
            <a:off x="4663440" y="13898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Failure Taxonomy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分类根因</a:t>
            </a:r>
            <a:endParaRPr lang="en-US" sz="710" dirty="0"/>
          </a:p>
        </p:txBody>
      </p:sp>
      <p:sp>
        <p:nvSpPr>
          <p:cNvPr id="15" name="Shape 11"/>
          <p:cNvSpPr/>
          <p:nvPr/>
        </p:nvSpPr>
        <p:spPr>
          <a:xfrm>
            <a:off x="6629400" y="138988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147218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Repair Router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选择路线</a:t>
            </a:r>
            <a:endParaRPr lang="en-US" sz="710" dirty="0"/>
          </a:p>
        </p:txBody>
      </p:sp>
      <p:sp>
        <p:nvSpPr>
          <p:cNvPr id="17" name="Shape 13"/>
          <p:cNvSpPr/>
          <p:nvPr/>
        </p:nvSpPr>
        <p:spPr>
          <a:xfrm>
            <a:off x="8503920" y="1389888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9640" y="147218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重写 SVG</a:t>
            </a:r>
            <a:endParaRPr lang="en-US" sz="710" dirty="0"/>
          </a:p>
        </p:txBody>
      </p:sp>
      <p:sp>
        <p:nvSpPr>
          <p:cNvPr id="19" name="Shape 15"/>
          <p:cNvSpPr/>
          <p:nvPr/>
        </p:nvSpPr>
        <p:spPr>
          <a:xfrm>
            <a:off x="4206240" y="1673352"/>
            <a:ext cx="45720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172200" y="1673352"/>
            <a:ext cx="45720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046720" y="1673352"/>
            <a:ext cx="45720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9070848" y="1956816"/>
            <a:ext cx="-5532120" cy="150876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960120" y="36576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60120" y="3657600"/>
            <a:ext cx="73152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61288" y="3822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Taxonomy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61288" y="4133088"/>
            <a:ext cx="2514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semantic_mismatch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constraint_violation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根因：蓝色杯体不符合咖啡色 palette；steam opacity 违反约束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4160520" y="36576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60520" y="36576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61688" y="3822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Route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361688" y="4133088"/>
            <a:ext cx="2514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semantic_recompose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策略：替换为 brown / cream palette，移除 opacity，更新 metadata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7360920" y="36576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360920" y="365760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562088" y="3822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562088" y="4133088"/>
            <a:ext cx="2514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repair round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baseline_valid 0 -&gt; refined_valid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score 70 -&gt; 95</a:t>
            </a:r>
            <a:endParaRPr lang="en-US" sz="820" dirty="0"/>
          </a:p>
        </p:txBody>
      </p:sp>
      <p:sp>
        <p:nvSpPr>
          <p:cNvPr id="35" name="Text 31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目标管理与记忆：让系统从历史经验中生成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记忆来自本地历史 runs，不使用外部数据集，也不保存 API key。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73152" cy="3886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GenerationGoal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4128" y="1709928"/>
            <a:ext cx="2834640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objective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visual_requirements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constraints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acceptance_criteria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style_preferences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avoid_patterns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234440"/>
            <a:ext cx="73152" cy="3886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Retrieval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7448" y="1709928"/>
            <a:ext cx="2834640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检索相似历史 runs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success_patterns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failure_patterns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user_feedback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 top-k snippets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234440"/>
            <a:ext cx="73152" cy="3886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Curator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30768" y="1709928"/>
            <a:ext cx="2834640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 结束后总结经验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保存可复用设计策略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保存失败模式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为下一次 prompt 提供上下文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188720" y="55321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例：rocket 相关记忆会提醒“居中火箭 + 分层扫掠火焰 + 简化圆形窗口”。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实验结果：报告快照中的 Web UI 运行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个主要 Web run：12 candidates，4 selected winners，final validity 100%。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234440" cy="13898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6" name="Image 0" descr="/Users/jasonzhao/Documents/Code/CG_Agent/CG_PJ/outputs/web/1780456947-99997024/png/refined/a-minimal-rocket-laun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252728"/>
            <a:ext cx="941832" cy="950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2768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Rocket 95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2057400" y="1143000"/>
            <a:ext cx="1234440" cy="13898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9" name="Image 1" descr="/Users/jasonzhao/Documents/Code/CG_Agent/CG_PJ/outputs/web/1780457165-766f9cd2/png/refined/a-minimal-white-rocket-lau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252728"/>
            <a:ext cx="941832" cy="950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85416" y="22768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White rocket 100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3429000" y="1143000"/>
            <a:ext cx="1234440" cy="13898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12" name="Image 2" descr="/Users/jasonzhao/Documents/Code/CG_Agent/CG_PJ/outputs/web/1780457342-7e0b912c/png/refined/a-cute-gray-cat-smi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1252728"/>
            <a:ext cx="941832" cy="950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7016" y="22768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 100</a:t>
            </a:r>
            <a:endParaRPr lang="en-US" sz="720" dirty="0"/>
          </a:p>
        </p:txBody>
      </p:sp>
      <p:sp>
        <p:nvSpPr>
          <p:cNvPr id="14" name="Shape 9"/>
          <p:cNvSpPr/>
          <p:nvPr/>
        </p:nvSpPr>
        <p:spPr>
          <a:xfrm>
            <a:off x="4800600" y="1143000"/>
            <a:ext cx="1234440" cy="138988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pic>
        <p:nvPicPr>
          <p:cNvPr id="15" name="Image 3" descr="/Users/jasonzhao/Documents/Code/CG_Agent/CG_PJ/outputs/web/1780459805-0420b72d/png/refined/a-steaming-cup-of-coff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252728"/>
            <a:ext cx="941832" cy="950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28616" y="22768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Coffee 95</a:t>
            </a:r>
            <a:endParaRPr lang="en-US" sz="720" dirty="0"/>
          </a:p>
        </p:txBody>
      </p:sp>
      <p:sp>
        <p:nvSpPr>
          <p:cNvPr id="17" name="Shape 11"/>
          <p:cNvSpPr/>
          <p:nvPr/>
        </p:nvSpPr>
        <p:spPr>
          <a:xfrm>
            <a:off x="6537960" y="1078992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37960" y="1078992"/>
            <a:ext cx="73152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739128" y="12435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主结果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739128" y="1554480"/>
            <a:ext cx="44805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 valid: 3 / 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Refined valid: 4 / 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Average score: 91.25 -&gt; 97.50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 repair rounds: 1</a:t>
            </a:r>
            <a:endParaRPr lang="en-US" sz="820" dirty="0"/>
          </a:p>
        </p:txBody>
      </p:sp>
      <p:sp>
        <p:nvSpPr>
          <p:cNvPr id="21" name="Shape 15"/>
          <p:cNvSpPr/>
          <p:nvPr/>
        </p:nvSpPr>
        <p:spPr>
          <a:xfrm>
            <a:off x="777240" y="33375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33375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78408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候选生成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78408" y="3813048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prompt 生成 3 个候选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 12 个 candidate SVG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Selector 选出 4 个 winner</a:t>
            </a:r>
            <a:endParaRPr lang="en-US" sz="820" dirty="0"/>
          </a:p>
        </p:txBody>
      </p:sp>
      <p:sp>
        <p:nvSpPr>
          <p:cNvPr id="25" name="Shape 19"/>
          <p:cNvSpPr/>
          <p:nvPr/>
        </p:nvSpPr>
        <p:spPr>
          <a:xfrm>
            <a:off x="4526280" y="33375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26280" y="3337560"/>
            <a:ext cx="73152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27448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修复收益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27448" y="3813048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Coffee case: 70 -&gt; 95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 dog case: 65 -&gt; 100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 repair loop 能处理真实失败</a:t>
            </a:r>
            <a:endParaRPr lang="en-US" sz="820" dirty="0"/>
          </a:p>
        </p:txBody>
      </p:sp>
      <p:sp>
        <p:nvSpPr>
          <p:cNvPr id="29" name="Shape 23"/>
          <p:cNvSpPr/>
          <p:nvPr/>
        </p:nvSpPr>
        <p:spPr>
          <a:xfrm>
            <a:off x="8275320" y="33375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75320" y="33375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476488" y="35021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可展示性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476488" y="3813048"/>
            <a:ext cx="24231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/ PNG / gallery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llm_trace.json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raw responses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DAG runtime states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914400" y="550468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说明：正式统计采用报告中的 4-run 快照；后续 outputs/web 中还有更多运行，可作为 demo 素材。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35" name="Text 29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总结：可编辑图形 + 可解释 Agent 协作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项目价值不只是生成图标，而是把生成、评价、修复、记忆做成可追踪系统。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3337560" cy="3657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399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8408" y="1709928"/>
            <a:ext cx="3017520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LLM-backed Agent DAG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多候选竞争 + 双 Critic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Failure taxonomy + Repair router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本地历史 RAG memory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Web runtime 可视化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37560" cy="3657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34440"/>
            <a:ext cx="73152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399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36008" y="1709928"/>
            <a:ext cx="3017520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免费模型速度和稳定性有限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SVG renderer 支持的是实用子集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视觉质量评价仍偏规则化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实验规模还可以扩大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092440" y="1234440"/>
            <a:ext cx="3337560" cy="3657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234440"/>
            <a:ext cx="73152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399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93608" y="1709928"/>
            <a:ext cx="3017520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更大 prompt set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人类偏好评价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更强 perceptual critic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消融实验：single vs collaborative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更细的 SVG grammar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Takeaway: 这是一个面向 SVG 图标生成的“LLM Agent 协作 + 规则工具保底 + 记忆自改进”系统。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SVG Icon Agent | 生成式 AI 与多 Agent SVG 图标生成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9284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Fudan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 Icon Agent: 多 Agent 协同的可编辑 SVG 图标生成</dc:title>
  <dc:subject>SVG Icon Agent Chinese demo deck</dc:subject>
  <dc:creator>Zhao Guanjie</dc:creator>
  <cp:lastModifiedBy>Zhao Guanjie</cp:lastModifiedBy>
  <cp:revision>1</cp:revision>
  <dcterms:created xsi:type="dcterms:W3CDTF">2026-06-06T06:51:34Z</dcterms:created>
  <dcterms:modified xsi:type="dcterms:W3CDTF">2026-06-06T06:51:34Z</dcterms:modified>
</cp:coreProperties>
</file>